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14"/>
  </p:sldMasterIdLst>
  <p:notesMasterIdLst>
    <p:notesMasterId r:id="rId20"/>
  </p:notesMasterIdLst>
  <p:handoutMasterIdLst>
    <p:handoutMasterId r:id="rId21"/>
  </p:handoutMasterIdLst>
  <p:sldIdLst>
    <p:sldId id="256" r:id="rId15"/>
    <p:sldId id="260" r:id="rId16"/>
    <p:sldId id="257" r:id="rId17"/>
    <p:sldId id="261" r:id="rId18"/>
    <p:sldId id="262" r:id="rId19"/>
  </p:sldIdLst>
  <p:sldSz cx="12190413" cy="6858000"/>
  <p:notesSz cx="6858000" cy="9144000"/>
  <p:custDataLst>
    <p:tags r:id="rId22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411C84-8242-90F3-11C2-9E6D27111985}" v="41" dt="2026-02-11T08:14:49.257"/>
    <p1510:client id="{BE8A93AB-707F-4792-BBCB-9E5EB02A4A92}" v="18" dt="2026-02-11T08:27:48.3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6098" autoAdjust="0"/>
  </p:normalViewPr>
  <p:slideViewPr>
    <p:cSldViewPr showGuides="1">
      <p:cViewPr varScale="1">
        <p:scale>
          <a:sx n="70" d="100"/>
          <a:sy n="70" d="100"/>
        </p:scale>
        <p:origin x="460" y="5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slide" Target="slides/slide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viewProps" Target="viewProps.xml"/><Relationship Id="rId5" Type="http://schemas.openxmlformats.org/officeDocument/2006/relationships/customXml" Target="../customXml/item5.xml"/><Relationship Id="rId15" Type="http://schemas.openxmlformats.org/officeDocument/2006/relationships/slide" Target="slides/slide1.xml"/><Relationship Id="rId23" Type="http://schemas.openxmlformats.org/officeDocument/2006/relationships/presProps" Target="presProps.xml"/><Relationship Id="rId10" Type="http://schemas.openxmlformats.org/officeDocument/2006/relationships/customXml" Target="../customXml/item10.xml"/><Relationship Id="rId19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tags" Target="tags/tag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052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Modifiez le style du titre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/>
              <a:t>Modifiez le style des sous-titres du masque</a:t>
            </a:r>
            <a:endParaRPr lang="en-GB" noProof="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58E75EC-EF76-589D-0066-5EFD3256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63D84D-6ED3-F4CB-D6ED-4CFB218D0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CB2228E-DECD-A1FF-31EB-394A357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Modifiez le style du titre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fr-FR" noProof="0"/>
              <a:t>Modifiez le style des sous-titres du masque</a:t>
            </a:r>
            <a:endParaRPr lang="en-GB" noProof="0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6E83F-35F3-7C0A-C83E-AFDCA3467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99C46A-00A5-B620-01F4-AB9FA3E6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2648B-3179-ABFE-F3AA-42761383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209954EC-B8D9-8075-FC9F-D3764E46C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FBBF02-CCAC-D246-2188-663E067FE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a-DK"/>
              <a:t>Title</a:t>
            </a:r>
            <a:endParaRPr lang="da-DK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8AD440C-0797-9C1A-F3D9-3529DA26E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775E03-BE23-9277-8686-60549E4E73B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6AB93-5959-29D5-C0C8-6B37FCF5F14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45D79-EFF9-98D6-B066-40CEED6C2E2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DBA22-AE55-C68A-132F-A826D0B0C74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33A1D-DD6A-46E6-9477-D1471332CB1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hf hdr="0" ftr="0"/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Title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183DE-20D3-DB32-ED9D-43A02E676C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da-DK"/>
              <a:t>Date</a:t>
            </a:r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Title</a:t>
            </a:r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5590800" y="6541200"/>
            <a:ext cx="54972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spcBef>
                <a:spcPts val="0"/>
              </a:spcBef>
              <a:defRPr sz="7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da-DK"/>
              <a:t>Title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Modifiez le style du titre</a:t>
            </a:r>
            <a:endParaRPr lang="da-DK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3676" name="text" descr="{&quot;templafy&quot;:{&quot;type&quot;:&quot;text&quot;,&quot;binding&quot;:&quot;UserProfile.Offices.Workarea_{{DocumentLanguage}}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a-DK" sz="700" b="1" dirty="0">
                <a:solidFill>
                  <a:schemeClr val="bg1"/>
                </a:solidFill>
                <a:latin typeface="+mn-lt"/>
              </a:rPr>
              <a:t>Technical University of Denmark</a:t>
            </a:r>
          </a:p>
        </p:txBody>
      </p:sp>
      <p:sp>
        <p:nvSpPr>
          <p:cNvPr id="5" name="date" descr="{&quot;templafy&quot;:{&quot;type&quot;:&quot;date&quot;,&quot;binding&quot;:&quot;Form.Date&quot;,&quot;format&quot;:&quot;{{DateFormats.GeneralDate}}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binding&quot;:&quot;Form.PresentationTitle&quot;,&quot;type&quot;:&quot;text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da-DK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E9AE0-170F-0C2B-DFF5-DC7F65F4B1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2000" y="6541200"/>
            <a:ext cx="1105200" cy="3168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da-DK"/>
              <a:t>Date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773079-109A-B151-8254-21CB5885C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a-DK"/>
              <a:t>Date</a:t>
            </a:r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1393C32-4593-A727-A772-60975780A8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5400" dirty="0">
                <a:cs typeface="Arial"/>
              </a:rPr>
              <a:t>Template for Assessment framework and FU definition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2A505916-C26B-4D8F-DD23-7BF9A136D3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cs typeface="Arial"/>
              </a:rPr>
              <a:t>1210X – Quantitative methods to assess Sustainability </a:t>
            </a:r>
            <a:endParaRPr lang="en-GB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F1BD4A-3CD3-27FC-870B-E2DB69EE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2</a:t>
            </a:fld>
            <a:endParaRPr lang="en-US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4701F51-76CA-6218-F57D-6D38E0749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184" y="420964"/>
            <a:ext cx="9312374" cy="972716"/>
          </a:xfrm>
        </p:spPr>
        <p:txBody>
          <a:bodyPr/>
          <a:lstStyle/>
          <a:p>
            <a:r>
              <a:rPr lang="en-GB" dirty="0"/>
              <a:t>Obligatory and </a:t>
            </a:r>
            <a:r>
              <a:rPr lang="en-GB"/>
              <a:t>Positioning Properties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C4D056D-B1A0-2F4C-E377-E4EBA703CCF1}"/>
              </a:ext>
            </a:extLst>
          </p:cNvPr>
          <p:cNvGrpSpPr/>
          <p:nvPr/>
        </p:nvGrpSpPr>
        <p:grpSpPr>
          <a:xfrm>
            <a:off x="889184" y="1686527"/>
            <a:ext cx="10412044" cy="2174521"/>
            <a:chOff x="4810697" y="1427451"/>
            <a:chExt cx="10412044" cy="2260863"/>
          </a:xfrm>
        </p:grpSpPr>
        <p:sp>
          <p:nvSpPr>
            <p:cNvPr id="5" name="Google Shape;84;p2">
              <a:extLst>
                <a:ext uri="{FF2B5EF4-FFF2-40B4-BE49-F238E27FC236}">
                  <a16:creationId xmlns:a16="http://schemas.microsoft.com/office/drawing/2014/main" id="{6B9B2916-96C1-2221-0022-8BABB2D696E2}"/>
                </a:ext>
              </a:extLst>
            </p:cNvPr>
            <p:cNvSpPr/>
            <p:nvPr/>
          </p:nvSpPr>
          <p:spPr>
            <a:xfrm>
              <a:off x="4810697" y="2197725"/>
              <a:ext cx="1978708" cy="1478214"/>
            </a:xfrm>
            <a:prstGeom prst="rect">
              <a:avLst/>
            </a:prstGeom>
            <a:solidFill>
              <a:schemeClr val="accent6">
                <a:alpha val="28627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Google Shape;85;p2">
              <a:extLst>
                <a:ext uri="{FF2B5EF4-FFF2-40B4-BE49-F238E27FC236}">
                  <a16:creationId xmlns:a16="http://schemas.microsoft.com/office/drawing/2014/main" id="{5B9B2101-6BF7-EAA6-63A0-684DF4881997}"/>
                </a:ext>
              </a:extLst>
            </p:cNvPr>
            <p:cNvSpPr/>
            <p:nvPr/>
          </p:nvSpPr>
          <p:spPr>
            <a:xfrm>
              <a:off x="5008564" y="1582435"/>
              <a:ext cx="1672351" cy="3380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572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PRODUCTS</a:t>
              </a:r>
              <a:endParaRPr/>
            </a:p>
          </p:txBody>
        </p:sp>
        <p:sp>
          <p:nvSpPr>
            <p:cNvPr id="7" name="Google Shape;86;p2">
              <a:extLst>
                <a:ext uri="{FF2B5EF4-FFF2-40B4-BE49-F238E27FC236}">
                  <a16:creationId xmlns:a16="http://schemas.microsoft.com/office/drawing/2014/main" id="{E741F6E1-A603-0666-C2A6-C11E36807423}"/>
                </a:ext>
              </a:extLst>
            </p:cNvPr>
            <p:cNvSpPr/>
            <p:nvPr/>
          </p:nvSpPr>
          <p:spPr>
            <a:xfrm>
              <a:off x="7260267" y="1597933"/>
              <a:ext cx="3015693" cy="4170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572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accent3"/>
                  </a:solidFill>
                  <a:latin typeface="Arial"/>
                  <a:ea typeface="Arial"/>
                  <a:cs typeface="Arial"/>
                  <a:sym typeface="Arial"/>
                </a:rPr>
                <a:t>OBLIGATORY PROPERTIES</a:t>
              </a:r>
              <a:endParaRPr dirty="0"/>
            </a:p>
          </p:txBody>
        </p:sp>
        <p:cxnSp>
          <p:nvCxnSpPr>
            <p:cNvPr id="8" name="Google Shape;87;p2">
              <a:extLst>
                <a:ext uri="{FF2B5EF4-FFF2-40B4-BE49-F238E27FC236}">
                  <a16:creationId xmlns:a16="http://schemas.microsoft.com/office/drawing/2014/main" id="{EA9031B6-9C66-2705-2C60-2D6BF0C337C2}"/>
                </a:ext>
              </a:extLst>
            </p:cNvPr>
            <p:cNvCxnSpPr/>
            <p:nvPr/>
          </p:nvCxnSpPr>
          <p:spPr>
            <a:xfrm>
              <a:off x="4810697" y="2184979"/>
              <a:ext cx="10412044" cy="0"/>
            </a:xfrm>
            <a:prstGeom prst="straightConnector1">
              <a:avLst/>
            </a:prstGeom>
            <a:noFill/>
            <a:ln w="38100" cap="flat" cmpd="sng">
              <a:solidFill>
                <a:srgbClr val="CFCAC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" name="Google Shape;89;p2">
              <a:extLst>
                <a:ext uri="{FF2B5EF4-FFF2-40B4-BE49-F238E27FC236}">
                  <a16:creationId xmlns:a16="http://schemas.microsoft.com/office/drawing/2014/main" id="{CB41A87B-D720-FDD4-D9F9-B89FD10DD2AF}"/>
                </a:ext>
              </a:extLst>
            </p:cNvPr>
            <p:cNvSpPr/>
            <p:nvPr/>
          </p:nvSpPr>
          <p:spPr>
            <a:xfrm>
              <a:off x="10787967" y="1618325"/>
              <a:ext cx="4419275" cy="5274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4572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dirty="0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POSITIONING PROPERTIES</a:t>
              </a:r>
              <a:endParaRPr dirty="0"/>
            </a:p>
          </p:txBody>
        </p:sp>
        <p:cxnSp>
          <p:nvCxnSpPr>
            <p:cNvPr id="15" name="Google Shape;94;p2">
              <a:extLst>
                <a:ext uri="{FF2B5EF4-FFF2-40B4-BE49-F238E27FC236}">
                  <a16:creationId xmlns:a16="http://schemas.microsoft.com/office/drawing/2014/main" id="{6AE832C4-65F8-4C64-99C4-22CBC1207192}"/>
                </a:ext>
              </a:extLst>
            </p:cNvPr>
            <p:cNvCxnSpPr/>
            <p:nvPr/>
          </p:nvCxnSpPr>
          <p:spPr>
            <a:xfrm>
              <a:off x="6789405" y="1427451"/>
              <a:ext cx="0" cy="2260863"/>
            </a:xfrm>
            <a:prstGeom prst="straightConnector1">
              <a:avLst/>
            </a:prstGeom>
            <a:noFill/>
            <a:ln w="25400" cap="flat" cmpd="sng">
              <a:solidFill>
                <a:srgbClr val="CFCAC6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95;p2">
              <a:extLst>
                <a:ext uri="{FF2B5EF4-FFF2-40B4-BE49-F238E27FC236}">
                  <a16:creationId xmlns:a16="http://schemas.microsoft.com/office/drawing/2014/main" id="{CCD501C0-C50B-2AC5-FA4F-C13161211B24}"/>
                </a:ext>
              </a:extLst>
            </p:cNvPr>
            <p:cNvCxnSpPr/>
            <p:nvPr/>
          </p:nvCxnSpPr>
          <p:spPr>
            <a:xfrm>
              <a:off x="10952823" y="1427451"/>
              <a:ext cx="0" cy="2260863"/>
            </a:xfrm>
            <a:prstGeom prst="straightConnector1">
              <a:avLst/>
            </a:prstGeom>
            <a:noFill/>
            <a:ln w="25400" cap="flat" cmpd="sng">
              <a:solidFill>
                <a:srgbClr val="CFCAC6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7" name="Google Shape;96;p2">
              <a:extLst>
                <a:ext uri="{FF2B5EF4-FFF2-40B4-BE49-F238E27FC236}">
                  <a16:creationId xmlns:a16="http://schemas.microsoft.com/office/drawing/2014/main" id="{4088A5C1-89A0-970C-0F06-B384FE79CC8C}"/>
                </a:ext>
              </a:extLst>
            </p:cNvPr>
            <p:cNvSpPr/>
            <p:nvPr/>
          </p:nvSpPr>
          <p:spPr>
            <a:xfrm>
              <a:off x="4810697" y="1427451"/>
              <a:ext cx="10412044" cy="2248488"/>
            </a:xfrm>
            <a:prstGeom prst="rect">
              <a:avLst/>
            </a:prstGeom>
            <a:noFill/>
            <a:ln w="25400" cap="flat" cmpd="sng">
              <a:solidFill>
                <a:srgbClr val="CFCA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0D747-DD12-EAC3-4D80-2547D8D9A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AD2760E-7F47-DB3B-409B-70EEA9EBA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184" y="420964"/>
            <a:ext cx="9312374" cy="972716"/>
          </a:xfrm>
        </p:spPr>
        <p:txBody>
          <a:bodyPr/>
          <a:lstStyle/>
          <a:p>
            <a:r>
              <a:rPr lang="en-GB" dirty="0"/>
              <a:t>FU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51058A-8808-C1EE-D690-556486458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450" y="6541200"/>
            <a:ext cx="432600" cy="316800"/>
          </a:xfrm>
        </p:spPr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graphicFrame>
        <p:nvGraphicFramePr>
          <p:cNvPr id="28" name="Tableau 27">
            <a:extLst>
              <a:ext uri="{FF2B5EF4-FFF2-40B4-BE49-F238E27FC236}">
                <a16:creationId xmlns:a16="http://schemas.microsoft.com/office/drawing/2014/main" id="{D42FC873-1400-0C0F-3374-C45855878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603527"/>
              </p:ext>
            </p:extLst>
          </p:nvPr>
        </p:nvGraphicFramePr>
        <p:xfrm>
          <a:off x="889184" y="1628800"/>
          <a:ext cx="11089230" cy="1597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846">
                  <a:extLst>
                    <a:ext uri="{9D8B030D-6E8A-4147-A177-3AD203B41FA5}">
                      <a16:colId xmlns:a16="http://schemas.microsoft.com/office/drawing/2014/main" val="475693352"/>
                    </a:ext>
                  </a:extLst>
                </a:gridCol>
                <a:gridCol w="2217846">
                  <a:extLst>
                    <a:ext uri="{9D8B030D-6E8A-4147-A177-3AD203B41FA5}">
                      <a16:colId xmlns:a16="http://schemas.microsoft.com/office/drawing/2014/main" val="1485184946"/>
                    </a:ext>
                  </a:extLst>
                </a:gridCol>
                <a:gridCol w="2217846">
                  <a:extLst>
                    <a:ext uri="{9D8B030D-6E8A-4147-A177-3AD203B41FA5}">
                      <a16:colId xmlns:a16="http://schemas.microsoft.com/office/drawing/2014/main" val="1093354807"/>
                    </a:ext>
                  </a:extLst>
                </a:gridCol>
                <a:gridCol w="2217846">
                  <a:extLst>
                    <a:ext uri="{9D8B030D-6E8A-4147-A177-3AD203B41FA5}">
                      <a16:colId xmlns:a16="http://schemas.microsoft.com/office/drawing/2014/main" val="4243901950"/>
                    </a:ext>
                  </a:extLst>
                </a:gridCol>
                <a:gridCol w="2217846">
                  <a:extLst>
                    <a:ext uri="{9D8B030D-6E8A-4147-A177-3AD203B41FA5}">
                      <a16:colId xmlns:a16="http://schemas.microsoft.com/office/drawing/2014/main" val="2399929486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What</a:t>
                      </a:r>
                      <a:r>
                        <a:rPr lang="fr-FR" dirty="0"/>
                        <a:t>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How </a:t>
                      </a:r>
                      <a:r>
                        <a:rPr lang="fr-FR" dirty="0" err="1"/>
                        <a:t>much</a:t>
                      </a:r>
                      <a:r>
                        <a:rPr lang="fr-FR" dirty="0"/>
                        <a:t>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For how long ? / How </a:t>
                      </a:r>
                      <a:r>
                        <a:rPr lang="fr-FR" dirty="0" err="1"/>
                        <a:t>many</a:t>
                      </a:r>
                      <a:r>
                        <a:rPr lang="fr-FR" dirty="0"/>
                        <a:t> times 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Where</a:t>
                      </a:r>
                      <a:r>
                        <a:rPr lang="fr-FR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How </a:t>
                      </a:r>
                      <a:r>
                        <a:rPr lang="fr-FR" dirty="0" err="1"/>
                        <a:t>well</a:t>
                      </a:r>
                      <a:r>
                        <a:rPr lang="fr-FR" dirty="0"/>
                        <a:t> 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2867548"/>
                  </a:ext>
                </a:extLst>
              </a:tr>
              <a:tr h="949212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838218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05C1C50D-2281-12F7-E654-50D3BE910483}"/>
              </a:ext>
            </a:extLst>
          </p:cNvPr>
          <p:cNvSpPr/>
          <p:nvPr/>
        </p:nvSpPr>
        <p:spPr bwMode="auto">
          <a:xfrm>
            <a:off x="889184" y="3429000"/>
            <a:ext cx="11049866" cy="12797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sz="1600" b="0" i="0" u="none" strike="noStrike" cap="none" normalizeH="0" baseline="0" dirty="0" err="1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Functional</a:t>
            </a:r>
            <a:r>
              <a:rPr kumimoji="0" lang="fr-FR" sz="1600" b="0" i="0" u="none" strike="noStrike" cap="none" normalizeH="0" baseline="0" dirty="0">
                <a:ln>
                  <a:noFill/>
                </a:ln>
                <a:effectLst/>
                <a:latin typeface="+mn-lt"/>
                <a:ea typeface="ＭＳ Ｐゴシック" pitchFamily="-80" charset="-128"/>
              </a:rPr>
              <a:t> Unit: «  »</a:t>
            </a:r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84116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7E7170-ED6B-C222-4614-ACC020818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622" y="348035"/>
            <a:ext cx="9312374" cy="468660"/>
          </a:xfrm>
        </p:spPr>
        <p:txBody>
          <a:bodyPr/>
          <a:lstStyle/>
          <a:p>
            <a:r>
              <a:rPr lang="fr-FR" dirty="0"/>
              <a:t>Framework matrix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789744D-B5B1-4199-4B7C-955E679BA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da-DK" smtClean="0"/>
              <a:pPr/>
              <a:t>5</a:t>
            </a:fld>
            <a:endParaRPr lang="da-DK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2F2A05E-647B-69E3-966F-750802C25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650668"/>
              </p:ext>
            </p:extLst>
          </p:nvPr>
        </p:nvGraphicFramePr>
        <p:xfrm>
          <a:off x="524083" y="1196752"/>
          <a:ext cx="11142246" cy="4933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7041">
                  <a:extLst>
                    <a:ext uri="{9D8B030D-6E8A-4147-A177-3AD203B41FA5}">
                      <a16:colId xmlns:a16="http://schemas.microsoft.com/office/drawing/2014/main" val="961660027"/>
                    </a:ext>
                  </a:extLst>
                </a:gridCol>
                <a:gridCol w="1857041">
                  <a:extLst>
                    <a:ext uri="{9D8B030D-6E8A-4147-A177-3AD203B41FA5}">
                      <a16:colId xmlns:a16="http://schemas.microsoft.com/office/drawing/2014/main" val="729988649"/>
                    </a:ext>
                  </a:extLst>
                </a:gridCol>
                <a:gridCol w="1857041">
                  <a:extLst>
                    <a:ext uri="{9D8B030D-6E8A-4147-A177-3AD203B41FA5}">
                      <a16:colId xmlns:a16="http://schemas.microsoft.com/office/drawing/2014/main" val="2935886983"/>
                    </a:ext>
                  </a:extLst>
                </a:gridCol>
                <a:gridCol w="1857041">
                  <a:extLst>
                    <a:ext uri="{9D8B030D-6E8A-4147-A177-3AD203B41FA5}">
                      <a16:colId xmlns:a16="http://schemas.microsoft.com/office/drawing/2014/main" val="3855474224"/>
                    </a:ext>
                  </a:extLst>
                </a:gridCol>
                <a:gridCol w="1857041">
                  <a:extLst>
                    <a:ext uri="{9D8B030D-6E8A-4147-A177-3AD203B41FA5}">
                      <a16:colId xmlns:a16="http://schemas.microsoft.com/office/drawing/2014/main" val="540202604"/>
                    </a:ext>
                  </a:extLst>
                </a:gridCol>
                <a:gridCol w="1857041">
                  <a:extLst>
                    <a:ext uri="{9D8B030D-6E8A-4147-A177-3AD203B41FA5}">
                      <a16:colId xmlns:a16="http://schemas.microsoft.com/office/drawing/2014/main" val="949870407"/>
                    </a:ext>
                  </a:extLst>
                </a:gridCol>
              </a:tblGrid>
              <a:tr h="822091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fr-FR" dirty="0"/>
                        <a:t>Life cycle stage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004320"/>
                  </a:ext>
                </a:extLst>
              </a:tr>
              <a:tr h="822091">
                <a:tc>
                  <a:txBody>
                    <a:bodyPr/>
                    <a:lstStyle/>
                    <a:p>
                      <a:pPr algn="ctr"/>
                      <a:r>
                        <a:rPr lang="fr-FR" b="1" dirty="0" err="1">
                          <a:solidFill>
                            <a:schemeClr val="bg1"/>
                          </a:solidFill>
                        </a:rPr>
                        <a:t>Sustainability</a:t>
                      </a:r>
                      <a:r>
                        <a:rPr lang="fr-FR" b="1" dirty="0">
                          <a:solidFill>
                            <a:schemeClr val="bg1"/>
                          </a:solidFill>
                        </a:rPr>
                        <a:t> impact area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Extraction of </a:t>
                      </a:r>
                      <a:r>
                        <a:rPr lang="fr-FR" dirty="0" err="1"/>
                        <a:t>raw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materials</a:t>
                      </a:r>
                      <a:endParaRPr lang="fr-FR" dirty="0"/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Manufacturing</a:t>
                      </a:r>
                      <a:r>
                        <a:rPr lang="fr-FR" dirty="0"/>
                        <a:t> stage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Use stage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Disposal</a:t>
                      </a:r>
                      <a:r>
                        <a:rPr lang="fr-FR" dirty="0"/>
                        <a:t> Stage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>
                          <a:solidFill>
                            <a:schemeClr val="bg1"/>
                          </a:solidFill>
                        </a:rPr>
                        <a:t>Measured</a:t>
                      </a:r>
                      <a:r>
                        <a:rPr lang="fr-FR" dirty="0">
                          <a:solidFill>
                            <a:schemeClr val="bg1"/>
                          </a:solidFill>
                        </a:rPr>
                        <a:t> by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474892"/>
                  </a:ext>
                </a:extLst>
              </a:tr>
              <a:tr h="822091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Ressources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/>
                        <a:t>Use of </a:t>
                      </a:r>
                      <a:r>
                        <a:rPr lang="fr-FR" sz="1200" dirty="0" err="1"/>
                        <a:t>biotic</a:t>
                      </a:r>
                      <a:r>
                        <a:rPr lang="fr-FR" sz="1200" dirty="0"/>
                        <a:t> and </a:t>
                      </a:r>
                      <a:r>
                        <a:rPr lang="fr-FR" sz="1200" dirty="0" err="1"/>
                        <a:t>abiotic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resources</a:t>
                      </a:r>
                      <a:r>
                        <a:rPr lang="fr-FR" sz="1200" dirty="0"/>
                        <a:t>, </a:t>
                      </a:r>
                      <a:r>
                        <a:rPr lang="fr-FR" sz="1200" dirty="0" err="1"/>
                        <a:t>circular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economy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indicators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563643"/>
                  </a:ext>
                </a:extLst>
              </a:tr>
              <a:tr h="822091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Environment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err="1"/>
                        <a:t>Climate</a:t>
                      </a:r>
                      <a:r>
                        <a:rPr lang="fr-FR" sz="1200" dirty="0"/>
                        <a:t> change, Carbon </a:t>
                      </a:r>
                      <a:r>
                        <a:rPr lang="fr-FR" sz="1200" dirty="0" err="1"/>
                        <a:t>footprint</a:t>
                      </a:r>
                      <a:r>
                        <a:rPr lang="fr-FR" sz="1200" dirty="0"/>
                        <a:t>, </a:t>
                      </a:r>
                      <a:r>
                        <a:rPr lang="fr-FR" sz="1200" dirty="0" err="1"/>
                        <a:t>absolute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sustainability</a:t>
                      </a:r>
                      <a:r>
                        <a:rPr lang="fr-FR" sz="1200" dirty="0"/>
                        <a:t> </a:t>
                      </a:r>
                      <a:r>
                        <a:rPr lang="fr-FR" sz="1200" dirty="0" err="1"/>
                        <a:t>assessments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6803762"/>
                  </a:ext>
                </a:extLst>
              </a:tr>
              <a:tr h="822091"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Economic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err="1"/>
                        <a:t>Costs</a:t>
                      </a:r>
                      <a:endParaRPr lang="fr-F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898541"/>
                  </a:ext>
                </a:extLst>
              </a:tr>
              <a:tr h="822091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Social/</a:t>
                      </a:r>
                      <a:r>
                        <a:rPr lang="fr-FR" dirty="0" err="1"/>
                        <a:t>Health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200" dirty="0" err="1"/>
                        <a:t>Socioeconomic</a:t>
                      </a:r>
                      <a:r>
                        <a:rPr lang="fr-FR" sz="1200" dirty="0"/>
                        <a:t> impacts, </a:t>
                      </a:r>
                      <a:r>
                        <a:rPr lang="fr-FR" sz="1200" dirty="0" err="1"/>
                        <a:t>health</a:t>
                      </a:r>
                      <a:r>
                        <a:rPr lang="fr-FR" sz="1200" dirty="0"/>
                        <a:t> impacts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572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4738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TU Template 16_9 - Corporate red-ENG.potx" id="{ED70A225-5B60-42AC-912C-67898019C42C}" vid="{E9106579-58D4-45CA-A6E9-5E2F157EFB5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TemplafySlideTemplateConfiguration><![CDATA[{"elementsMetadata":[],"documentContentValidatorConfiguration":{"enableDocumentContentValidator":false,"documentContentValidatorVersion":0},"slideId":"636957680393236694","enableDocumentContentUpdater":true,"version":"1.2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elementsMetadata":[],"documentContentValidatorConfiguration":{"enableDocumentContentValidator":false,"documentContentValidatorVersion":0},"slideId":"636957680393408391","enableDocumentContentUpdater":true,"version":"1.2"}]]></TemplafySlideTemplateConfiguration>
</file>

<file path=customXml/item4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]}]]></Templafy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TemplateConfiguration><![CDATA[{"elementsMetadata":[],"transformationConfigurations":[{"language":"{{DocumentLanguage}}","disableUpdates":false,"type":"proofingLanguage"}],"templateName":"DTU Template 16_9 - Corporate red","templateDescription":"","enableDocumentContentUpdater":true,"version":"1.2"}]]></Templafy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DA1FD2B40FDA458284BB6FCA763489" ma:contentTypeVersion="5" ma:contentTypeDescription="Create a new document." ma:contentTypeScope="" ma:versionID="72b2569ebc96083092f6d8e76413cd52">
  <xsd:schema xmlns:xsd="http://www.w3.org/2001/XMLSchema" xmlns:xs="http://www.w3.org/2001/XMLSchema" xmlns:p="http://schemas.microsoft.com/office/2006/metadata/properties" xmlns:ns2="683dcda1-f8c3-442f-ae64-e236c052732d" xmlns:ns3="715bde23-c48d-41ea-a697-dffaa8fbae8d" targetNamespace="http://schemas.microsoft.com/office/2006/metadata/properties" ma:root="true" ma:fieldsID="df14c340b530a7b5c38005fefa6a5693" ns2:_="" ns3:_="">
    <xsd:import namespace="683dcda1-f8c3-442f-ae64-e236c052732d"/>
    <xsd:import namespace="715bde23-c48d-41ea-a697-dffaa8fbae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3dcda1-f8c3-442f-ae64-e236c05273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5bde23-c48d-41ea-a697-dffaa8fbae8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0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11.xml><?xml version="1.0" encoding="utf-8"?>
<TemplafySlideTemplateConfiguration><![CDATA[{"elementsMetadata":[],"documentContentValidatorConfiguration":{"enableDocumentContentValidator":false,"documentContentValidatorVersion":0},"slideId":"636957680393408390","enableDocumentContentUpdater":true,"version":"1.2"}]]></TemplafySlideTemplateConfiguration>
</file>

<file path=customXml/item1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13.xml><?xml version="1.0" encoding="utf-8"?>
<TemplafySlideTemplateConfiguration><![CDATA[{"elementsMetadata":[],"documentContentValidatorConfiguration":{"enableDocumentContentValidator":false,"documentContentValidatorVersion":0},"slideId":"636957680393408391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D27AE696-61B6-4B19-9CED-6F2A3F244FE3}">
  <ds:schemaRefs/>
</ds:datastoreItem>
</file>

<file path=customXml/itemProps2.xml><?xml version="1.0" encoding="utf-8"?>
<ds:datastoreItem xmlns:ds="http://schemas.openxmlformats.org/officeDocument/2006/customXml" ds:itemID="{1680B9DC-2D51-4402-BB2C-B8DE0C5AC522}">
  <ds:schemaRefs/>
</ds:datastoreItem>
</file>

<file path=customXml/itemProps3.xml><?xml version="1.0" encoding="utf-8"?>
<ds:datastoreItem xmlns:ds="http://schemas.openxmlformats.org/officeDocument/2006/customXml" ds:itemID="{71344C05-D341-4576-83EF-590311F7687E}">
  <ds:schemaRefs/>
</ds:datastoreItem>
</file>

<file path=customXml/itemProps4.xml><?xml version="1.0" encoding="utf-8"?>
<ds:datastoreItem xmlns:ds="http://schemas.openxmlformats.org/officeDocument/2006/customXml" ds:itemID="{43763224-B85A-4B53-A86A-261D26A71C30}">
  <ds:schemaRefs/>
</ds:datastoreItem>
</file>

<file path=customXml/itemProps5.xml><?xml version="1.0" encoding="utf-8"?>
<ds:datastoreItem xmlns:ds="http://schemas.openxmlformats.org/officeDocument/2006/customXml" ds:itemID="{9587AFF5-BFB0-40A3-85CA-ADEED7540807}">
  <ds:schemaRefs/>
</ds:datastoreItem>
</file>

<file path=customXml/itemProps6.xml><?xml version="1.0" encoding="utf-8"?>
<ds:datastoreItem xmlns:ds="http://schemas.openxmlformats.org/officeDocument/2006/customXml" ds:itemID="{5DEE4BEE-00BA-4E32-BD26-AF535B50AC95}">
  <ds:schemaRefs/>
</ds:datastoreItem>
</file>

<file path=customXml/itemProps7.xml><?xml version="1.0" encoding="utf-8"?>
<ds:datastoreItem xmlns:ds="http://schemas.openxmlformats.org/officeDocument/2006/customXml" ds:itemID="{1334258C-C3E7-4029-A615-C886A240FB15}">
  <ds:schemaRefs/>
</ds:datastoreItem>
</file>

<file path=customXml/itemProps8.xml><?xml version="1.0" encoding="utf-8"?>
<ds:datastoreItem xmlns:ds="http://schemas.openxmlformats.org/officeDocument/2006/customXml" ds:itemID="{AB4F1219-1F83-4BFA-BABE-A3A6593531AB}">
  <ds:schemaRefs/>
</ds:datastoreItem>
</file>

<file path=customXml/itemProps9.xml><?xml version="1.0" encoding="utf-8"?>
<ds:datastoreItem xmlns:ds="http://schemas.openxmlformats.org/officeDocument/2006/customXml" ds:itemID="{14AB1340-5A73-4AE5-9657-061F0D1699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83dcda1-f8c3-442f-ae64-e236c052732d"/>
    <ds:schemaRef ds:uri="715bde23-c48d-41ea-a697-dffaa8fbae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0.xml><?xml version="1.0" encoding="utf-8"?>
<ds:datastoreItem xmlns:ds="http://schemas.openxmlformats.org/officeDocument/2006/customXml" ds:itemID="{CD7A73E0-5E80-4908-B0DB-9E20244FD024}">
  <ds:schemaRefs>
    <ds:schemaRef ds:uri="http://schemas.microsoft.com/office/infopath/2007/PartnerControls"/>
    <ds:schemaRef ds:uri="715bde23-c48d-41ea-a697-dffaa8fbae8d"/>
    <ds:schemaRef ds:uri="http://schemas.microsoft.com/office/2006/documentManagement/types"/>
    <ds:schemaRef ds:uri="http://purl.org/dc/dcmitype/"/>
    <ds:schemaRef ds:uri="683dcda1-f8c3-442f-ae64-e236c052732d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</ds:schemaRefs>
</ds:datastoreItem>
</file>

<file path=customXml/itemProps11.xml><?xml version="1.0" encoding="utf-8"?>
<ds:datastoreItem xmlns:ds="http://schemas.openxmlformats.org/officeDocument/2006/customXml" ds:itemID="{6B8AD017-B053-4E30-93B9-B28A44CEC3A4}">
  <ds:schemaRefs/>
</ds:datastoreItem>
</file>

<file path=customXml/itemProps12.xml><?xml version="1.0" encoding="utf-8"?>
<ds:datastoreItem xmlns:ds="http://schemas.openxmlformats.org/officeDocument/2006/customXml" ds:itemID="{49765D68-68C5-4CFA-97ED-A38AD8E70B7F}">
  <ds:schemaRefs>
    <ds:schemaRef ds:uri="http://schemas.microsoft.com/sharepoint/v3/contenttype/forms"/>
  </ds:schemaRefs>
</ds:datastoreItem>
</file>

<file path=customXml/itemProps13.xml><?xml version="1.0" encoding="utf-8"?>
<ds:datastoreItem xmlns:ds="http://schemas.openxmlformats.org/officeDocument/2006/customXml" ds:itemID="{CA9FC985-930B-40D4-827F-9FAC5D35EA8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DTU Template 16_9 - Corporate red-ENG</Template>
  <TotalTime>190</TotalTime>
  <Words>107</Words>
  <Application>Microsoft Office PowerPoint</Application>
  <PresentationFormat>Custom</PresentationFormat>
  <Paragraphs>36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Verdana</vt:lpstr>
      <vt:lpstr>Blank</vt:lpstr>
      <vt:lpstr>PowerPoint Presentation</vt:lpstr>
      <vt:lpstr>Template for Assessment framework and FU definition</vt:lpstr>
      <vt:lpstr>Obligatory and Positioning Properties</vt:lpstr>
      <vt:lpstr>FU definition</vt:lpstr>
      <vt:lpstr>Framework matrix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Margaux Martine Nicole Millaret</dc:creator>
  <cp:lastModifiedBy>Stig Irving Olsen</cp:lastModifiedBy>
  <cp:revision>17</cp:revision>
  <dcterms:created xsi:type="dcterms:W3CDTF">2026-02-11T08:11:16Z</dcterms:created>
  <dcterms:modified xsi:type="dcterms:W3CDTF">2026-02-11T12:46:18Z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imeStamp">
    <vt:lpwstr>2019-06-10T12:53:59.0527961Z</vt:lpwstr>
  </property>
  <property fmtid="{D5CDD505-2E9C-101B-9397-08002B2CF9AE}" pid="4" name="ContentTypeId">
    <vt:lpwstr>0x0101009ADA1FD2B40FDA458284BB6FCA763489</vt:lpwstr>
  </property>
</Properties>
</file>