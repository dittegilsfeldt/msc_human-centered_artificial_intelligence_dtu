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0"/>
  </p:sldMasterIdLst>
  <p:notesMasterIdLst>
    <p:notesMasterId r:id="rId23"/>
  </p:notesMasterIdLst>
  <p:handoutMasterIdLst>
    <p:handoutMasterId r:id="rId24"/>
  </p:handoutMasterIdLst>
  <p:sldIdLst>
    <p:sldId id="261" r:id="rId11"/>
    <p:sldId id="303" r:id="rId12"/>
    <p:sldId id="269" r:id="rId13"/>
    <p:sldId id="268" r:id="rId14"/>
    <p:sldId id="295" r:id="rId15"/>
    <p:sldId id="300" r:id="rId16"/>
    <p:sldId id="296" r:id="rId17"/>
    <p:sldId id="301" r:id="rId18"/>
    <p:sldId id="265" r:id="rId19"/>
    <p:sldId id="281" r:id="rId20"/>
    <p:sldId id="282" r:id="rId21"/>
    <p:sldId id="302" r:id="rId22"/>
  </p:sldIdLst>
  <p:sldSz cx="12190413" cy="6858000"/>
  <p:notesSz cx="6858000" cy="9144000"/>
  <p:custDataLst>
    <p:tags r:id="rId25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48"/>
    <a:srgbClr val="1FD082"/>
    <a:srgbClr val="2F3EEA"/>
    <a:srgbClr val="FFFFFF"/>
    <a:srgbClr val="990000"/>
    <a:srgbClr val="000000"/>
    <a:srgbClr val="FFCC00"/>
    <a:srgbClr val="FF6600"/>
    <a:srgbClr val="FF0000"/>
    <a:srgbClr val="FF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F60D8-B86B-4EDB-BCBA-8C362BAAA471}" v="79" dt="2026-01-16T12:42:37.238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8" autoAdjust="0"/>
  </p:normalViewPr>
  <p:slideViewPr>
    <p:cSldViewPr showGuides="1">
      <p:cViewPr varScale="1">
        <p:scale>
          <a:sx n="151" d="100"/>
          <a:sy n="151" d="100"/>
        </p:scale>
        <p:origin x="702" y="13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1621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4997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ED6B-849D-A5D2-D1F0-06706D23B24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5B7D6AC-2FD3-478B-B7E9-314B79CAB9F1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19C4E-D6B8-50A2-A635-868FF289F99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07C9D19-0502-42BE-881C-4E1BD2AEEBE5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4120-CAD7-4F92-7378-98D88CD0BD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C9D6C4-6158-43C0-95FE-2BAA62C29C68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12B94-0222-C98A-FFE9-2FEFA87344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71C5AD1-8497-4D80-89A7-7C8226C96098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8907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35DC-D232-9C90-9C31-AA00AE5CF93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AD180E5-4200-4F45-81AF-5F789FB0D264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B2F1-B091-E656-C4DE-C556B5DA13D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093649B-329C-4DA3-835E-3CFCE6A1627E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654E4-A51C-0D45-3654-72479798316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C57415D-3D05-40D3-8570-04F7F63CF0C1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A591-5B6F-3582-D42E-64EB81D7B2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9C5956F-37E9-4E33-B9CE-BA65DFA0B860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43F2E-763E-6678-3468-8C45A82F1A9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68496E6-F389-4AD3-9BF1-D7EF3467F146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A95A10E-9D45-4CAB-B3DB-A958AA88DAE9}" type="datetime1">
              <a:rPr lang="da-DK" smtClean="0"/>
              <a:t>27-01-2026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15C00E11-C444-4C5B-A2B3-63C8AC4AF02D}" type="datetime1">
              <a:rPr lang="da-DK" smtClean="0"/>
              <a:t>27-01-2026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sustainability obligations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 dirty="0"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Technical University of Denmark</a:t>
            </a:r>
            <a:endParaRPr lang="da-DK" sz="7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C6FF03-B8A1-16DC-2053-E21EDEFDF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8DF1AACD-63A0-4B12-BCFD-11FC136B311E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8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8" y="3545117"/>
            <a:ext cx="11173939" cy="2706458"/>
          </a:xfrm>
        </p:spPr>
        <p:txBody>
          <a:bodyPr/>
          <a:lstStyle/>
          <a:p>
            <a:pPr algn="r"/>
            <a:r>
              <a:rPr lang="en-US" sz="3800" dirty="0"/>
              <a:t>Quantitative Methods to Assess Sustainability</a:t>
            </a:r>
            <a:endParaRPr lang="en-GB" sz="3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Sustainability global commitments and obligations</a:t>
            </a:r>
            <a:endParaRPr lang="en-GB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6E35A-8B14-EECF-4A79-74EF4ACDBAB9}"/>
              </a:ext>
            </a:extLst>
          </p:cNvPr>
          <p:cNvSpPr txBox="1"/>
          <p:nvPr/>
        </p:nvSpPr>
        <p:spPr>
          <a:xfrm>
            <a:off x="7122732" y="5153025"/>
            <a:ext cx="396436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432"/>
              </a:spcBef>
            </a:pPr>
            <a:r>
              <a:rPr lang="en-US" sz="3200" dirty="0">
                <a:solidFill>
                  <a:schemeClr val="bg1"/>
                </a:solidFill>
                <a:latin typeface="+mn-lt"/>
              </a:rPr>
              <a:t>David Lusseau</a:t>
            </a:r>
            <a:endParaRPr lang="en-GB" sz="32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AD745-E1DA-74FF-D900-2236B22334D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150A179-F8FE-433E-B0A8-968944257CE0}" type="datetime1">
              <a:rPr lang="da-DK" smtClean="0"/>
              <a:t>27-01-2026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3899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6B99DD-E05D-A214-D970-8C5E241077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2" b="13291"/>
          <a:stretch>
            <a:fillRect/>
          </a:stretch>
        </p:blipFill>
        <p:spPr>
          <a:xfrm>
            <a:off x="20" y="10"/>
            <a:ext cx="12190393" cy="6857990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F251A-2602-02F6-49A7-D387F14C588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/>
              <a:t>sustainability obligations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5E22614E-45D2-ABA5-FFC5-566F680177D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4BF242FA-57AC-F0DA-DA69-6CFF2A74605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fld id="{A07C9D19-0502-42BE-881C-4E1BD2AEEBE5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874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8" y="188641"/>
            <a:ext cx="10840028" cy="864096"/>
          </a:xfrm>
        </p:spPr>
        <p:txBody>
          <a:bodyPr/>
          <a:lstStyle/>
          <a:p>
            <a:r>
              <a:rPr lang="en-US" sz="4800" dirty="0"/>
              <a:t>Reaching consensus</a:t>
            </a:r>
            <a:endParaRPr lang="en-GB" sz="4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6" name="Content Placeholder 2" descr="A group of people writing on a large white board&#10;&#10;Description automatically generated">
            <a:extLst>
              <a:ext uri="{FF2B5EF4-FFF2-40B4-BE49-F238E27FC236}">
                <a16:creationId xmlns:a16="http://schemas.microsoft.com/office/drawing/2014/main" id="{299579E1-05CD-9FD4-A1DA-E5CE163C9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58786" y="1283024"/>
            <a:ext cx="8420358" cy="511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719FB-1FF5-048C-5359-2587702520E9}"/>
              </a:ext>
            </a:extLst>
          </p:cNvPr>
          <p:cNvSpPr txBox="1"/>
          <p:nvPr/>
        </p:nvSpPr>
        <p:spPr>
          <a:xfrm>
            <a:off x="6599262" y="6541200"/>
            <a:ext cx="32403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432"/>
              </a:spcBef>
            </a:pPr>
            <a:r>
              <a:rPr lang="en-GB" sz="2000" dirty="0">
                <a:solidFill>
                  <a:schemeClr val="bg1"/>
                </a:solidFill>
                <a:latin typeface="+mn-lt"/>
              </a:rPr>
              <a:t>UN Photo 1992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60E54-ABD2-E040-E0AC-0CF7C54A7BE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250255D-4F8E-4AF0-8B04-1B6E33EED4EE}" type="datetime1">
              <a:rPr lang="da-DK" smtClean="0"/>
              <a:t>27-01-2026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99352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2675-1845-819C-9B8A-B2A55F1A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694" y="360859"/>
            <a:ext cx="9577064" cy="482593"/>
          </a:xfrm>
        </p:spPr>
        <p:txBody>
          <a:bodyPr/>
          <a:lstStyle/>
          <a:p>
            <a:r>
              <a:rPr lang="en-US" sz="3600" dirty="0"/>
              <a:t>Rio Declaration 1992</a:t>
            </a:r>
            <a:endParaRPr lang="en-GB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FA94-2ABF-E128-1048-E502223A9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D86DE-38B9-5E80-04AC-AAD3E7A098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9D3401-64DC-2080-DBBA-EF8F2655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097" y="1565590"/>
            <a:ext cx="11689316" cy="4225698"/>
          </a:xfrm>
        </p:spPr>
        <p:txBody>
          <a:bodyPr/>
          <a:lstStyle/>
          <a:p>
            <a:r>
              <a:rPr lang="en-US" sz="2800" dirty="0">
                <a:cs typeface="Courier New" panose="02070309020205020404" pitchFamily="49" charset="0"/>
              </a:rPr>
              <a:t>“Human beings are at the </a:t>
            </a:r>
            <a:r>
              <a:rPr lang="en-US" sz="2800" dirty="0" err="1">
                <a:cs typeface="Courier New" panose="02070309020205020404" pitchFamily="49" charset="0"/>
              </a:rPr>
              <a:t>centre</a:t>
            </a:r>
            <a:r>
              <a:rPr lang="en-US" sz="2800" dirty="0">
                <a:cs typeface="Courier New" panose="02070309020205020404" pitchFamily="49" charset="0"/>
              </a:rPr>
              <a:t> of concerns for sustainable development…”</a:t>
            </a:r>
          </a:p>
          <a:p>
            <a:pPr marL="0" indent="-42">
              <a:buNone/>
            </a:pPr>
            <a:endParaRPr lang="en-US" sz="1400" dirty="0">
              <a:cs typeface="Courier New" panose="02070309020205020404" pitchFamily="49" charset="0"/>
            </a:endParaRPr>
          </a:p>
          <a:p>
            <a:pPr marL="0" indent="-42">
              <a:buNone/>
            </a:pPr>
            <a:endParaRPr lang="en-US" sz="14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“…equitably meet developmental and environmental needs of present and future generations.”</a:t>
            </a:r>
          </a:p>
          <a:p>
            <a:pPr marL="0" indent="-42">
              <a:buNone/>
            </a:pPr>
            <a:endParaRPr lang="en-US" sz="1400" dirty="0">
              <a:cs typeface="Courier New" panose="02070309020205020404" pitchFamily="49" charset="0"/>
            </a:endParaRPr>
          </a:p>
          <a:p>
            <a:pPr marL="0" indent="-42">
              <a:buNone/>
            </a:pPr>
            <a:endParaRPr lang="en-US" sz="1400" dirty="0">
              <a:cs typeface="Courier New" panose="02070309020205020404" pitchFamily="49" charset="0"/>
            </a:endParaRPr>
          </a:p>
          <a:p>
            <a:r>
              <a:rPr lang="en-US" sz="2800" dirty="0">
                <a:cs typeface="Courier New" panose="02070309020205020404" pitchFamily="49" charset="0"/>
              </a:rPr>
              <a:t>“… environmental protection shall constitute an integral part of the development process....”</a:t>
            </a:r>
          </a:p>
          <a:p>
            <a:pPr lvl="2"/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611C5-C705-8D0B-9B56-2366FD4E7F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956B412-E35C-4CFF-BDA4-5F0AE68AAD17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6617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CCA0-83AA-66B0-6A80-7B6F7931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92789"/>
            <a:ext cx="9312374" cy="626609"/>
          </a:xfrm>
        </p:spPr>
        <p:txBody>
          <a:bodyPr/>
          <a:lstStyle/>
          <a:p>
            <a:r>
              <a:rPr lang="en-GB" sz="3600" dirty="0"/>
              <a:t>What is at the origin of nowadays SDGs?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2775-3B0D-F443-61D9-1CF5BA917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662" y="1844824"/>
            <a:ext cx="10740388" cy="4041522"/>
          </a:xfrm>
        </p:spPr>
        <p:txBody>
          <a:bodyPr/>
          <a:lstStyle/>
          <a:p>
            <a:r>
              <a:rPr lang="en-GB" sz="2800" dirty="0"/>
              <a:t>The modern </a:t>
            </a:r>
            <a:r>
              <a:rPr lang="en-GB" sz="2800" i="1" dirty="0"/>
              <a:t>sustainability</a:t>
            </a:r>
            <a:r>
              <a:rPr lang="en-GB" sz="2800" dirty="0"/>
              <a:t> concept emerged from interactions between economic development &amp; environmentalism</a:t>
            </a:r>
          </a:p>
          <a:p>
            <a:endParaRPr lang="en-GB" sz="2800" dirty="0"/>
          </a:p>
          <a:p>
            <a:r>
              <a:rPr lang="en-GB" sz="2800" dirty="0"/>
              <a:t>Consensus I: 1972 Stockholm Declaration</a:t>
            </a:r>
          </a:p>
          <a:p>
            <a:pPr lvl="1"/>
            <a:r>
              <a:rPr lang="en-US" sz="2400" dirty="0"/>
              <a:t>Our activities (particularly industrialization) are having an impact on the global environment</a:t>
            </a:r>
          </a:p>
          <a:p>
            <a:pPr lvl="2"/>
            <a:r>
              <a:rPr lang="en-GB" sz="2200" dirty="0"/>
              <a:t>We need to assess the impact of our activities and manage them</a:t>
            </a:r>
          </a:p>
          <a:p>
            <a:pPr lvl="1"/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E6D6A-E39F-AC0D-E9C0-00F096FCA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3593-2851-7A58-4E50-B20FD4CC89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87545B-EFCF-0987-5367-3C15496285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0941B90-F142-4513-8475-99188B2A3F92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705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6198-2E9F-9925-85D2-E9FB165C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646" y="343387"/>
            <a:ext cx="10153128" cy="554601"/>
          </a:xfrm>
        </p:spPr>
        <p:txBody>
          <a:bodyPr/>
          <a:lstStyle/>
          <a:p>
            <a:r>
              <a:rPr lang="en-US" sz="3600" dirty="0"/>
              <a:t>Universal Declaration of Human Rights (1948)</a:t>
            </a:r>
            <a:endParaRPr lang="en-GB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965B6-A640-D2A6-75D7-502E85CAAE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9D658-6CDD-6A47-3E93-30CED9DB58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FE8EC-5018-9D83-2577-5BC5CF914F25}"/>
              </a:ext>
            </a:extLst>
          </p:cNvPr>
          <p:cNvSpPr txBox="1"/>
          <p:nvPr/>
        </p:nvSpPr>
        <p:spPr>
          <a:xfrm>
            <a:off x="1054646" y="1556792"/>
            <a:ext cx="10153128" cy="4083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+mn-lt"/>
              </a:rPr>
              <a:t>Article 1</a:t>
            </a:r>
            <a:r>
              <a:rPr lang="en-US" sz="2800" dirty="0">
                <a:latin typeface="+mn-lt"/>
              </a:rPr>
              <a:t> – All human beings are born free and equal in dignity and rights. </a:t>
            </a:r>
          </a:p>
          <a:p>
            <a:pPr marL="285750" indent="-285750" algn="just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pPr marL="285750" indent="-285750" algn="just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+mn-lt"/>
              </a:rPr>
              <a:t>Article 2</a:t>
            </a:r>
            <a:r>
              <a:rPr lang="en-US" sz="2800" dirty="0">
                <a:latin typeface="+mn-lt"/>
              </a:rPr>
              <a:t> – Everyone is entitled to all the rights and freedoms set forth in this Declaration, without distinction of any kind.</a:t>
            </a:r>
          </a:p>
          <a:p>
            <a:pPr marL="285750" indent="-285750" algn="just">
              <a:spcBef>
                <a:spcPts val="432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pPr marL="285750" indent="-285750" algn="just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+mn-lt"/>
              </a:rPr>
              <a:t>Article 25</a:t>
            </a:r>
            <a:r>
              <a:rPr lang="en-US" sz="2800" dirty="0">
                <a:latin typeface="+mn-lt"/>
              </a:rPr>
              <a:t> - Everyone has the right to a standard of living adequate for the health and well-being of himself and of his family.</a:t>
            </a:r>
            <a:endParaRPr lang="en-GB" sz="2800" dirty="0" err="1">
              <a:latin typeface="+mn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1CCDA-8BB8-9F7D-8CCA-CFEB643183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7EADDD6-380E-47CC-9A83-CB315811AD9B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12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CCA0-83AA-66B0-6A80-7B6F7931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62" y="292789"/>
            <a:ext cx="9312374" cy="626609"/>
          </a:xfrm>
        </p:spPr>
        <p:txBody>
          <a:bodyPr/>
          <a:lstStyle/>
          <a:p>
            <a:r>
              <a:rPr lang="en-GB" sz="3600" dirty="0"/>
              <a:t>What is at the origin of nowadays SDGs?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2775-3B0D-F443-61D9-1CF5BA917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662" y="1844824"/>
            <a:ext cx="10740388" cy="3969514"/>
          </a:xfrm>
        </p:spPr>
        <p:txBody>
          <a:bodyPr/>
          <a:lstStyle/>
          <a:p>
            <a:r>
              <a:rPr lang="en-GB" sz="2800" dirty="0"/>
              <a:t>The modern </a:t>
            </a:r>
            <a:r>
              <a:rPr lang="en-GB" sz="2800" i="1" dirty="0"/>
              <a:t>sustainability</a:t>
            </a:r>
            <a:r>
              <a:rPr lang="en-GB" sz="2800" dirty="0"/>
              <a:t> concept emerged from interactions between economic development &amp; environmentalism</a:t>
            </a:r>
          </a:p>
          <a:p>
            <a:pPr marL="216000" lvl="1" indent="0">
              <a:buNone/>
            </a:pPr>
            <a:endParaRPr lang="en-GB" sz="2200" dirty="0"/>
          </a:p>
          <a:p>
            <a:r>
              <a:rPr lang="en-GB" sz="2800" dirty="0"/>
              <a:t>Consensus II: 1992 Rio Declaration</a:t>
            </a:r>
          </a:p>
          <a:p>
            <a:pPr lvl="1"/>
            <a:r>
              <a:rPr lang="en-GB" sz="2400" dirty="0"/>
              <a:t>Reconcile Stockholm declaration with economic development &amp; UDHR</a:t>
            </a:r>
          </a:p>
          <a:p>
            <a:pPr lvl="1"/>
            <a:r>
              <a:rPr lang="en-GB" sz="2400" dirty="0"/>
              <a:t>needed for global security</a:t>
            </a:r>
          </a:p>
          <a:p>
            <a:pPr lvl="1"/>
            <a:r>
              <a:rPr lang="en-GB" sz="2400" dirty="0"/>
              <a:t>needed to adhere to Universal Human Rights</a:t>
            </a:r>
          </a:p>
          <a:p>
            <a:pPr lvl="1"/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E6D6A-E39F-AC0D-E9C0-00F096FCA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72980-63B1-1C76-F352-129F22BB37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C569FC-051A-DC94-5F46-3DCAAA409D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1FE9F-AF52-4DEF-BD9C-792B320BE434}" type="datetime1">
              <a:rPr lang="da-DK" smtClean="0"/>
              <a:t>27-01-2026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00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2106-15FE-B1A2-1AA3-3B55E884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B257B-5F64-7311-AB6C-A77B0BA06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85AD4-BA82-AFA5-672C-2429AC56B7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2D8FBC-2875-E414-4B83-F0EDF4F076C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C9D6C4-6158-43C0-95FE-2BAA62C29C68}" type="datetime1">
              <a:rPr lang="da-DK" smtClean="0"/>
              <a:t>27-01-2026</a:t>
            </a:fld>
            <a:endParaRPr lang="en-GB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B55F9B5-5979-0216-B677-80FD58965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9" y="1358401"/>
            <a:ext cx="4181335" cy="353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AEF31A1-4629-E62C-E534-D5C71CDA7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9" r="17952"/>
          <a:stretch>
            <a:fillRect/>
          </a:stretch>
        </p:blipFill>
        <p:spPr bwMode="auto">
          <a:xfrm>
            <a:off x="8674974" y="1274697"/>
            <a:ext cx="3481425" cy="362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F29E2F0-9832-D061-FBE8-76EA30667526}"/>
              </a:ext>
            </a:extLst>
          </p:cNvPr>
          <p:cNvGrpSpPr>
            <a:grpSpLocks noChangeAspect="1"/>
          </p:cNvGrpSpPr>
          <p:nvPr/>
        </p:nvGrpSpPr>
        <p:grpSpPr>
          <a:xfrm>
            <a:off x="4252634" y="1280574"/>
            <a:ext cx="4089255" cy="3612041"/>
            <a:chOff x="3560523" y="1151083"/>
            <a:chExt cx="5105433" cy="450963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9CFD96-EB54-2FD5-1365-314D59EA4F69}"/>
                </a:ext>
              </a:extLst>
            </p:cNvPr>
            <p:cNvSpPr/>
            <p:nvPr/>
          </p:nvSpPr>
          <p:spPr bwMode="auto">
            <a:xfrm>
              <a:off x="4595868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8B024B4-BBBE-6E05-DA5A-3C9098197480}"/>
                </a:ext>
              </a:extLst>
            </p:cNvPr>
            <p:cNvSpPr/>
            <p:nvPr/>
          </p:nvSpPr>
          <p:spPr bwMode="auto">
            <a:xfrm>
              <a:off x="5786331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C1715D-4628-FC3B-BB56-A652C9A184C3}"/>
                </a:ext>
              </a:extLst>
            </p:cNvPr>
            <p:cNvSpPr/>
            <p:nvPr/>
          </p:nvSpPr>
          <p:spPr bwMode="auto">
            <a:xfrm>
              <a:off x="3575752" y="2781090"/>
              <a:ext cx="2879625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D18C177-E712-4D89-AAAD-B3F591EBEB6E}"/>
                </a:ext>
              </a:extLst>
            </p:cNvPr>
            <p:cNvSpPr/>
            <p:nvPr/>
          </p:nvSpPr>
          <p:spPr bwMode="auto">
            <a:xfrm>
              <a:off x="4580639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8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5DFE23-10D3-91EB-3A73-9195F7D67410}"/>
                </a:ext>
              </a:extLst>
            </p:cNvPr>
            <p:cNvSpPr/>
            <p:nvPr/>
          </p:nvSpPr>
          <p:spPr bwMode="auto">
            <a:xfrm>
              <a:off x="5771102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800" cap="small" dirty="0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9F1F6D-3C22-EB0D-C78A-E35BDFA3BF7C}"/>
                </a:ext>
              </a:extLst>
            </p:cNvPr>
            <p:cNvSpPr/>
            <p:nvPr/>
          </p:nvSpPr>
          <p:spPr bwMode="auto">
            <a:xfrm>
              <a:off x="3560523" y="2781090"/>
              <a:ext cx="2879625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800" cap="small" dirty="0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D20AC2-DDDB-A38A-2658-3E0BB2888D8E}"/>
                </a:ext>
              </a:extLst>
            </p:cNvPr>
            <p:cNvSpPr txBox="1"/>
            <p:nvPr/>
          </p:nvSpPr>
          <p:spPr>
            <a:xfrm>
              <a:off x="4636050" y="3173578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>
                  <a:solidFill>
                    <a:schemeClr val="bg1"/>
                  </a:solidFill>
                  <a:latin typeface="+mn-lt"/>
                </a:rPr>
                <a:t>equitable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13CA0F-5E9C-6D0E-FF70-18598B56C971}"/>
                </a:ext>
              </a:extLst>
            </p:cNvPr>
            <p:cNvSpPr txBox="1"/>
            <p:nvPr/>
          </p:nvSpPr>
          <p:spPr>
            <a:xfrm>
              <a:off x="6158107" y="3173576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>
                  <a:solidFill>
                    <a:schemeClr val="bg1"/>
                  </a:solidFill>
                  <a:latin typeface="+mn-lt"/>
                </a:rPr>
                <a:t>bearable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41029C-FE4B-7996-F0B1-574EFF1CE98D}"/>
                </a:ext>
              </a:extLst>
            </p:cNvPr>
            <p:cNvSpPr txBox="1"/>
            <p:nvPr/>
          </p:nvSpPr>
          <p:spPr>
            <a:xfrm>
              <a:off x="5470091" y="4307771"/>
              <a:ext cx="1302156" cy="268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400" i="1">
                  <a:solidFill>
                    <a:schemeClr val="bg1"/>
                  </a:solidFill>
                  <a:latin typeface="+mn-lt"/>
                </a:rPr>
                <a:t>viable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1C7C07-1ACF-F520-D9A1-784F4161F8CA}"/>
                </a:ext>
              </a:extLst>
            </p:cNvPr>
            <p:cNvSpPr txBox="1"/>
            <p:nvPr/>
          </p:nvSpPr>
          <p:spPr>
            <a:xfrm>
              <a:off x="5439004" y="3716707"/>
              <a:ext cx="1302156" cy="2113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100" i="1">
                  <a:solidFill>
                    <a:schemeClr val="bg1"/>
                  </a:solidFill>
                  <a:latin typeface="+mn-lt"/>
                </a:rPr>
                <a:t>sustainable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174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FB35-9837-0DEB-B0F2-E74B4B80A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646" y="260648"/>
            <a:ext cx="9312374" cy="554601"/>
          </a:xfrm>
        </p:spPr>
        <p:txBody>
          <a:bodyPr/>
          <a:lstStyle/>
          <a:p>
            <a:r>
              <a:rPr lang="en-GB" dirty="0"/>
              <a:t>The European Green Deal</a:t>
            </a: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5170B-0ED0-D407-AEB0-90E89A2E08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17780-86B8-B94E-0A52-348F15AA3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D8C24C-1647-B794-90D7-587C29A7C9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4E8EF1-5DC1-58C3-8059-CE00A1784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088" y="4941168"/>
            <a:ext cx="9312374" cy="982946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Economic growth is decoupled for GHG emissions</a:t>
            </a:r>
            <a:endParaRPr lang="da-DK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EF82F5-84A2-DE9C-3567-F2B7C783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139156"/>
            <a:ext cx="12190413" cy="257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50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372E-0775-6B15-9580-96FC61D4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645" y="476672"/>
            <a:ext cx="11135767" cy="626609"/>
          </a:xfrm>
        </p:spPr>
        <p:txBody>
          <a:bodyPr/>
          <a:lstStyle/>
          <a:p>
            <a:r>
              <a:rPr lang="en-GB" dirty="0"/>
              <a:t>Incentivise transitions to ‘sustainable’ activities &amp; investments  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BBA8-AD70-EDEE-0431-8E46C918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645" y="1484784"/>
            <a:ext cx="10657185" cy="4545578"/>
          </a:xfrm>
        </p:spPr>
        <p:txBody>
          <a:bodyPr/>
          <a:lstStyle/>
          <a:p>
            <a:r>
              <a:rPr lang="en-GB" sz="2400" dirty="0"/>
              <a:t>The EU Taxonomy: define environmentally sustainable economic activities</a:t>
            </a:r>
            <a:endParaRPr lang="da-DK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BDE60-FC58-CDBC-E129-E1F4C7BB1C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FEE39-A9DB-7FEF-716E-5DC9191D4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B0B32F-A3BC-C0D5-DF7D-A4D0EFDB01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563A58E-BA02-7B8E-B683-45594A20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078" y="2077488"/>
            <a:ext cx="6048672" cy="420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5A1275-EA9C-B0A0-BC9E-52D04B286072}"/>
              </a:ext>
            </a:extLst>
          </p:cNvPr>
          <p:cNvSpPr txBox="1">
            <a:spLocks/>
          </p:cNvSpPr>
          <p:nvPr/>
        </p:nvSpPr>
        <p:spPr bwMode="auto">
          <a:xfrm>
            <a:off x="4178668" y="3571025"/>
            <a:ext cx="1512168" cy="626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GB" sz="2400" kern="0" dirty="0"/>
              <a:t>objectives</a:t>
            </a:r>
            <a:endParaRPr lang="da-DK" sz="2400" kern="0" dirty="0"/>
          </a:p>
        </p:txBody>
      </p:sp>
    </p:spTree>
    <p:extLst>
      <p:ext uri="{BB962C8B-B14F-4D97-AF65-F5344CB8AC3E}">
        <p14:creationId xmlns:p14="http://schemas.microsoft.com/office/powerpoint/2010/main" val="1705697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947-8B4B-C827-AF4A-97331595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482593"/>
          </a:xfrm>
        </p:spPr>
        <p:txBody>
          <a:bodyPr/>
          <a:lstStyle/>
          <a:p>
            <a:r>
              <a:rPr lang="en-GB" dirty="0"/>
              <a:t>The EU Taxonomy: conditions</a:t>
            </a:r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A2BC4-D6D1-5B74-B73E-ACD1EB2B4D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E3F4-FD91-7B91-E210-B4E8C3B21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AA7E2A-7958-1127-C641-67D6A4ECA14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71278E4-163C-D1A4-C106-7629C9E5C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90" y="1385165"/>
            <a:ext cx="112395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36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5A8A-EE82-88B5-4804-78EED1C5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12" y="316261"/>
            <a:ext cx="9312374" cy="504877"/>
          </a:xfrm>
        </p:spPr>
        <p:txBody>
          <a:bodyPr/>
          <a:lstStyle/>
          <a:p>
            <a:r>
              <a:rPr lang="en-GB" dirty="0"/>
              <a:t>From commitments to regulations</a:t>
            </a:r>
            <a:endParaRPr lang="da-DK" dirty="0"/>
          </a:p>
        </p:txBody>
      </p:sp>
      <p:pic>
        <p:nvPicPr>
          <p:cNvPr id="21" name="Content Placeholder 20" descr="Gavel resting on block">
            <a:extLst>
              <a:ext uri="{FF2B5EF4-FFF2-40B4-BE49-F238E27FC236}">
                <a16:creationId xmlns:a16="http://schemas.microsoft.com/office/drawing/2014/main" id="{75782CDE-A686-C095-8F7B-0F9CD8CFE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367" y="4580551"/>
            <a:ext cx="2493300" cy="16622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1408A-A292-3312-25A4-6D696490CD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sustainability obligations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250C7-A095-DD50-F264-2390C86D94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B8B530-90BC-5B8A-DE0D-3832EB065E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C9D6C4-6158-43C0-95FE-2BAA62C29C68}" type="datetime1">
              <a:rPr lang="da-DK" smtClean="0"/>
              <a:t>27-01-2026</a:t>
            </a:fld>
            <a:endParaRPr lang="en-GB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C2CD5E-37F5-B52A-5EE3-55752D1ED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85" y="1420467"/>
            <a:ext cx="2909393" cy="245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0D769E7-1245-B1C9-6D35-7C07F346F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9" r="17952"/>
          <a:stretch>
            <a:fillRect/>
          </a:stretch>
        </p:blipFill>
        <p:spPr bwMode="auto">
          <a:xfrm>
            <a:off x="8897821" y="1594221"/>
            <a:ext cx="2422392" cy="252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9B8B22-C890-4187-96AE-10C3B38A14C8}"/>
              </a:ext>
            </a:extLst>
          </p:cNvPr>
          <p:cNvGrpSpPr>
            <a:grpSpLocks noChangeAspect="1"/>
          </p:cNvGrpSpPr>
          <p:nvPr/>
        </p:nvGrpSpPr>
        <p:grpSpPr>
          <a:xfrm>
            <a:off x="4690729" y="1387346"/>
            <a:ext cx="2845324" cy="2513276"/>
            <a:chOff x="3560523" y="1151083"/>
            <a:chExt cx="5105433" cy="45096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44275DE-F03C-B310-306B-40DA603AD58C}"/>
                </a:ext>
              </a:extLst>
            </p:cNvPr>
            <p:cNvSpPr/>
            <p:nvPr/>
          </p:nvSpPr>
          <p:spPr bwMode="auto">
            <a:xfrm>
              <a:off x="4595868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2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BD41F6C-9C9C-4DEE-DEFF-3BCB37DC41A1}"/>
                </a:ext>
              </a:extLst>
            </p:cNvPr>
            <p:cNvSpPr/>
            <p:nvPr/>
          </p:nvSpPr>
          <p:spPr bwMode="auto">
            <a:xfrm>
              <a:off x="5786331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200" cap="small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C5C609-482D-035C-D6FB-705DDAD53F4C}"/>
                </a:ext>
              </a:extLst>
            </p:cNvPr>
            <p:cNvSpPr/>
            <p:nvPr/>
          </p:nvSpPr>
          <p:spPr bwMode="auto">
            <a:xfrm>
              <a:off x="3575752" y="2781090"/>
              <a:ext cx="2879625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200" cap="small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029DA54-6FCD-6AC1-20BF-C9466196855D}"/>
                </a:ext>
              </a:extLst>
            </p:cNvPr>
            <p:cNvSpPr/>
            <p:nvPr/>
          </p:nvSpPr>
          <p:spPr bwMode="auto">
            <a:xfrm>
              <a:off x="4580639" y="1151083"/>
              <a:ext cx="2879625" cy="2879625"/>
            </a:xfrm>
            <a:prstGeom prst="ellipse">
              <a:avLst/>
            </a:prstGeom>
            <a:solidFill>
              <a:schemeClr val="accent1">
                <a:alpha val="7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309">
                <a:spcBef>
                  <a:spcPts val="432"/>
                </a:spcBef>
              </a:pPr>
              <a:r>
                <a:rPr lang="en-US" sz="1200" cap="small">
                  <a:solidFill>
                    <a:srgbClr val="FFFFFF"/>
                  </a:solidFill>
                  <a:latin typeface="+mn-lt"/>
                </a:rPr>
                <a:t>Society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4BEE5E-8703-2F42-8DF6-A58267609E81}"/>
                </a:ext>
              </a:extLst>
            </p:cNvPr>
            <p:cNvSpPr/>
            <p:nvPr/>
          </p:nvSpPr>
          <p:spPr bwMode="auto">
            <a:xfrm>
              <a:off x="5771102" y="2781090"/>
              <a:ext cx="2879625" cy="2879625"/>
            </a:xfrm>
            <a:prstGeom prst="ellipse">
              <a:avLst/>
            </a:prstGeom>
            <a:solidFill>
              <a:schemeClr val="accent3">
                <a:lumMod val="50000"/>
                <a:alpha val="75000"/>
              </a:schemeClr>
            </a:solidFill>
            <a:ln w="9525" cap="flat" cmpd="sng" algn="ctr">
              <a:solidFill>
                <a:schemeClr val="accent3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algn="r" defTabSz="914309">
                <a:spcBef>
                  <a:spcPts val="432"/>
                </a:spcBef>
              </a:pPr>
              <a:r>
                <a:rPr lang="en-US" sz="1200" cap="small" dirty="0">
                  <a:solidFill>
                    <a:srgbClr val="FFFFFF"/>
                  </a:solidFill>
                  <a:latin typeface="+mn-lt"/>
                </a:rPr>
                <a:t>Environment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8E9DB7-058C-CFEA-4AC7-C8673335745D}"/>
                </a:ext>
              </a:extLst>
            </p:cNvPr>
            <p:cNvSpPr/>
            <p:nvPr/>
          </p:nvSpPr>
          <p:spPr bwMode="auto">
            <a:xfrm>
              <a:off x="3560523" y="2781090"/>
              <a:ext cx="2879625" cy="2879625"/>
            </a:xfrm>
            <a:prstGeom prst="ellipse">
              <a:avLst/>
            </a:prstGeom>
            <a:solidFill>
              <a:schemeClr val="accent2">
                <a:lumMod val="50000"/>
                <a:alpha val="75000"/>
              </a:schemeClr>
            </a:solidFill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89988" tIns="46794" rIns="89988" bIns="46794" numCol="1" rtlCol="0" anchor="ctr" anchorCtr="0" compatLnSpc="1">
              <a:prstTxWarp prst="textNoShape">
                <a:avLst/>
              </a:prstTxWarp>
            </a:bodyPr>
            <a:lstStyle/>
            <a:p>
              <a:pPr defTabSz="914309">
                <a:spcBef>
                  <a:spcPts val="432"/>
                </a:spcBef>
              </a:pPr>
              <a:r>
                <a:rPr lang="en-US" sz="1200" cap="small" dirty="0">
                  <a:solidFill>
                    <a:srgbClr val="FFFFFF"/>
                  </a:solidFill>
                  <a:latin typeface="+mn-lt"/>
                </a:rPr>
                <a:t>Economy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F61E5B-278C-CADC-9B7D-4CC8ABF6B6F8}"/>
                </a:ext>
              </a:extLst>
            </p:cNvPr>
            <p:cNvSpPr txBox="1"/>
            <p:nvPr/>
          </p:nvSpPr>
          <p:spPr>
            <a:xfrm>
              <a:off x="4636052" y="3173579"/>
              <a:ext cx="1302155" cy="2899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050" i="1">
                  <a:solidFill>
                    <a:schemeClr val="bg1"/>
                  </a:solidFill>
                  <a:latin typeface="+mn-lt"/>
                </a:rPr>
                <a:t>equitable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6828FC-FAC4-88C8-AEE0-2046CF1AC1E3}"/>
                </a:ext>
              </a:extLst>
            </p:cNvPr>
            <p:cNvSpPr txBox="1"/>
            <p:nvPr/>
          </p:nvSpPr>
          <p:spPr>
            <a:xfrm>
              <a:off x="6158107" y="3173575"/>
              <a:ext cx="1302155" cy="2899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050" i="1">
                  <a:solidFill>
                    <a:schemeClr val="bg1"/>
                  </a:solidFill>
                  <a:latin typeface="+mn-lt"/>
                </a:rPr>
                <a:t>bearable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917312-DBDF-A289-7CC9-CD57C08E211F}"/>
                </a:ext>
              </a:extLst>
            </p:cNvPr>
            <p:cNvSpPr txBox="1"/>
            <p:nvPr/>
          </p:nvSpPr>
          <p:spPr>
            <a:xfrm>
              <a:off x="5470089" y="4307771"/>
              <a:ext cx="1302155" cy="2899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050" i="1">
                  <a:solidFill>
                    <a:schemeClr val="bg1"/>
                  </a:solidFill>
                  <a:latin typeface="+mn-lt"/>
                </a:rPr>
                <a:t>viable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2506F49-1167-1F70-89BD-59A22EB27C79}"/>
                </a:ext>
              </a:extLst>
            </p:cNvPr>
            <p:cNvSpPr txBox="1"/>
            <p:nvPr/>
          </p:nvSpPr>
          <p:spPr>
            <a:xfrm>
              <a:off x="5439003" y="3716706"/>
              <a:ext cx="1302155" cy="2485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900" i="1">
                  <a:solidFill>
                    <a:schemeClr val="bg1"/>
                  </a:solidFill>
                  <a:latin typeface="+mn-lt"/>
                </a:rPr>
                <a:t>sustainable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52A6229-361D-CE7D-2395-D6C6B29EDB5C}"/>
              </a:ext>
            </a:extLst>
          </p:cNvPr>
          <p:cNvSpPr txBox="1"/>
          <p:nvPr/>
        </p:nvSpPr>
        <p:spPr>
          <a:xfrm>
            <a:off x="694606" y="5715526"/>
            <a:ext cx="30236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432"/>
              </a:spcBef>
            </a:pPr>
            <a:r>
              <a:rPr lang="en-GB" sz="2400" dirty="0">
                <a:latin typeface="+mn-lt"/>
              </a:rPr>
              <a:t>Permissible activities</a:t>
            </a:r>
            <a:endParaRPr lang="da-DK" sz="2400" dirty="0" err="1">
              <a:latin typeface="+mn-lt"/>
            </a:endParaRPr>
          </a:p>
        </p:txBody>
      </p:sp>
      <p:pic>
        <p:nvPicPr>
          <p:cNvPr id="24" name="Picture 23" descr="Worker in factory">
            <a:extLst>
              <a:ext uri="{FF2B5EF4-FFF2-40B4-BE49-F238E27FC236}">
                <a16:creationId xmlns:a16="http://schemas.microsoft.com/office/drawing/2014/main" id="{93AC6D8D-AE9F-9D37-1DFD-599892DC36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745" y="4135479"/>
            <a:ext cx="3415308" cy="227687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D4CFDDD-FA4A-8975-77A4-DEE4DABDD867}"/>
              </a:ext>
            </a:extLst>
          </p:cNvPr>
          <p:cNvSpPr txBox="1"/>
          <p:nvPr/>
        </p:nvSpPr>
        <p:spPr>
          <a:xfrm>
            <a:off x="709789" y="4653136"/>
            <a:ext cx="30236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432"/>
              </a:spcBef>
            </a:pPr>
            <a:r>
              <a:rPr lang="en-GB" sz="2400" dirty="0">
                <a:latin typeface="+mn-lt"/>
              </a:rPr>
              <a:t>Value creation</a:t>
            </a:r>
            <a:endParaRPr lang="da-DK" sz="2400" dirty="0" err="1">
              <a:latin typeface="+mn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74FC7D-F36E-432C-F113-6949A8D28EA8}"/>
              </a:ext>
            </a:extLst>
          </p:cNvPr>
          <p:cNvCxnSpPr>
            <a:stCxn id="7" idx="3"/>
          </p:cNvCxnSpPr>
          <p:nvPr/>
        </p:nvCxnSpPr>
        <p:spPr bwMode="auto">
          <a:xfrm>
            <a:off x="3142878" y="2650028"/>
            <a:ext cx="167418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4F966A9-D1E5-60F6-1C45-47503A285091}"/>
              </a:ext>
            </a:extLst>
          </p:cNvPr>
          <p:cNvCxnSpPr>
            <a:endCxn id="8" idx="1"/>
          </p:cNvCxnSpPr>
          <p:nvPr/>
        </p:nvCxnSpPr>
        <p:spPr bwMode="auto">
          <a:xfrm>
            <a:off x="7544541" y="2854947"/>
            <a:ext cx="1353280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CCC79F-EB82-C977-59B7-F07398CDC4AD}"/>
              </a:ext>
            </a:extLst>
          </p:cNvPr>
          <p:cNvCxnSpPr>
            <a:stCxn id="8" idx="2"/>
            <a:endCxn id="21" idx="0"/>
          </p:cNvCxnSpPr>
          <p:nvPr/>
        </p:nvCxnSpPr>
        <p:spPr bwMode="auto">
          <a:xfrm>
            <a:off x="10109017" y="4115674"/>
            <a:ext cx="0" cy="4648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6F2180-6BAC-76EE-7CF4-AA01C704778C}"/>
              </a:ext>
            </a:extLst>
          </p:cNvPr>
          <p:cNvCxnSpPr>
            <a:stCxn id="21" idx="1"/>
          </p:cNvCxnSpPr>
          <p:nvPr/>
        </p:nvCxnSpPr>
        <p:spPr bwMode="auto">
          <a:xfrm flipH="1">
            <a:off x="7536053" y="5411651"/>
            <a:ext cx="132631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0142146-C883-BCDE-B9D7-A733045B1975}"/>
              </a:ext>
            </a:extLst>
          </p:cNvPr>
          <p:cNvCxnSpPr>
            <a:stCxn id="25" idx="1"/>
            <a:endCxn id="7" idx="1"/>
          </p:cNvCxnSpPr>
          <p:nvPr/>
        </p:nvCxnSpPr>
        <p:spPr bwMode="auto">
          <a:xfrm rot="10800000">
            <a:off x="233485" y="2650028"/>
            <a:ext cx="476304" cy="2187774"/>
          </a:xfrm>
          <a:prstGeom prst="curvedConnector3">
            <a:avLst>
              <a:gd name="adj1" fmla="val 121118"/>
            </a:avLst>
          </a:prstGeom>
          <a:solidFill>
            <a:schemeClr val="accent1"/>
          </a:solidFill>
          <a:ln w="38100" cap="flat" cmpd="sng" algn="ctr">
            <a:solidFill>
              <a:schemeClr val="accent3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3B83E112-116F-4799-F4F9-74DE49C714A3}"/>
              </a:ext>
            </a:extLst>
          </p:cNvPr>
          <p:cNvCxnSpPr>
            <a:stCxn id="22" idx="1"/>
            <a:endCxn id="7" idx="1"/>
          </p:cNvCxnSpPr>
          <p:nvPr/>
        </p:nvCxnSpPr>
        <p:spPr bwMode="auto">
          <a:xfrm rot="10800000">
            <a:off x="233486" y="2650028"/>
            <a:ext cx="461121" cy="3250164"/>
          </a:xfrm>
          <a:prstGeom prst="curvedConnector3">
            <a:avLst>
              <a:gd name="adj1" fmla="val 133711"/>
            </a:avLst>
          </a:prstGeom>
          <a:solidFill>
            <a:schemeClr val="accent1"/>
          </a:solidFill>
          <a:ln w="38100" cap="flat" cmpd="sng" algn="ctr">
            <a:solidFill>
              <a:schemeClr val="accent3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463053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 cap="flat" cmpd="sng" algn="ctr">
          <a:solidFill>
            <a:schemeClr val="accent4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Navy blue-ENG.potx" id="{668BD327-20A8-48ED-87F5-2F6C6AB02F26}" vid="{327BD4A3-DAE5-445E-A4D0-C61A37F78C3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ADA1FD2B40FDA458284BB6FCA763489" ma:contentTypeVersion="5" ma:contentTypeDescription="Opprett et nytt dokument." ma:contentTypeScope="" ma:versionID="fd13edf5101e3b5e1dee61cb844bc2d6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e626b0b9908ce5fda91bb59bc65d097a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6957681585013765","enableDocumentContentUpdater":true,"version":"1.2"}]]></TemplafySlideTemplateConfiguration>
</file>

<file path=customXml/item5.xml><?xml version="1.0" encoding="utf-8"?>
<TemplafyTemplateConfiguration><![CDATA[{"elementsMetadata":[],"transformationConfigurations":[{"language":"{{DocumentLanguage}}","disableUpdates":false,"type":"proofingLanguage"}],"templateName":"DTU Template 16_9 - Navy blue","templateDescription":"","enableDocumentContentUpdater":true,"version":"1.2"}]]></Templafy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SlideTemplateConfiguration><![CDATA[{"documentContentValidatorConfiguration":{"enableDocumentContentValidator":false,"documentContentValidatorVersion":0},"elementsMetadata":[],"slideId":"636957681585013765","enableDocumentContentUpdater":true,"version":"1.2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A164AF-B544-457B-BF33-46348439FA95}">
  <ds:schemaRefs/>
</ds:datastoreItem>
</file>

<file path=customXml/itemProps2.xml><?xml version="1.0" encoding="utf-8"?>
<ds:datastoreItem xmlns:ds="http://schemas.openxmlformats.org/officeDocument/2006/customXml" ds:itemID="{1567431C-C3AB-4AF6-AD6E-548C5676A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9B696-7354-412C-9B8E-ED20D22F6B23}">
  <ds:schemaRefs/>
</ds:datastoreItem>
</file>

<file path=customXml/itemProps4.xml><?xml version="1.0" encoding="utf-8"?>
<ds:datastoreItem xmlns:ds="http://schemas.openxmlformats.org/officeDocument/2006/customXml" ds:itemID="{2A1205F7-5A46-4FD3-B4E2-0C0DC0AD47DC}">
  <ds:schemaRefs/>
</ds:datastoreItem>
</file>

<file path=customXml/itemProps5.xml><?xml version="1.0" encoding="utf-8"?>
<ds:datastoreItem xmlns:ds="http://schemas.openxmlformats.org/officeDocument/2006/customXml" ds:itemID="{1334258C-C3E7-4029-A615-C886A240FB15}">
  <ds:schemaRefs/>
</ds:datastoreItem>
</file>

<file path=customXml/itemProps6.xml><?xml version="1.0" encoding="utf-8"?>
<ds:datastoreItem xmlns:ds="http://schemas.openxmlformats.org/officeDocument/2006/customXml" ds:itemID="{CE7A6185-E15E-44DF-9C90-28D23E18D228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6495556E-A018-4D1F-8C39-5CFE0896C2E9}">
  <ds:schemaRefs/>
</ds:datastoreItem>
</file>

<file path=customXml/itemProps8.xml><?xml version="1.0" encoding="utf-8"?>
<ds:datastoreItem xmlns:ds="http://schemas.openxmlformats.org/officeDocument/2006/customXml" ds:itemID="{C94BB8EA-8660-48B0-88C9-6F6468D6D971}">
  <ds:schemaRefs/>
</ds:datastoreItem>
</file>

<file path=customXml/itemProps9.xml><?xml version="1.0" encoding="utf-8"?>
<ds:datastoreItem xmlns:ds="http://schemas.openxmlformats.org/officeDocument/2006/customXml" ds:itemID="{BC3085B0-9751-4C0A-ACD6-ABA2085AAC3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Template 16_9 - Navy blue-ENG</Template>
  <TotalTime>1167</TotalTime>
  <Words>341</Words>
  <Application>Microsoft Office PowerPoint</Application>
  <PresentationFormat>Custom</PresentationFormat>
  <Paragraphs>99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Verdana</vt:lpstr>
      <vt:lpstr>Blank</vt:lpstr>
      <vt:lpstr>Quantitative Methods to Assess Sustainability</vt:lpstr>
      <vt:lpstr>PowerPoint Presentation</vt:lpstr>
      <vt:lpstr>Reaching consensus</vt:lpstr>
      <vt:lpstr>Rio Declaration 1992</vt:lpstr>
      <vt:lpstr>What is at the origin of nowadays SDGs?</vt:lpstr>
      <vt:lpstr>Universal Declaration of Human Rights (1948)</vt:lpstr>
      <vt:lpstr>What is at the origin of nowadays SDGs?</vt:lpstr>
      <vt:lpstr>PowerPoint Presentation</vt:lpstr>
      <vt:lpstr>The European Green Deal</vt:lpstr>
      <vt:lpstr>Incentivise transitions to ‘sustainable’ activities &amp; investments  </vt:lpstr>
      <vt:lpstr>The EU Taxonomy: conditions</vt:lpstr>
      <vt:lpstr>From commitments to regulations</vt:lpstr>
    </vt:vector>
  </TitlesOfParts>
  <Company>TECHNICAL UNIVERSITY OF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Lusseau</dc:creator>
  <cp:lastModifiedBy>Niklas Braarud Jordal</cp:lastModifiedBy>
  <cp:revision>2</cp:revision>
  <dcterms:created xsi:type="dcterms:W3CDTF">2026-01-15T17:16:19Z</dcterms:created>
  <dcterms:modified xsi:type="dcterms:W3CDTF">2026-01-27T12:12:34Z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2019-06-10T12:55:58.1255819Z</vt:lpwstr>
  </property>
  <property fmtid="{D5CDD505-2E9C-101B-9397-08002B2CF9AE}" pid="4" name="ContentTypeId">
    <vt:lpwstr>0x0101009ADA1FD2B40FDA458284BB6FCA763489</vt:lpwstr>
  </property>
</Properties>
</file>