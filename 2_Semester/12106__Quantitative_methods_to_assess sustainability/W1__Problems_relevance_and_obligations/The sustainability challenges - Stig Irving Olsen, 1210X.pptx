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662" r:id="rId7"/>
  </p:sldMasterIdLst>
  <p:notesMasterIdLst>
    <p:notesMasterId r:id="rId24"/>
  </p:notesMasterIdLst>
  <p:handoutMasterIdLst>
    <p:handoutMasterId r:id="rId25"/>
  </p:handoutMasterIdLst>
  <p:sldIdLst>
    <p:sldId id="256" r:id="rId8"/>
    <p:sldId id="260" r:id="rId9"/>
    <p:sldId id="301" r:id="rId10"/>
    <p:sldId id="271" r:id="rId11"/>
    <p:sldId id="272" r:id="rId12"/>
    <p:sldId id="277" r:id="rId13"/>
    <p:sldId id="303" r:id="rId14"/>
    <p:sldId id="302" r:id="rId15"/>
    <p:sldId id="284" r:id="rId16"/>
    <p:sldId id="304" r:id="rId17"/>
    <p:sldId id="305" r:id="rId18"/>
    <p:sldId id="306" r:id="rId19"/>
    <p:sldId id="307" r:id="rId20"/>
    <p:sldId id="282" r:id="rId21"/>
    <p:sldId id="270" r:id="rId22"/>
    <p:sldId id="279" r:id="rId23"/>
  </p:sldIdLst>
  <p:sldSz cx="12190413" cy="6858000"/>
  <p:notesSz cx="6858000" cy="9144000"/>
  <p:embeddedFontLst>
    <p:embeddedFont>
      <p:font typeface="Tahoma" panose="020B0604030504040204" pitchFamily="34" charset="0"/>
      <p:regular r:id="rId26"/>
      <p:bold r:id="rId27"/>
    </p:embeddedFont>
    <p:embeddedFont>
      <p:font typeface="Verdana" panose="020B0604030504040204" pitchFamily="34" charset="0"/>
      <p:regular r:id="rId28"/>
      <p:bold r:id="rId29"/>
      <p:italic r:id="rId30"/>
      <p:boldItalic r:id="rId31"/>
    </p:embeddedFont>
  </p:embeddedFontLst>
  <p:custDataLst>
    <p:tags r:id="rId32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737"/>
    <a:srgbClr val="F7BCB3"/>
    <a:srgbClr val="FC7634"/>
    <a:srgbClr val="F6D04D"/>
    <a:srgbClr val="171748"/>
    <a:srgbClr val="1FD082"/>
    <a:srgbClr val="2F3EEA"/>
    <a:srgbClr val="FFFFFF"/>
    <a:srgbClr val="99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BA6F12-EF24-4432-9F43-9B474A1F89BA}" v="732" dt="2026-01-21T07:27:13.789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96" autoAdjust="0"/>
    <p:restoredTop sz="95488" autoAdjust="0"/>
  </p:normalViewPr>
  <p:slideViewPr>
    <p:cSldViewPr showGuides="1">
      <p:cViewPr varScale="1">
        <p:scale>
          <a:sx n="62" d="100"/>
          <a:sy n="62" d="100"/>
        </p:scale>
        <p:origin x="44" y="30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1.fntdata"/><Relationship Id="rId21" Type="http://schemas.openxmlformats.org/officeDocument/2006/relationships/slide" Target="slides/slide14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handoutMaster" Target="handoutMasters/handoutMaster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32" Type="http://schemas.openxmlformats.org/officeDocument/2006/relationships/tags" Target="tags/tag1.xml"/><Relationship Id="rId37" Type="http://schemas.microsoft.com/office/2015/10/relationships/revisionInfo" Target="revisionInfo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6.fntdata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07162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defTabSz="7826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defTabSz="7826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defTabSz="7826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defTabSz="7826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BCF29F2-2BE4-4BDF-882F-DD06BC84FE3C}" type="slidenum">
              <a:rPr lang="da-DK" altLang="da-DK" sz="1000" b="0" smtClean="0"/>
              <a:pPr/>
              <a:t>4</a:t>
            </a:fld>
            <a:endParaRPr lang="da-DK" altLang="da-DK" sz="1000" b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806124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826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826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826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826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B778DA7-941D-41B8-BBAF-262D456DE183}" type="slidenum">
              <a:rPr lang="da-DK" altLang="en-US" sz="1000" b="0" smtClean="0"/>
              <a:pPr/>
              <a:t>5</a:t>
            </a:fld>
            <a:endParaRPr lang="da-DK" altLang="en-US" sz="1000" b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8850" y="782638"/>
            <a:ext cx="5529263" cy="3111500"/>
          </a:xfrm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3824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defTabSz="7826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defTabSz="7826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defTabSz="7826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defTabSz="7826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5A46292-1614-4583-B67D-0004F65CFE7A}" type="slidenum">
              <a:rPr lang="da-DK" altLang="da-DK" sz="1000" b="0" smtClean="0"/>
              <a:pPr/>
              <a:t>6</a:t>
            </a:fld>
            <a:endParaRPr lang="da-DK" altLang="da-DK" sz="1000" b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9125" y="815975"/>
            <a:ext cx="5773738" cy="3249613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361875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0888" indent="-287338"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4113" indent="-230188"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7663" indent="-230188"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9625" indent="-230188" defTabSz="78263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6825" indent="-230188" defTabSz="7826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4025" indent="-230188" defTabSz="7826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1225" indent="-230188" defTabSz="7826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8425" indent="-230188" defTabSz="78263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24ABFFC-3C31-427C-8150-388C2A38B501}" type="slidenum">
              <a:rPr lang="da-DK" altLang="da-DK" sz="1000" b="0" smtClean="0"/>
              <a:pPr/>
              <a:t>16</a:t>
            </a:fld>
            <a:endParaRPr lang="da-DK" altLang="da-DK" sz="1000" b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9125" y="815975"/>
            <a:ext cx="5773738" cy="3249613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422486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rgbClr val="008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-14069"/>
            <a:ext cx="0" cy="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a-DK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noProof="0"/>
              <a:t>Click to edit Master title style</a:t>
            </a:r>
            <a:endParaRPr lang="da-DK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noProof="0" dirty="0"/>
              <a:t>Click to edit Master subtitle style</a:t>
            </a:r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noProof="0"/>
              <a:t>Click to edit Master title style</a:t>
            </a:r>
            <a:endParaRPr lang="da-DK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noProof="0"/>
              <a:t>Click to edit Master subtitle style</a:t>
            </a:r>
            <a:endParaRPr lang="da-DK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da-DK"/>
              <a:t>Click to edit Master title style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da-DK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da-DK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74602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da-DK"/>
              <a:t>Click to edit Master title style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da-DK"/>
              <a:t>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da-DK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  <a:p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da-DK"/>
              <a:t>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da-DK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  <a:p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da-DK" dirty="0"/>
              <a:t>Click to add title one line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da-DK" dirty="0"/>
              <a:t>Click to add title one line</a:t>
            </a:r>
            <a:endParaRPr lang="da-DK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  <a:p>
            <a:pPr lvl="5"/>
            <a:endParaRPr lang="da-DK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da-DK" dirty="0"/>
              <a:t>Click to add title one line</a:t>
            </a:r>
            <a:endParaRPr lang="da-DK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  <a:p>
            <a:pPr lvl="5"/>
            <a:endParaRPr lang="da-DK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Click to edit Master title style</a:t>
            </a:r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-3600"/>
            <a:ext cx="12193200" cy="686160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a-DK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a-DK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00873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a-DK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a-DK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a-DK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FEA-8F3E-4FE5-8EE6-0AE106DD437F}" type="datetime3">
              <a:rPr lang="da-DK" smtClean="0"/>
              <a:t>21.01.2026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26585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x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609521" y="274637"/>
            <a:ext cx="10971372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609521" y="1600200"/>
            <a:ext cx="10971372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marL="557213" indent="-214313" rtl="0">
              <a:defRPr/>
            </a:lvl2pPr>
            <a:lvl3pPr marL="857250" indent="-171450" rtl="0">
              <a:defRPr/>
            </a:lvl3pPr>
            <a:lvl4pPr marL="1200150" indent="-171450" rtl="0">
              <a:defRPr/>
            </a:lvl4pPr>
            <a:lvl5pPr rtl="0">
              <a:defRPr sz="1350"/>
            </a:lvl5pPr>
            <a:lvl6pPr rtl="0">
              <a:defRPr sz="1350"/>
            </a:lvl6pPr>
            <a:lvl7pPr rtl="0">
              <a:defRPr sz="1350"/>
            </a:lvl7pPr>
            <a:lvl8pPr rtl="0">
              <a:defRPr sz="1350"/>
            </a:lvl8pPr>
            <a:lvl9pPr rtl="0">
              <a:defRPr sz="135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41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5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00873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a-DK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-14776" y="6541200"/>
            <a:ext cx="12193200" cy="31680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/>
              <a:t>Click to edit Master title style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/>
              <a:t>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  <a:p>
            <a:pPr lvl="5"/>
            <a:endParaRPr lang="da-DK" dirty="0"/>
          </a:p>
        </p:txBody>
      </p:sp>
      <p:sp>
        <p:nvSpPr>
          <p:cNvPr id="113676" name="text" descr="{&quot;templafy&quot;:{&quot;id&quot;:&quot;9541a5c0-d901-45f2-925e-722feb7135f1&quot;}}" title="UserProfile.Offices.Workarea_{{DocumentLanguage}}"/>
          <p:cNvSpPr>
            <a:spLocks noChangeArrowheads="1"/>
          </p:cNvSpPr>
          <p:nvPr userDrawn="1"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da-DK" sz="700" b="1" dirty="0">
                <a:solidFill>
                  <a:schemeClr val="bg1"/>
                </a:solidFill>
                <a:latin typeface="+mn-lt"/>
              </a:rPr>
              <a:t>DTU Sustain</a:t>
            </a: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  <p:sldLayoutId id="2147483678" r:id="rId12"/>
    <p:sldLayoutId id="2147483682" r:id="rId13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3.xml"/><Relationship Id="rId1" Type="http://schemas.openxmlformats.org/officeDocument/2006/relationships/customXml" Target="../../customXml/item4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0772F9-F0FC-4258-943A-483E60A34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3EF6E-BC23-40A0-80D4-1EBE64DC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</a:t>
            </a:fld>
            <a:endParaRPr lang="da-DK" dirty="0"/>
          </a:p>
        </p:txBody>
      </p:sp>
    </p:spTree>
    <p:custDataLst>
      <p:custData r:id="rId1"/>
      <p:custData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358EA-4D5B-461F-997D-DE6729900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426" y="1700808"/>
            <a:ext cx="10840028" cy="2706458"/>
          </a:xfrm>
        </p:spPr>
        <p:txBody>
          <a:bodyPr/>
          <a:lstStyle/>
          <a:p>
            <a:r>
              <a:rPr lang="da-DK" sz="6600" dirty="0" err="1"/>
              <a:t>What</a:t>
            </a:r>
            <a:r>
              <a:rPr lang="da-DK" sz="6600" dirty="0"/>
              <a:t> is </a:t>
            </a:r>
            <a:r>
              <a:rPr lang="da-DK" sz="6600" dirty="0" err="1"/>
              <a:t>sustainability</a:t>
            </a:r>
            <a:r>
              <a:rPr lang="da-DK" sz="6600" dirty="0"/>
              <a:t>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CE6942-A17C-4247-86C6-41FACF7E9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426" y="3496538"/>
            <a:ext cx="10840028" cy="1660654"/>
          </a:xfrm>
        </p:spPr>
        <p:txBody>
          <a:bodyPr/>
          <a:lstStyle/>
          <a:p>
            <a:r>
              <a:rPr lang="da-DK" dirty="0" err="1"/>
              <a:t>Associate</a:t>
            </a:r>
            <a:r>
              <a:rPr lang="da-DK" dirty="0"/>
              <a:t> professor Stig Irving Olsen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5995EB-10E4-4119-B468-5CD7D10A093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4C8C45C-947F-4981-8B3F-4F32E973C901}" type="slidenum">
              <a:rPr lang="da-DK" smtClean="0"/>
              <a:pPr/>
              <a:t>2</a:t>
            </a:fld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FCF45C-B809-1E6F-B43F-307AEA19C9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302" y="4487908"/>
            <a:ext cx="1286317" cy="171508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95353-38C5-5101-1948-938F8CC9D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Learning </a:t>
            </a:r>
            <a:r>
              <a:rPr lang="da-DK" dirty="0" err="1"/>
              <a:t>outcomes</a:t>
            </a:r>
            <a:r>
              <a:rPr lang="da-DK" dirty="0"/>
              <a:t> of the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36148-112D-8CF1-D467-20F2ED6D0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Explain</a:t>
            </a:r>
            <a:r>
              <a:rPr lang="da-DK" dirty="0"/>
              <a:t> the definition of </a:t>
            </a:r>
            <a:r>
              <a:rPr lang="da-DK" dirty="0" err="1"/>
              <a:t>sustainability</a:t>
            </a:r>
            <a:endParaRPr lang="da-DK" dirty="0"/>
          </a:p>
          <a:p>
            <a:r>
              <a:rPr lang="da-DK" dirty="0" err="1"/>
              <a:t>Explain</a:t>
            </a:r>
            <a:r>
              <a:rPr lang="da-DK" dirty="0"/>
              <a:t> the </a:t>
            </a:r>
            <a:r>
              <a:rPr lang="da-DK" dirty="0" err="1"/>
              <a:t>three</a:t>
            </a:r>
            <a:r>
              <a:rPr lang="da-DK" dirty="0"/>
              <a:t> </a:t>
            </a:r>
            <a:r>
              <a:rPr lang="da-DK" dirty="0" err="1"/>
              <a:t>pillars</a:t>
            </a:r>
            <a:r>
              <a:rPr lang="da-DK" dirty="0"/>
              <a:t> of </a:t>
            </a:r>
            <a:r>
              <a:rPr lang="da-DK" dirty="0" err="1"/>
              <a:t>sustainability</a:t>
            </a:r>
            <a:endParaRPr lang="da-DK" dirty="0"/>
          </a:p>
          <a:p>
            <a:r>
              <a:rPr lang="da-DK" dirty="0" err="1"/>
              <a:t>Explain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our</a:t>
            </a:r>
            <a:r>
              <a:rPr lang="da-DK" dirty="0"/>
              <a:t> planet is at </a:t>
            </a:r>
            <a:r>
              <a:rPr lang="da-DK" dirty="0" err="1"/>
              <a:t>risk</a:t>
            </a:r>
            <a:r>
              <a:rPr lang="da-DK" dirty="0"/>
              <a:t> from an </a:t>
            </a:r>
            <a:r>
              <a:rPr lang="da-DK" dirty="0" err="1"/>
              <a:t>environmental</a:t>
            </a:r>
            <a:r>
              <a:rPr lang="da-DK" dirty="0"/>
              <a:t> </a:t>
            </a:r>
            <a:r>
              <a:rPr lang="da-DK" dirty="0" err="1"/>
              <a:t>perspective</a:t>
            </a:r>
            <a:r>
              <a:rPr lang="da-DK" dirty="0"/>
              <a:t> and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consequently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to </a:t>
            </a:r>
            <a:r>
              <a:rPr lang="da-DK" dirty="0" err="1"/>
              <a:t>reduce</a:t>
            </a:r>
            <a:r>
              <a:rPr lang="da-DK" dirty="0"/>
              <a:t> </a:t>
            </a:r>
            <a:r>
              <a:rPr lang="da-DK" dirty="0" err="1"/>
              <a:t>our</a:t>
            </a:r>
            <a:r>
              <a:rPr lang="da-DK" dirty="0"/>
              <a:t> </a:t>
            </a:r>
            <a:r>
              <a:rPr lang="da-DK" dirty="0" err="1"/>
              <a:t>impacts</a:t>
            </a:r>
            <a:endParaRPr lang="da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C540C0-7D11-73C1-DF9F-CF1E32BB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BE1623-23A0-8BCC-A8A9-6398BDD3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85011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>
          <a:xfrm>
            <a:off x="1757521" y="274320"/>
            <a:ext cx="7232333" cy="754380"/>
          </a:xfrm>
        </p:spPr>
        <p:txBody>
          <a:bodyPr/>
          <a:lstStyle/>
          <a:p>
            <a:r>
              <a:rPr lang="en-GB" altLang="da-DK" sz="3240" dirty="0"/>
              <a:t>What is sustainability?</a:t>
            </a:r>
          </a:p>
        </p:txBody>
      </p:sp>
      <p:pic>
        <p:nvPicPr>
          <p:cNvPr id="123908" name="Picture 4" descr="earth-from-space-wester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950" y="1131569"/>
            <a:ext cx="4992053" cy="4992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4812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0631" y="1088708"/>
            <a:ext cx="10009112" cy="5137785"/>
          </a:xfrm>
        </p:spPr>
        <p:txBody>
          <a:bodyPr/>
          <a:lstStyle/>
          <a:p>
            <a:pPr>
              <a:buFontTx/>
              <a:buNone/>
            </a:pPr>
            <a:endParaRPr lang="en-US" sz="2880" dirty="0"/>
          </a:p>
          <a:p>
            <a:pPr>
              <a:buFontTx/>
              <a:buNone/>
            </a:pPr>
            <a:endParaRPr lang="en-US" sz="2880" dirty="0"/>
          </a:p>
          <a:p>
            <a:pPr>
              <a:buFontTx/>
              <a:buNone/>
            </a:pPr>
            <a:r>
              <a:rPr lang="en-US" sz="2880" dirty="0"/>
              <a:t>World Commission on Environment and Development’s  report from 1987 'Our common future’ (also known a the Brundtland report) defined sustainable development a:</a:t>
            </a:r>
          </a:p>
          <a:p>
            <a:pPr>
              <a:buFontTx/>
              <a:buNone/>
            </a:pPr>
            <a:endParaRPr lang="en-US" sz="2880" dirty="0"/>
          </a:p>
          <a:p>
            <a:pPr>
              <a:buFontTx/>
              <a:buNone/>
            </a:pPr>
            <a:r>
              <a:rPr lang="en-US" sz="2880" dirty="0"/>
              <a:t> </a:t>
            </a:r>
            <a:r>
              <a:rPr lang="en-US" sz="2880" i="1" dirty="0"/>
              <a:t>‘Development that meets the needs of the present without compromising the ability of future generations to meet their own needs</a:t>
            </a:r>
            <a:r>
              <a:rPr lang="en-US" sz="2880" dirty="0"/>
              <a:t>'</a:t>
            </a:r>
            <a:endParaRPr lang="en-GB" altLang="en-US" sz="2880" dirty="0"/>
          </a:p>
          <a:p>
            <a:pPr>
              <a:buFontTx/>
              <a:buNone/>
            </a:pPr>
            <a:endParaRPr lang="en-GB" altLang="en-US" sz="1260" dirty="0"/>
          </a:p>
        </p:txBody>
      </p:sp>
      <p:sp>
        <p:nvSpPr>
          <p:cNvPr id="8195" name="Rectangle 4"/>
          <p:cNvSpPr>
            <a:spLocks noGrp="1" noChangeArrowheads="1"/>
          </p:cNvSpPr>
          <p:nvPr>
            <p:ph type="title"/>
          </p:nvPr>
        </p:nvSpPr>
        <p:spPr>
          <a:xfrm>
            <a:off x="1416159" y="296044"/>
            <a:ext cx="9312374" cy="972716"/>
          </a:xfrm>
        </p:spPr>
        <p:txBody>
          <a:bodyPr anchor="t"/>
          <a:lstStyle/>
          <a:p>
            <a:r>
              <a:rPr lang="en-GB" altLang="en-US" sz="3240" dirty="0"/>
              <a:t>Brundtland commission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6956" y="6325077"/>
            <a:ext cx="1019831" cy="1754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da-DK" sz="540" dirty="0">
                <a:latin typeface="+mj-lt"/>
              </a:rPr>
              <a:t>www.simplypsychology.org</a:t>
            </a:r>
          </a:p>
        </p:txBody>
      </p:sp>
    </p:spTree>
    <p:extLst>
      <p:ext uri="{BB962C8B-B14F-4D97-AF65-F5344CB8AC3E}">
        <p14:creationId xmlns:p14="http://schemas.microsoft.com/office/powerpoint/2010/main" val="429509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4613E070-7886-BD82-1EC0-926E36600E5B}"/>
              </a:ext>
            </a:extLst>
          </p:cNvPr>
          <p:cNvSpPr/>
          <p:nvPr/>
        </p:nvSpPr>
        <p:spPr bwMode="auto">
          <a:xfrm>
            <a:off x="982638" y="836712"/>
            <a:ext cx="4440555" cy="4104456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0" i="0" u="none" strike="noStrike" cap="none" normalizeH="0" baseline="0" dirty="0" err="1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Earth’s</a:t>
            </a:r>
            <a:r>
              <a:rPr kumimoji="0" lang="da-DK" sz="14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</a:t>
            </a:r>
            <a:r>
              <a:rPr kumimoji="0" lang="da-DK" sz="1400" b="0" i="0" u="none" strike="noStrike" cap="none" normalizeH="0" baseline="0" dirty="0" err="1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life</a:t>
            </a:r>
            <a:r>
              <a:rPr kumimoji="0" lang="da-DK" sz="14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support system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44905" y="836712"/>
            <a:ext cx="7549515" cy="5137785"/>
          </a:xfrm>
        </p:spPr>
        <p:txBody>
          <a:bodyPr/>
          <a:lstStyle/>
          <a:p>
            <a:pPr>
              <a:buFontTx/>
              <a:buNone/>
            </a:pPr>
            <a:r>
              <a:rPr lang="en-GB" altLang="da-DK" sz="2520" dirty="0"/>
              <a:t>Three dimensions of sustainability</a:t>
            </a:r>
          </a:p>
          <a:p>
            <a:pPr>
              <a:buFontTx/>
              <a:buNone/>
            </a:pPr>
            <a:endParaRPr lang="en-GB" altLang="da-DK" sz="2880" dirty="0"/>
          </a:p>
          <a:p>
            <a:pPr>
              <a:buFontTx/>
              <a:buNone/>
            </a:pPr>
            <a:endParaRPr lang="en-GB" altLang="da-DK" sz="2880" dirty="0"/>
          </a:p>
          <a:p>
            <a:pPr>
              <a:buFontTx/>
              <a:buNone/>
            </a:pPr>
            <a:r>
              <a:rPr lang="en-GB" altLang="da-DK" sz="2520" dirty="0"/>
              <a:t>All three need to be fulfilled to achieve</a:t>
            </a:r>
          </a:p>
          <a:p>
            <a:pPr>
              <a:buFontTx/>
              <a:buNone/>
            </a:pPr>
            <a:r>
              <a:rPr lang="en-GB" altLang="da-DK" sz="2520" dirty="0"/>
              <a:t> sustainability</a:t>
            </a:r>
          </a:p>
          <a:p>
            <a:pPr>
              <a:buFontTx/>
              <a:buNone/>
            </a:pPr>
            <a:endParaRPr lang="en-GB" altLang="da-DK" sz="2880" dirty="0"/>
          </a:p>
        </p:txBody>
      </p:sp>
      <p:sp>
        <p:nvSpPr>
          <p:cNvPr id="18435" name="Rectangle 4"/>
          <p:cNvSpPr>
            <a:spLocks noGrp="1" noChangeArrowheads="1"/>
          </p:cNvSpPr>
          <p:nvPr>
            <p:ph type="title"/>
          </p:nvPr>
        </p:nvSpPr>
        <p:spPr>
          <a:xfrm>
            <a:off x="1596182" y="145149"/>
            <a:ext cx="9312374" cy="972716"/>
          </a:xfrm>
        </p:spPr>
        <p:txBody>
          <a:bodyPr anchor="t"/>
          <a:lstStyle/>
          <a:p>
            <a:r>
              <a:rPr lang="en-GB" altLang="da-DK" sz="3240" i="1" dirty="0"/>
              <a:t>Sustainability 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A97D207-21AC-44A5-3639-34A6A1094E72}"/>
              </a:ext>
            </a:extLst>
          </p:cNvPr>
          <p:cNvSpPr/>
          <p:nvPr/>
        </p:nvSpPr>
        <p:spPr bwMode="auto">
          <a:xfrm>
            <a:off x="1174721" y="1772816"/>
            <a:ext cx="2952328" cy="288032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Human </a:t>
            </a:r>
            <a:r>
              <a:rPr kumimoji="0" lang="da-DK" sz="1400" b="0" i="0" u="none" strike="noStrike" cap="none" normalizeH="0" baseline="0" dirty="0" err="1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societies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36984D2-2CD5-46F0-7E39-B69BADE7BBE8}"/>
              </a:ext>
            </a:extLst>
          </p:cNvPr>
          <p:cNvSpPr/>
          <p:nvPr/>
        </p:nvSpPr>
        <p:spPr bwMode="auto">
          <a:xfrm>
            <a:off x="1496433" y="2924944"/>
            <a:ext cx="1550496" cy="144016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0" i="0" u="none" strike="noStrike" cap="none" normalizeH="0" baseline="0" dirty="0" err="1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Economies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+mn-lt"/>
              <a:ea typeface="ＭＳ Ｐゴシック" pitchFamily="-80" charset="-128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C132DF7-47F0-876C-9F25-398E6A45D7A9}"/>
              </a:ext>
            </a:extLst>
          </p:cNvPr>
          <p:cNvGrpSpPr>
            <a:grpSpLocks noChangeAspect="1"/>
          </p:cNvGrpSpPr>
          <p:nvPr/>
        </p:nvGrpSpPr>
        <p:grpSpPr>
          <a:xfrm>
            <a:off x="7031310" y="2847115"/>
            <a:ext cx="4089255" cy="3612041"/>
            <a:chOff x="3560523" y="1151083"/>
            <a:chExt cx="5105433" cy="45096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B19C5BE-9FD4-8798-C0B8-C0B5578F07CC}"/>
                </a:ext>
              </a:extLst>
            </p:cNvPr>
            <p:cNvSpPr/>
            <p:nvPr/>
          </p:nvSpPr>
          <p:spPr bwMode="auto">
            <a:xfrm>
              <a:off x="4595868" y="1151083"/>
              <a:ext cx="2879625" cy="2879625"/>
            </a:xfrm>
            <a:prstGeom prst="ellipse">
              <a:avLst/>
            </a:prstGeom>
            <a:solidFill>
              <a:schemeClr val="accent1">
                <a:alpha val="7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09">
                <a:spcBef>
                  <a:spcPts val="432"/>
                </a:spcBef>
              </a:pPr>
              <a:r>
                <a:rPr lang="en-US" sz="1800" cap="small">
                  <a:solidFill>
                    <a:srgbClr val="FFFFFF"/>
                  </a:solidFill>
                  <a:latin typeface="+mn-lt"/>
                </a:rPr>
                <a:t>Society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68741B7-D361-5CAD-0112-6EF2FC35E271}"/>
                </a:ext>
              </a:extLst>
            </p:cNvPr>
            <p:cNvSpPr/>
            <p:nvPr/>
          </p:nvSpPr>
          <p:spPr bwMode="auto">
            <a:xfrm>
              <a:off x="5786331" y="2781090"/>
              <a:ext cx="2879625" cy="2879625"/>
            </a:xfrm>
            <a:prstGeom prst="ellipse">
              <a:avLst/>
            </a:prstGeom>
            <a:solidFill>
              <a:schemeClr val="accent3">
                <a:lumMod val="50000"/>
                <a:alpha val="75000"/>
              </a:schemeClr>
            </a:solidFill>
            <a:ln w="9525" cap="flat" cmpd="sng" algn="ctr">
              <a:solidFill>
                <a:schemeClr val="accent3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algn="r" defTabSz="914309">
                <a:spcBef>
                  <a:spcPts val="432"/>
                </a:spcBef>
              </a:pPr>
              <a:r>
                <a:rPr lang="en-US" sz="1800" cap="small">
                  <a:solidFill>
                    <a:srgbClr val="FFFFFF"/>
                  </a:solidFill>
                  <a:latin typeface="+mn-lt"/>
                </a:rPr>
                <a:t>Environment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56A713D-0F27-C216-979C-E42E55F95134}"/>
                </a:ext>
              </a:extLst>
            </p:cNvPr>
            <p:cNvSpPr/>
            <p:nvPr/>
          </p:nvSpPr>
          <p:spPr bwMode="auto">
            <a:xfrm>
              <a:off x="3575752" y="2781090"/>
              <a:ext cx="2879625" cy="2879625"/>
            </a:xfrm>
            <a:prstGeom prst="ellipse">
              <a:avLst/>
            </a:prstGeom>
            <a:solidFill>
              <a:schemeClr val="accent2">
                <a:lumMod val="50000"/>
                <a:alpha val="75000"/>
              </a:schemeClr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defTabSz="914309">
                <a:spcBef>
                  <a:spcPts val="432"/>
                </a:spcBef>
              </a:pPr>
              <a:r>
                <a:rPr lang="en-US" sz="1800" cap="small">
                  <a:solidFill>
                    <a:srgbClr val="FFFFFF"/>
                  </a:solidFill>
                  <a:latin typeface="+mn-lt"/>
                </a:rPr>
                <a:t>Economy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EBE44C3-D231-60A8-2083-F8840F641AD0}"/>
                </a:ext>
              </a:extLst>
            </p:cNvPr>
            <p:cNvSpPr/>
            <p:nvPr/>
          </p:nvSpPr>
          <p:spPr bwMode="auto">
            <a:xfrm>
              <a:off x="4580639" y="1151083"/>
              <a:ext cx="2879625" cy="2879625"/>
            </a:xfrm>
            <a:prstGeom prst="ellipse">
              <a:avLst/>
            </a:prstGeom>
            <a:solidFill>
              <a:schemeClr val="accent1">
                <a:alpha val="7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09">
                <a:spcBef>
                  <a:spcPts val="432"/>
                </a:spcBef>
              </a:pPr>
              <a:r>
                <a:rPr lang="en-US" sz="1800" cap="small">
                  <a:solidFill>
                    <a:srgbClr val="FFFFFF"/>
                  </a:solidFill>
                  <a:latin typeface="+mn-lt"/>
                </a:rPr>
                <a:t>Society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CFB597A-2367-76B1-16C2-4999E360F789}"/>
                </a:ext>
              </a:extLst>
            </p:cNvPr>
            <p:cNvSpPr/>
            <p:nvPr/>
          </p:nvSpPr>
          <p:spPr bwMode="auto">
            <a:xfrm>
              <a:off x="5771102" y="2781090"/>
              <a:ext cx="2879625" cy="2879625"/>
            </a:xfrm>
            <a:prstGeom prst="ellipse">
              <a:avLst/>
            </a:prstGeom>
            <a:solidFill>
              <a:schemeClr val="accent3">
                <a:lumMod val="50000"/>
                <a:alpha val="75000"/>
              </a:schemeClr>
            </a:solidFill>
            <a:ln w="9525" cap="flat" cmpd="sng" algn="ctr">
              <a:solidFill>
                <a:schemeClr val="accent3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algn="r" defTabSz="914309">
                <a:spcBef>
                  <a:spcPts val="432"/>
                </a:spcBef>
              </a:pPr>
              <a:r>
                <a:rPr lang="en-US" sz="1800" cap="small" dirty="0">
                  <a:solidFill>
                    <a:srgbClr val="FFFFFF"/>
                  </a:solidFill>
                  <a:latin typeface="+mn-lt"/>
                </a:rPr>
                <a:t>Environment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9B8BA30-EE99-D377-913A-0F0F722AEF83}"/>
                </a:ext>
              </a:extLst>
            </p:cNvPr>
            <p:cNvSpPr/>
            <p:nvPr/>
          </p:nvSpPr>
          <p:spPr bwMode="auto">
            <a:xfrm>
              <a:off x="3560523" y="2781090"/>
              <a:ext cx="2879626" cy="2879625"/>
            </a:xfrm>
            <a:prstGeom prst="ellipse">
              <a:avLst/>
            </a:prstGeom>
            <a:solidFill>
              <a:schemeClr val="accent2">
                <a:lumMod val="50000"/>
                <a:alpha val="75000"/>
              </a:schemeClr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defTabSz="914309">
                <a:spcBef>
                  <a:spcPts val="432"/>
                </a:spcBef>
              </a:pPr>
              <a:r>
                <a:rPr lang="en-US" sz="1800" cap="small" dirty="0">
                  <a:solidFill>
                    <a:srgbClr val="FFFFFF"/>
                  </a:solidFill>
                  <a:latin typeface="+mn-lt"/>
                </a:rPr>
                <a:t>Economy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5A41C7-724F-8FCF-ACE9-CAF4FF9448E2}"/>
                </a:ext>
              </a:extLst>
            </p:cNvPr>
            <p:cNvSpPr txBox="1"/>
            <p:nvPr/>
          </p:nvSpPr>
          <p:spPr>
            <a:xfrm>
              <a:off x="4636050" y="3173578"/>
              <a:ext cx="1302156" cy="2689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sz="1400" i="1">
                  <a:solidFill>
                    <a:schemeClr val="bg1"/>
                  </a:solidFill>
                  <a:latin typeface="+mn-lt"/>
                </a:rPr>
                <a:t>equitable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B991695-FE91-AD78-85FE-FE6F28A44E30}"/>
                </a:ext>
              </a:extLst>
            </p:cNvPr>
            <p:cNvSpPr txBox="1"/>
            <p:nvPr/>
          </p:nvSpPr>
          <p:spPr>
            <a:xfrm>
              <a:off x="6158107" y="3173576"/>
              <a:ext cx="1302156" cy="2689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sz="1400" i="1">
                  <a:solidFill>
                    <a:schemeClr val="bg1"/>
                  </a:solidFill>
                  <a:latin typeface="+mn-lt"/>
                </a:rPr>
                <a:t>bearable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418DC0-A1D1-D44E-DBE2-AA38DFDC6B12}"/>
                </a:ext>
              </a:extLst>
            </p:cNvPr>
            <p:cNvSpPr txBox="1"/>
            <p:nvPr/>
          </p:nvSpPr>
          <p:spPr>
            <a:xfrm>
              <a:off x="5470091" y="4307771"/>
              <a:ext cx="1302156" cy="2689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sz="1400" i="1" dirty="0">
                  <a:solidFill>
                    <a:schemeClr val="bg1"/>
                  </a:solidFill>
                  <a:latin typeface="+mn-lt"/>
                </a:rPr>
                <a:t>viable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EB37A80-8AFB-52B5-A29F-8898E3486B48}"/>
                </a:ext>
              </a:extLst>
            </p:cNvPr>
            <p:cNvSpPr txBox="1"/>
            <p:nvPr/>
          </p:nvSpPr>
          <p:spPr>
            <a:xfrm>
              <a:off x="5439004" y="3716707"/>
              <a:ext cx="1302156" cy="2113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sz="1100" i="1">
                  <a:solidFill>
                    <a:schemeClr val="bg1"/>
                  </a:solidFill>
                  <a:latin typeface="+mn-lt"/>
                </a:rPr>
                <a:t>sustainable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3704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9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groendyst.dtu.dk/-/media/Subsites/Groen_Dyst/Bannere/E_2016_SDG_Poster_all_sizes_without_UN_emblem_Letter/E_2016_SDG_Poster_all_sizes_without_UN_emblem_Letter/PeoplePlanetProfit2.ashx?h=494&amp;w=648&amp;la=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43" y="1265097"/>
            <a:ext cx="5807099" cy="442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1630710" y="404664"/>
            <a:ext cx="27638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United Nations SDGs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297681" y="1928405"/>
            <a:ext cx="963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Economy</a:t>
            </a:r>
            <a:endParaRPr lang="da-DK" sz="12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949344" y="2726549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Social</a:t>
            </a:r>
            <a:endParaRPr lang="da-DK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824553" y="3654011"/>
            <a:ext cx="1444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Environmental</a:t>
            </a:r>
            <a:endParaRPr lang="da-DK" sz="12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763737" y="1214321"/>
            <a:ext cx="11352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Leadership</a:t>
            </a:r>
            <a:endParaRPr lang="da-DK" sz="1200" b="1" dirty="0"/>
          </a:p>
        </p:txBody>
      </p:sp>
      <p:sp>
        <p:nvSpPr>
          <p:cNvPr id="22" name="Up-Down Arrow 21"/>
          <p:cNvSpPr/>
          <p:nvPr/>
        </p:nvSpPr>
        <p:spPr>
          <a:xfrm>
            <a:off x="6126821" y="1856767"/>
            <a:ext cx="109436" cy="59095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200"/>
          </a:p>
        </p:txBody>
      </p:sp>
      <p:sp>
        <p:nvSpPr>
          <p:cNvPr id="3" name="TextBox 2"/>
          <p:cNvSpPr txBox="1"/>
          <p:nvPr/>
        </p:nvSpPr>
        <p:spPr>
          <a:xfrm>
            <a:off x="4363558" y="1942121"/>
            <a:ext cx="1947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 err="1"/>
              <a:t>Prosperity</a:t>
            </a:r>
            <a:r>
              <a:rPr lang="da-DK" sz="1200" b="1" dirty="0"/>
              <a:t> &amp;</a:t>
            </a:r>
          </a:p>
        </p:txBody>
      </p:sp>
    </p:spTree>
    <p:extLst>
      <p:ext uri="{BB962C8B-B14F-4D97-AF65-F5344CB8AC3E}">
        <p14:creationId xmlns:p14="http://schemas.microsoft.com/office/powerpoint/2010/main" val="940829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F12FF-31D2-017B-DD21-0386F28A5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Progress </a:t>
            </a:r>
            <a:r>
              <a:rPr lang="da-DK" dirty="0" err="1"/>
              <a:t>towards</a:t>
            </a:r>
            <a:r>
              <a:rPr lang="da-DK" dirty="0"/>
              <a:t> the </a:t>
            </a:r>
            <a:r>
              <a:rPr lang="da-DK" dirty="0" err="1"/>
              <a:t>SDGs</a:t>
            </a:r>
            <a:endParaRPr lang="da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08B10-CE08-5A22-A4AD-B913B38F9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68C16B-D7D5-250F-DAC1-9285B752D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8</a:t>
            </a:fld>
            <a:endParaRPr lang="da-DK" dirty="0"/>
          </a:p>
        </p:txBody>
      </p:sp>
      <p:sp>
        <p:nvSpPr>
          <p:cNvPr id="6" name="AutoShape 2" descr="Figure 2.1 | World SDG Dashboard 2025">
            <a:extLst>
              <a:ext uri="{FF2B5EF4-FFF2-40B4-BE49-F238E27FC236}">
                <a16:creationId xmlns:a16="http://schemas.microsoft.com/office/drawing/2014/main" id="{9872CEEE-7CAB-FEA9-6E90-2A6DF11D56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1070" y="3276599"/>
            <a:ext cx="1375743" cy="1375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sp>
        <p:nvSpPr>
          <p:cNvPr id="8" name="AutoShape 6" descr="Figure 2.1 | World SDG Dashboard 2025">
            <a:extLst>
              <a:ext uri="{FF2B5EF4-FFF2-40B4-BE49-F238E27FC236}">
                <a16:creationId xmlns:a16="http://schemas.microsoft.com/office/drawing/2014/main" id="{D7FB673C-9043-4766-3B8F-F2EA0EC39D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52D106B-A6E7-1B48-0E99-ACACDB6A9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4926" y="1556792"/>
            <a:ext cx="8471173" cy="36714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EC1746-3D82-FD1E-F9CF-C2A12979A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6" y="3964470"/>
            <a:ext cx="3368599" cy="20957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A26908B-D569-8E85-2E02-5C1BA376DAC7}"/>
              </a:ext>
            </a:extLst>
          </p:cNvPr>
          <p:cNvSpPr txBox="1"/>
          <p:nvPr/>
        </p:nvSpPr>
        <p:spPr>
          <a:xfrm>
            <a:off x="8111430" y="5949280"/>
            <a:ext cx="35283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da-DK" i="1" dirty="0">
                <a:latin typeface="+mn-lt"/>
              </a:rPr>
              <a:t>https://unstats.un.org/sdgs/report/2025</a:t>
            </a:r>
          </a:p>
        </p:txBody>
      </p:sp>
    </p:spTree>
    <p:extLst>
      <p:ext uri="{BB962C8B-B14F-4D97-AF65-F5344CB8AC3E}">
        <p14:creationId xmlns:p14="http://schemas.microsoft.com/office/powerpoint/2010/main" val="145176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486694" y="260648"/>
            <a:ext cx="9312374" cy="972716"/>
          </a:xfrm>
        </p:spPr>
        <p:txBody>
          <a:bodyPr anchor="t"/>
          <a:lstStyle/>
          <a:p>
            <a:r>
              <a:rPr lang="da-DK" dirty="0" err="1"/>
              <a:t>Planetary</a:t>
            </a:r>
            <a:r>
              <a:rPr lang="da-DK" dirty="0"/>
              <a:t> </a:t>
            </a:r>
            <a:r>
              <a:rPr lang="da-DK" dirty="0" err="1"/>
              <a:t>boundaries</a:t>
            </a:r>
            <a:endParaRPr lang="da-DK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9</a:t>
            </a:fld>
            <a:endParaRPr lang="da-D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3E28CD-87EC-1509-931C-0A76E38E7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790" y="1484784"/>
            <a:ext cx="4889667" cy="41786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2F0B82-4B25-4709-C56F-07EAC06BA8CB}"/>
              </a:ext>
            </a:extLst>
          </p:cNvPr>
          <p:cNvSpPr txBox="1"/>
          <p:nvPr/>
        </p:nvSpPr>
        <p:spPr>
          <a:xfrm>
            <a:off x="7400604" y="5097805"/>
            <a:ext cx="316404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fr-FR" sz="1200" i="1" dirty="0"/>
              <a:t>Richardson et al., </a:t>
            </a:r>
            <a:r>
              <a:rPr lang="fr-FR" sz="1200" i="1" dirty="0" err="1"/>
              <a:t>Sci</a:t>
            </a:r>
            <a:r>
              <a:rPr lang="fr-FR" sz="1200" i="1" dirty="0"/>
              <a:t>. Adv. </a:t>
            </a:r>
            <a:r>
              <a:rPr lang="fr-FR" sz="1200" b="1" i="1" dirty="0"/>
              <a:t>9</a:t>
            </a:r>
            <a:r>
              <a:rPr lang="fr-FR" sz="1200" i="1" dirty="0"/>
              <a:t>, eadh2458 (2023)</a:t>
            </a:r>
            <a:endParaRPr lang="da-DK" sz="1200" i="1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3631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7B037-46D0-8C16-8DB2-D6AF25F764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54D65-2287-61B4-AA06-326D5F4469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10</a:t>
            </a:fld>
            <a:endParaRPr lang="da-DK" dirty="0"/>
          </a:p>
        </p:txBody>
      </p:sp>
      <p:pic>
        <p:nvPicPr>
          <p:cNvPr id="3074" name="Picture 2" descr="We Must Change Faster Than the Climate - Sigma Earth">
            <a:extLst>
              <a:ext uri="{FF2B5EF4-FFF2-40B4-BE49-F238E27FC236}">
                <a16:creationId xmlns:a16="http://schemas.microsoft.com/office/drawing/2014/main" id="{CA4430BD-BE3C-7709-374B-72374BA51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051" y="312760"/>
            <a:ext cx="9312375" cy="620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571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5329E2-F42C-DC58-2D78-79BF663B9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da-DK" dirty="0"/>
              <a:t>Pollution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3324D8-C7E6-BEED-E34B-12836616BA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ED50E-5E42-B5FA-7F02-5229C4EAA5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11</a:t>
            </a:fld>
            <a:endParaRPr lang="da-DK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CC0AAE1-A247-FFF4-AEF5-EEC757753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97" y="981157"/>
            <a:ext cx="7307511" cy="548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998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062F-08D4-0888-D3D3-929055761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da-DK" dirty="0"/>
              <a:t>PCB in </a:t>
            </a:r>
            <a:r>
              <a:rPr lang="da-DK" dirty="0" err="1"/>
              <a:t>arctic</a:t>
            </a:r>
            <a:r>
              <a:rPr lang="da-DK" dirty="0"/>
              <a:t> </a:t>
            </a:r>
            <a:r>
              <a:rPr lang="da-DK" dirty="0" err="1"/>
              <a:t>animals</a:t>
            </a:r>
            <a:endParaRPr lang="da-DK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BB169-4AC7-6CEB-8B27-D4A420FDF4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596CF-C9C2-D693-F5A1-41405B70FA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12</a:t>
            </a:fld>
            <a:endParaRPr lang="da-DK" dirty="0"/>
          </a:p>
        </p:txBody>
      </p:sp>
      <p:sp>
        <p:nvSpPr>
          <p:cNvPr id="5" name="Rectangle 56">
            <a:extLst>
              <a:ext uri="{FF2B5EF4-FFF2-40B4-BE49-F238E27FC236}">
                <a16:creationId xmlns:a16="http://schemas.microsoft.com/office/drawing/2014/main" id="{3343EF15-11D4-1274-A360-36228B8A4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1656" y="3565525"/>
            <a:ext cx="1316038" cy="23225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a-DK" altLang="da-DK" sz="180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75562692-EC75-0442-6FDE-19614FC67172}"/>
              </a:ext>
            </a:extLst>
          </p:cNvPr>
          <p:cNvGrpSpPr>
            <a:grpSpLocks/>
          </p:cNvGrpSpPr>
          <p:nvPr/>
        </p:nvGrpSpPr>
        <p:grpSpPr bwMode="auto">
          <a:xfrm>
            <a:off x="3083594" y="1905000"/>
            <a:ext cx="7215187" cy="2819400"/>
            <a:chOff x="975" y="1200"/>
            <a:chExt cx="4545" cy="1776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F9037FFF-8B46-6385-2B1C-136D8BA468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7" y="1303"/>
              <a:ext cx="698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a-DK"/>
            </a:p>
          </p:txBody>
        </p: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FA49CD-22FF-06BD-F809-042150395F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" y="1200"/>
              <a:ext cx="4545" cy="1776"/>
              <a:chOff x="975" y="1200"/>
              <a:chExt cx="4545" cy="1776"/>
            </a:xfrm>
          </p:grpSpPr>
          <p:sp>
            <p:nvSpPr>
              <p:cNvPr id="9" name="Line 6">
                <a:extLst>
                  <a:ext uri="{FF2B5EF4-FFF2-40B4-BE49-F238E27FC236}">
                    <a16:creationId xmlns:a16="http://schemas.microsoft.com/office/drawing/2014/main" id="{A054B67B-43EB-09F0-AB33-1D54857B8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5" y="1479"/>
                <a:ext cx="18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" name="Line 7">
                <a:extLst>
                  <a:ext uri="{FF2B5EF4-FFF2-40B4-BE49-F238E27FC236}">
                    <a16:creationId xmlns:a16="http://schemas.microsoft.com/office/drawing/2014/main" id="{4E8A680F-8C28-8376-F429-EC9E67CDFF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5" y="1832"/>
                <a:ext cx="18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" name="Line 8">
                <a:extLst>
                  <a:ext uri="{FF2B5EF4-FFF2-40B4-BE49-F238E27FC236}">
                    <a16:creationId xmlns:a16="http://schemas.microsoft.com/office/drawing/2014/main" id="{9EA5485D-7CC3-D81D-0E30-4475F30362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5" y="1891"/>
                <a:ext cx="18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2" name="Line 9">
                <a:extLst>
                  <a:ext uri="{FF2B5EF4-FFF2-40B4-BE49-F238E27FC236}">
                    <a16:creationId xmlns:a16="http://schemas.microsoft.com/office/drawing/2014/main" id="{70AA6FAA-E2C1-C920-98E1-E381651C5C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5" y="2479"/>
                <a:ext cx="18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3" name="Line 10">
                <a:extLst>
                  <a:ext uri="{FF2B5EF4-FFF2-40B4-BE49-F238E27FC236}">
                    <a16:creationId xmlns:a16="http://schemas.microsoft.com/office/drawing/2014/main" id="{25BF724D-B3BB-412D-B99E-F9EC9EAFF2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5" y="2655"/>
                <a:ext cx="17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4" name="Text Box 11">
                <a:extLst>
                  <a:ext uri="{FF2B5EF4-FFF2-40B4-BE49-F238E27FC236}">
                    <a16:creationId xmlns:a16="http://schemas.microsoft.com/office/drawing/2014/main" id="{E6A5412E-7DD1-ABAB-2743-9F8FF4E6AA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4" y="1200"/>
                <a:ext cx="2016" cy="17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38" tIns="45719" rIns="91438" bIns="45719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da-DK" altLang="da-DK" sz="1400" b="1">
                    <a:latin typeface="Tahoma" panose="020B0604030504040204" pitchFamily="34" charset="0"/>
                  </a:rPr>
                  <a:t>EC</a:t>
                </a:r>
                <a:r>
                  <a:rPr lang="da-DK" altLang="da-DK" sz="1400" b="1" baseline="-25000">
                    <a:latin typeface="Tahoma" panose="020B0604030504040204" pitchFamily="34" charset="0"/>
                  </a:rPr>
                  <a:t>50</a:t>
                </a:r>
                <a:r>
                  <a:rPr lang="da-DK" altLang="da-DK" sz="1400" b="1">
                    <a:latin typeface="Tahoma" panose="020B0604030504040204" pitchFamily="34" charset="0"/>
                  </a:rPr>
                  <a:t>       Mink (50% survival)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a-DK" altLang="da-DK" sz="1800" b="1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da-DK" altLang="da-DK" sz="1400" b="1">
                    <a:latin typeface="Tahoma" panose="020B0604030504040204" pitchFamily="34" charset="0"/>
                  </a:rPr>
                  <a:t>25.000  Seal (reduced reproduc.)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a-DK" altLang="da-DK" sz="1400" b="1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da-DK" altLang="da-DK" sz="1400" b="1">
                    <a:latin typeface="Tahoma" panose="020B0604030504040204" pitchFamily="34" charset="0"/>
                  </a:rPr>
                  <a:t>21.000  Rhesus monkey (LOAEL 	for immunity)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a-DK" altLang="da-DK" sz="1400" b="1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da-DK" altLang="da-DK" sz="1400" b="1">
                    <a:latin typeface="Tahoma" panose="020B0604030504040204" pitchFamily="34" charset="0"/>
                  </a:rPr>
                  <a:t>1000     Man (NOAEL, brainfunct.)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da-DK" altLang="da-DK" sz="1800" b="1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da-DK" altLang="da-DK" sz="1400" b="1">
                    <a:latin typeface="Tahoma" panose="020B0604030504040204" pitchFamily="34" charset="0"/>
                  </a:rPr>
                  <a:t>500       Man (LOAEL, memory)</a:t>
                </a:r>
                <a:endParaRPr lang="da-DK" altLang="da-DK" sz="1400" b="1" baseline="-25000">
                  <a:latin typeface="Tahoma" panose="020B0604030504040204" pitchFamily="34" charset="0"/>
                </a:endParaRPr>
              </a:p>
            </p:txBody>
          </p:sp>
          <p:sp>
            <p:nvSpPr>
              <p:cNvPr id="15" name="Line 12">
                <a:extLst>
                  <a:ext uri="{FF2B5EF4-FFF2-40B4-BE49-F238E27FC236}">
                    <a16:creationId xmlns:a16="http://schemas.microsoft.com/office/drawing/2014/main" id="{DBCF8332-011A-1EBF-9BFF-24DA4341E1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77" y="1656"/>
                <a:ext cx="698" cy="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6" name="Line 13">
                <a:extLst>
                  <a:ext uri="{FF2B5EF4-FFF2-40B4-BE49-F238E27FC236}">
                    <a16:creationId xmlns:a16="http://schemas.microsoft.com/office/drawing/2014/main" id="{7F2B6FA2-9646-E792-102E-1941ED02B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7" y="1891"/>
                <a:ext cx="698" cy="1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7" name="Line 14">
                <a:extLst>
                  <a:ext uri="{FF2B5EF4-FFF2-40B4-BE49-F238E27FC236}">
                    <a16:creationId xmlns:a16="http://schemas.microsoft.com/office/drawing/2014/main" id="{BE828E24-11A6-BB5F-F921-5C24255E1F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77" y="2361"/>
                <a:ext cx="698" cy="1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8" name="Line 15">
                <a:extLst>
                  <a:ext uri="{FF2B5EF4-FFF2-40B4-BE49-F238E27FC236}">
                    <a16:creationId xmlns:a16="http://schemas.microsoft.com/office/drawing/2014/main" id="{EF06EF55-3DC8-EF09-0623-0A22C856F2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9" y="2655"/>
                <a:ext cx="756" cy="5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</p:grpSp>
      </p:grpSp>
      <p:grpSp>
        <p:nvGrpSpPr>
          <p:cNvPr id="19" name="Group 16">
            <a:extLst>
              <a:ext uri="{FF2B5EF4-FFF2-40B4-BE49-F238E27FC236}">
                <a16:creationId xmlns:a16="http://schemas.microsoft.com/office/drawing/2014/main" id="{41BAED62-83EC-AED2-60B7-E84352B09C5B}"/>
              </a:ext>
            </a:extLst>
          </p:cNvPr>
          <p:cNvGrpSpPr>
            <a:grpSpLocks/>
          </p:cNvGrpSpPr>
          <p:nvPr/>
        </p:nvGrpSpPr>
        <p:grpSpPr bwMode="auto">
          <a:xfrm>
            <a:off x="2991519" y="1722438"/>
            <a:ext cx="5260975" cy="4449762"/>
            <a:chOff x="2736" y="1152"/>
            <a:chExt cx="8208" cy="5184"/>
          </a:xfrm>
        </p:grpSpPr>
        <p:grpSp>
          <p:nvGrpSpPr>
            <p:cNvPr id="20" name="Group 17">
              <a:extLst>
                <a:ext uri="{FF2B5EF4-FFF2-40B4-BE49-F238E27FC236}">
                  <a16:creationId xmlns:a16="http://schemas.microsoft.com/office/drawing/2014/main" id="{23AF5180-DC14-1F20-C3C8-3F1A37C98C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5" y="1152"/>
              <a:ext cx="85" cy="5184"/>
              <a:chOff x="2219" y="1152"/>
              <a:chExt cx="85" cy="5184"/>
            </a:xfrm>
          </p:grpSpPr>
          <p:grpSp>
            <p:nvGrpSpPr>
              <p:cNvPr id="22" name="Group 18">
                <a:extLst>
                  <a:ext uri="{FF2B5EF4-FFF2-40B4-BE49-F238E27FC236}">
                    <a16:creationId xmlns:a16="http://schemas.microsoft.com/office/drawing/2014/main" id="{040788C5-D189-B20C-0DA7-6C9812736B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9" y="1152"/>
                <a:ext cx="85" cy="864"/>
                <a:chOff x="2219" y="1152"/>
                <a:chExt cx="85" cy="864"/>
              </a:xfrm>
            </p:grpSpPr>
            <p:sp>
              <p:nvSpPr>
                <p:cNvPr id="38" name="Line 19">
                  <a:extLst>
                    <a:ext uri="{FF2B5EF4-FFF2-40B4-BE49-F238E27FC236}">
                      <a16:creationId xmlns:a16="http://schemas.microsoft.com/office/drawing/2014/main" id="{F76D9FE2-230E-174B-0D0D-42E836B272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4" y="1152"/>
                  <a:ext cx="0" cy="8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da-DK"/>
                </a:p>
              </p:txBody>
            </p:sp>
            <p:sp>
              <p:nvSpPr>
                <p:cNvPr id="39" name="Line 20">
                  <a:extLst>
                    <a:ext uri="{FF2B5EF4-FFF2-40B4-BE49-F238E27FC236}">
                      <a16:creationId xmlns:a16="http://schemas.microsoft.com/office/drawing/2014/main" id="{CC3F5298-492D-620C-3C44-5DC59E0036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9" y="1152"/>
                  <a:ext cx="8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da-DK"/>
                </a:p>
              </p:txBody>
            </p:sp>
          </p:grpSp>
          <p:grpSp>
            <p:nvGrpSpPr>
              <p:cNvPr id="23" name="Group 21">
                <a:extLst>
                  <a:ext uri="{FF2B5EF4-FFF2-40B4-BE49-F238E27FC236}">
                    <a16:creationId xmlns:a16="http://schemas.microsoft.com/office/drawing/2014/main" id="{D154A59F-135D-3218-C5ED-23E0CB546C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9" y="2016"/>
                <a:ext cx="85" cy="864"/>
                <a:chOff x="2219" y="1152"/>
                <a:chExt cx="85" cy="864"/>
              </a:xfrm>
            </p:grpSpPr>
            <p:sp>
              <p:nvSpPr>
                <p:cNvPr id="36" name="Line 22">
                  <a:extLst>
                    <a:ext uri="{FF2B5EF4-FFF2-40B4-BE49-F238E27FC236}">
                      <a16:creationId xmlns:a16="http://schemas.microsoft.com/office/drawing/2014/main" id="{0A4241C5-CE1A-397A-AB9B-7408939946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4" y="1152"/>
                  <a:ext cx="0" cy="8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da-DK"/>
                </a:p>
              </p:txBody>
            </p:sp>
            <p:sp>
              <p:nvSpPr>
                <p:cNvPr id="37" name="Line 23">
                  <a:extLst>
                    <a:ext uri="{FF2B5EF4-FFF2-40B4-BE49-F238E27FC236}">
                      <a16:creationId xmlns:a16="http://schemas.microsoft.com/office/drawing/2014/main" id="{418873DB-AA98-CC74-189C-B7952653E7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9" y="1152"/>
                  <a:ext cx="8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da-DK"/>
                </a:p>
              </p:txBody>
            </p:sp>
          </p:grpSp>
          <p:grpSp>
            <p:nvGrpSpPr>
              <p:cNvPr id="24" name="Group 24">
                <a:extLst>
                  <a:ext uri="{FF2B5EF4-FFF2-40B4-BE49-F238E27FC236}">
                    <a16:creationId xmlns:a16="http://schemas.microsoft.com/office/drawing/2014/main" id="{AFB71122-2EFC-B5A8-9EC6-5E50C8BDF1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9" y="2880"/>
                <a:ext cx="85" cy="864"/>
                <a:chOff x="2219" y="1152"/>
                <a:chExt cx="85" cy="864"/>
              </a:xfrm>
            </p:grpSpPr>
            <p:sp>
              <p:nvSpPr>
                <p:cNvPr id="34" name="Line 25">
                  <a:extLst>
                    <a:ext uri="{FF2B5EF4-FFF2-40B4-BE49-F238E27FC236}">
                      <a16:creationId xmlns:a16="http://schemas.microsoft.com/office/drawing/2014/main" id="{01967F61-465B-0F56-6F16-A5C66BAC5D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4" y="1152"/>
                  <a:ext cx="0" cy="8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da-DK"/>
                </a:p>
              </p:txBody>
            </p:sp>
            <p:sp>
              <p:nvSpPr>
                <p:cNvPr id="35" name="Line 26">
                  <a:extLst>
                    <a:ext uri="{FF2B5EF4-FFF2-40B4-BE49-F238E27FC236}">
                      <a16:creationId xmlns:a16="http://schemas.microsoft.com/office/drawing/2014/main" id="{AB748915-5EBB-751E-7594-5E9193DC07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9" y="1152"/>
                  <a:ext cx="8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da-DK"/>
                </a:p>
              </p:txBody>
            </p:sp>
          </p:grpSp>
          <p:grpSp>
            <p:nvGrpSpPr>
              <p:cNvPr id="25" name="Group 27">
                <a:extLst>
                  <a:ext uri="{FF2B5EF4-FFF2-40B4-BE49-F238E27FC236}">
                    <a16:creationId xmlns:a16="http://schemas.microsoft.com/office/drawing/2014/main" id="{F523F089-CF49-5278-8BE2-1CC4EAD500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9" y="3744"/>
                <a:ext cx="85" cy="864"/>
                <a:chOff x="2219" y="1152"/>
                <a:chExt cx="85" cy="864"/>
              </a:xfrm>
            </p:grpSpPr>
            <p:sp>
              <p:nvSpPr>
                <p:cNvPr id="32" name="Line 28">
                  <a:extLst>
                    <a:ext uri="{FF2B5EF4-FFF2-40B4-BE49-F238E27FC236}">
                      <a16:creationId xmlns:a16="http://schemas.microsoft.com/office/drawing/2014/main" id="{8A58724D-A37D-BFC7-6741-8A3C9B3BBD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4" y="1152"/>
                  <a:ext cx="0" cy="8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da-DK"/>
                </a:p>
              </p:txBody>
            </p:sp>
            <p:sp>
              <p:nvSpPr>
                <p:cNvPr id="33" name="Line 29">
                  <a:extLst>
                    <a:ext uri="{FF2B5EF4-FFF2-40B4-BE49-F238E27FC236}">
                      <a16:creationId xmlns:a16="http://schemas.microsoft.com/office/drawing/2014/main" id="{8B6C9D1C-DE58-8690-D82A-7345928545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9" y="1152"/>
                  <a:ext cx="8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da-DK"/>
                </a:p>
              </p:txBody>
            </p:sp>
          </p:grpSp>
          <p:grpSp>
            <p:nvGrpSpPr>
              <p:cNvPr id="26" name="Group 30">
                <a:extLst>
                  <a:ext uri="{FF2B5EF4-FFF2-40B4-BE49-F238E27FC236}">
                    <a16:creationId xmlns:a16="http://schemas.microsoft.com/office/drawing/2014/main" id="{81721FD1-69BB-4778-ED7E-847EF2CC04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9" y="4608"/>
                <a:ext cx="85" cy="864"/>
                <a:chOff x="2219" y="1152"/>
                <a:chExt cx="85" cy="864"/>
              </a:xfrm>
            </p:grpSpPr>
            <p:sp>
              <p:nvSpPr>
                <p:cNvPr id="30" name="Line 31">
                  <a:extLst>
                    <a:ext uri="{FF2B5EF4-FFF2-40B4-BE49-F238E27FC236}">
                      <a16:creationId xmlns:a16="http://schemas.microsoft.com/office/drawing/2014/main" id="{E622F436-0B87-98F5-7BC7-CB47742D25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4" y="1152"/>
                  <a:ext cx="0" cy="8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da-DK"/>
                </a:p>
              </p:txBody>
            </p:sp>
            <p:sp>
              <p:nvSpPr>
                <p:cNvPr id="31" name="Line 32">
                  <a:extLst>
                    <a:ext uri="{FF2B5EF4-FFF2-40B4-BE49-F238E27FC236}">
                      <a16:creationId xmlns:a16="http://schemas.microsoft.com/office/drawing/2014/main" id="{C0334361-B682-0D48-376D-6B93D3C99D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9" y="1152"/>
                  <a:ext cx="8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da-DK"/>
                </a:p>
              </p:txBody>
            </p:sp>
          </p:grpSp>
          <p:grpSp>
            <p:nvGrpSpPr>
              <p:cNvPr id="27" name="Group 33">
                <a:extLst>
                  <a:ext uri="{FF2B5EF4-FFF2-40B4-BE49-F238E27FC236}">
                    <a16:creationId xmlns:a16="http://schemas.microsoft.com/office/drawing/2014/main" id="{D8F53A8E-E898-A1BB-6323-67B581734D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9" y="5472"/>
                <a:ext cx="85" cy="864"/>
                <a:chOff x="2219" y="1152"/>
                <a:chExt cx="85" cy="864"/>
              </a:xfrm>
            </p:grpSpPr>
            <p:sp>
              <p:nvSpPr>
                <p:cNvPr id="28" name="Line 34">
                  <a:extLst>
                    <a:ext uri="{FF2B5EF4-FFF2-40B4-BE49-F238E27FC236}">
                      <a16:creationId xmlns:a16="http://schemas.microsoft.com/office/drawing/2014/main" id="{8C797958-B8E5-A829-3170-4348BE6DCE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4" y="1152"/>
                  <a:ext cx="0" cy="8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da-DK"/>
                </a:p>
              </p:txBody>
            </p:sp>
            <p:sp>
              <p:nvSpPr>
                <p:cNvPr id="29" name="Line 35">
                  <a:extLst>
                    <a:ext uri="{FF2B5EF4-FFF2-40B4-BE49-F238E27FC236}">
                      <a16:creationId xmlns:a16="http://schemas.microsoft.com/office/drawing/2014/main" id="{7C9DB248-188E-3C5C-EF83-12467DD13F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9" y="1152"/>
                  <a:ext cx="8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da-DK"/>
                </a:p>
              </p:txBody>
            </p:sp>
          </p:grpSp>
        </p:grpSp>
        <p:sp>
          <p:nvSpPr>
            <p:cNvPr id="21" name="Line 36">
              <a:extLst>
                <a:ext uri="{FF2B5EF4-FFF2-40B4-BE49-F238E27FC236}">
                  <a16:creationId xmlns:a16="http://schemas.microsoft.com/office/drawing/2014/main" id="{E5C4BC9C-F955-B7A9-FC1C-37FEFEECE2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6336"/>
              <a:ext cx="82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40" name="Text Box 37">
            <a:extLst>
              <a:ext uri="{FF2B5EF4-FFF2-40B4-BE49-F238E27FC236}">
                <a16:creationId xmlns:a16="http://schemas.microsoft.com/office/drawing/2014/main" id="{96FB973D-2B48-AEFC-5944-3596D595C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1069" y="1600200"/>
            <a:ext cx="1065212" cy="4576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38" tIns="45719" rIns="91438" bIns="45719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da-DK" altLang="da-DK" sz="1200" b="1">
                <a:latin typeface="Tahoma" panose="020B0604030504040204" pitchFamily="34" charset="0"/>
              </a:rPr>
              <a:t>1.000.000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da-DK" altLang="da-DK" sz="1200" b="1">
                <a:latin typeface="Tahoma" panose="020B0604030504040204" pitchFamily="34" charset="0"/>
              </a:rPr>
              <a:t>100.000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da-DK" altLang="da-DK" sz="1200" b="1">
                <a:latin typeface="Tahoma" panose="020B0604030504040204" pitchFamily="34" charset="0"/>
              </a:rPr>
              <a:t>10.000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da-DK" altLang="da-DK" sz="1200" b="1">
                <a:latin typeface="Tahoma" panose="020B0604030504040204" pitchFamily="34" charset="0"/>
              </a:rPr>
              <a:t>1.000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da-DK" altLang="da-DK" sz="1200" b="1">
                <a:latin typeface="Tahoma" panose="020B0604030504040204" pitchFamily="34" charset="0"/>
              </a:rPr>
              <a:t>100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da-DK" altLang="da-DK" sz="1200" b="1">
                <a:latin typeface="Tahoma" panose="020B0604030504040204" pitchFamily="34" charset="0"/>
              </a:rPr>
              <a:t>10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endParaRPr lang="da-DK" altLang="da-DK" sz="1200" b="1">
              <a:latin typeface="Tahoma" panose="020B060403050404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da-DK" altLang="da-DK" sz="1200" b="1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41" name="Line 38">
            <a:extLst>
              <a:ext uri="{FF2B5EF4-FFF2-40B4-BE49-F238E27FC236}">
                <a16:creationId xmlns:a16="http://schemas.microsoft.com/office/drawing/2014/main" id="{88621DC7-95AC-2CB5-0CD0-16B30880A3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3144" y="3373438"/>
            <a:ext cx="0" cy="935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42" name="Line 39">
            <a:extLst>
              <a:ext uri="{FF2B5EF4-FFF2-40B4-BE49-F238E27FC236}">
                <a16:creationId xmlns:a16="http://schemas.microsoft.com/office/drawing/2014/main" id="{EE8137F8-6863-5898-F798-8AC6ADD956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4144" y="3290888"/>
            <a:ext cx="0" cy="7477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43" name="Line 40">
            <a:extLst>
              <a:ext uri="{FF2B5EF4-FFF2-40B4-BE49-F238E27FC236}">
                <a16:creationId xmlns:a16="http://schemas.microsoft.com/office/drawing/2014/main" id="{CC967D2E-6BF2-72D3-F2A4-C718BCD47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3556" y="3279775"/>
            <a:ext cx="0" cy="654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44" name="Line 41">
            <a:extLst>
              <a:ext uri="{FF2B5EF4-FFF2-40B4-BE49-F238E27FC236}">
                <a16:creationId xmlns:a16="http://schemas.microsoft.com/office/drawing/2014/main" id="{A6DF971A-4976-683D-52E9-4AE5A0BCE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4556" y="3279775"/>
            <a:ext cx="0" cy="4683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45" name="Line 42">
            <a:extLst>
              <a:ext uri="{FF2B5EF4-FFF2-40B4-BE49-F238E27FC236}">
                <a16:creationId xmlns:a16="http://schemas.microsoft.com/office/drawing/2014/main" id="{F1FC140B-50EC-6904-500D-E266699278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5556" y="3000375"/>
            <a:ext cx="0" cy="1308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46" name="Line 43">
            <a:extLst>
              <a:ext uri="{FF2B5EF4-FFF2-40B4-BE49-F238E27FC236}">
                <a16:creationId xmlns:a16="http://schemas.microsoft.com/office/drawing/2014/main" id="{5E4A7074-2628-EDCE-91DC-A515700450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4969" y="2906713"/>
            <a:ext cx="0" cy="841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47" name="Line 44">
            <a:extLst>
              <a:ext uri="{FF2B5EF4-FFF2-40B4-BE49-F238E27FC236}">
                <a16:creationId xmlns:a16="http://schemas.microsoft.com/office/drawing/2014/main" id="{9377D0A7-ECED-92C0-E063-B2987AE47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1681" y="2906713"/>
            <a:ext cx="0" cy="841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48" name="Line 45">
            <a:extLst>
              <a:ext uri="{FF2B5EF4-FFF2-40B4-BE49-F238E27FC236}">
                <a16:creationId xmlns:a16="http://schemas.microsoft.com/office/drawing/2014/main" id="{87C8F6EC-FBBC-A30B-71AE-ADD4F2797C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6969" y="2252663"/>
            <a:ext cx="0" cy="14017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49" name="Text Box 46">
            <a:extLst>
              <a:ext uri="{FF2B5EF4-FFF2-40B4-BE49-F238E27FC236}">
                <a16:creationId xmlns:a16="http://schemas.microsoft.com/office/drawing/2014/main" id="{41E9C3F5-F363-1E56-2069-7FFD2B828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744" y="4494213"/>
            <a:ext cx="3576637" cy="15890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38" tIns="45719" rIns="91438" bIns="45719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a-DK" altLang="da-DK" sz="1200" b="1">
                <a:latin typeface="Tahoma" panose="020B0604030504040204" pitchFamily="34" charset="0"/>
              </a:rPr>
              <a:t>                                                           Arctic fox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a-DK" altLang="da-DK" sz="1200" b="1">
                <a:latin typeface="Tahoma" panose="020B0604030504040204" pitchFamily="34" charset="0"/>
              </a:rPr>
              <a:t>                                                  Polar bear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a-DK" altLang="da-DK" sz="1200" b="1">
                <a:latin typeface="Tahoma" panose="020B0604030504040204" pitchFamily="34" charset="0"/>
              </a:rPr>
              <a:t>                                          Porpoise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a-DK" altLang="da-DK" sz="1200" b="1">
                <a:latin typeface="Tahoma" panose="020B0604030504040204" pitchFamily="34" charset="0"/>
              </a:rPr>
              <a:t>                                 Walrus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a-DK" altLang="da-DK" sz="1200" b="1">
                <a:latin typeface="Tahoma" panose="020B0604030504040204" pitchFamily="34" charset="0"/>
              </a:rPr>
              <a:t>                         White whale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a-DK" altLang="da-DK" sz="1200" b="1">
                <a:latin typeface="Tahoma" panose="020B0604030504040204" pitchFamily="34" charset="0"/>
              </a:rPr>
              <a:t>                 Minke whale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a-DK" altLang="da-DK" sz="1200" b="1">
                <a:latin typeface="Tahoma" panose="020B0604030504040204" pitchFamily="34" charset="0"/>
              </a:rPr>
              <a:t>        Seal, Greenland-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a-DK" altLang="da-DK" sz="1200" b="1">
                <a:latin typeface="Tahoma" panose="020B0604030504040204" pitchFamily="34" charset="0"/>
              </a:rPr>
              <a:t>Seal, common  </a:t>
            </a:r>
          </a:p>
        </p:txBody>
      </p:sp>
      <p:sp>
        <p:nvSpPr>
          <p:cNvPr id="50" name="Line 47">
            <a:extLst>
              <a:ext uri="{FF2B5EF4-FFF2-40B4-BE49-F238E27FC236}">
                <a16:creationId xmlns:a16="http://schemas.microsoft.com/office/drawing/2014/main" id="{F2DAB2CC-5BCF-CED9-D4D3-AA329C593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3144" y="44196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51" name="Line 48">
            <a:extLst>
              <a:ext uri="{FF2B5EF4-FFF2-40B4-BE49-F238E27FC236}">
                <a16:creationId xmlns:a16="http://schemas.microsoft.com/office/drawing/2014/main" id="{A6386480-CACA-797F-ED2E-66744ED5D9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74144" y="41148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52" name="Line 49">
            <a:extLst>
              <a:ext uri="{FF2B5EF4-FFF2-40B4-BE49-F238E27FC236}">
                <a16:creationId xmlns:a16="http://schemas.microsoft.com/office/drawing/2014/main" id="{675433E8-BCB9-F1E7-9106-1FB7E4EC38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53556" y="40386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53" name="Line 50">
            <a:extLst>
              <a:ext uri="{FF2B5EF4-FFF2-40B4-BE49-F238E27FC236}">
                <a16:creationId xmlns:a16="http://schemas.microsoft.com/office/drawing/2014/main" id="{8A446B14-14F6-713E-CF7B-B2AAF3244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4556" y="3841750"/>
            <a:ext cx="0" cy="133985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54" name="Line 51">
            <a:extLst>
              <a:ext uri="{FF2B5EF4-FFF2-40B4-BE49-F238E27FC236}">
                <a16:creationId xmlns:a16="http://schemas.microsoft.com/office/drawing/2014/main" id="{3149C8BC-7E2E-04B7-5F11-BE9DEC941E7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5556" y="4402138"/>
            <a:ext cx="0" cy="627062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55" name="Line 52">
            <a:extLst>
              <a:ext uri="{FF2B5EF4-FFF2-40B4-BE49-F238E27FC236}">
                <a16:creationId xmlns:a16="http://schemas.microsoft.com/office/drawing/2014/main" id="{86DC3E53-6D81-DDA4-162C-98F1718AE35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4969" y="3841750"/>
            <a:ext cx="0" cy="103505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56" name="Line 53">
            <a:extLst>
              <a:ext uri="{FF2B5EF4-FFF2-40B4-BE49-F238E27FC236}">
                <a16:creationId xmlns:a16="http://schemas.microsoft.com/office/drawing/2014/main" id="{CEFA69AB-DFC3-EED8-DCC0-0FD9A26E2D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1681" y="3841750"/>
            <a:ext cx="14288" cy="80645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57" name="Line 54">
            <a:extLst>
              <a:ext uri="{FF2B5EF4-FFF2-40B4-BE49-F238E27FC236}">
                <a16:creationId xmlns:a16="http://schemas.microsoft.com/office/drawing/2014/main" id="{A29E820D-A47C-9468-0112-D5133CA48A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6969" y="3733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58" name="Text Box 55">
            <a:extLst>
              <a:ext uri="{FF2B5EF4-FFF2-40B4-BE49-F238E27FC236}">
                <a16:creationId xmlns:a16="http://schemas.microsoft.com/office/drawing/2014/main" id="{A40E9ACB-4677-119D-612B-9FF169EF8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0631" y="1208088"/>
            <a:ext cx="187166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8" tIns="45719" rIns="91438" bIns="45719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da-DK" altLang="da-DK" sz="1600" b="1">
                <a:latin typeface="Tahoma" panose="020B0604030504040204" pitchFamily="34" charset="0"/>
                <a:sym typeface="Symbol" panose="05050102010706020507" pitchFamily="18" charset="2"/>
              </a:rPr>
              <a:t> PCB </a:t>
            </a:r>
            <a:r>
              <a:rPr lang="da-DK" altLang="da-DK" sz="1600" b="1">
                <a:latin typeface="Tahoma" panose="020B0604030504040204" pitchFamily="34" charset="0"/>
              </a:rPr>
              <a:t>ng/g fat</a:t>
            </a:r>
            <a:endParaRPr lang="da-DK" altLang="da-DK" sz="1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26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406A9-DBC8-93F4-A8DC-BB5E3874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Biodiversity</a:t>
            </a:r>
            <a:r>
              <a:rPr lang="da-DK" dirty="0"/>
              <a:t> is </a:t>
            </a:r>
            <a:r>
              <a:rPr lang="da-DK" dirty="0" err="1"/>
              <a:t>threatened</a:t>
            </a:r>
            <a:endParaRPr lang="da-DK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5AF23-D04C-02E5-1320-BE5340C658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00C66-51FF-8BAB-9824-D9B6C90421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13</a:t>
            </a:fld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D9D457-8725-45B1-894F-F84B974AB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42" y="1398843"/>
            <a:ext cx="11843195" cy="51423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0828B7-EF60-A95C-109F-CFDFD981CB2C}"/>
              </a:ext>
            </a:extLst>
          </p:cNvPr>
          <p:cNvSpPr txBox="1"/>
          <p:nvPr/>
        </p:nvSpPr>
        <p:spPr>
          <a:xfrm>
            <a:off x="9058999" y="1183399"/>
            <a:ext cx="246541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 sz="1400" i="1" dirty="0">
                <a:latin typeface="+mn-lt"/>
              </a:rPr>
              <a:t>(</a:t>
            </a:r>
            <a:r>
              <a:rPr lang="da-DK" sz="1400" i="1" dirty="0" err="1">
                <a:latin typeface="+mn-lt"/>
              </a:rPr>
              <a:t>Andréoletti</a:t>
            </a:r>
            <a:r>
              <a:rPr lang="da-DK" sz="1400" i="1" dirty="0">
                <a:latin typeface="+mn-lt"/>
              </a:rPr>
              <a:t> and </a:t>
            </a:r>
            <a:r>
              <a:rPr lang="da-DK" sz="1400" i="1" dirty="0" err="1">
                <a:latin typeface="+mn-lt"/>
              </a:rPr>
              <a:t>Morlon</a:t>
            </a:r>
            <a:r>
              <a:rPr lang="da-DK" sz="1400" i="1" dirty="0">
                <a:latin typeface="+mn-lt"/>
              </a:rPr>
              <a:t>, 2023) </a:t>
            </a:r>
          </a:p>
        </p:txBody>
      </p:sp>
    </p:spTree>
    <p:extLst>
      <p:ext uri="{BB962C8B-B14F-4D97-AF65-F5344CB8AC3E}">
        <p14:creationId xmlns:p14="http://schemas.microsoft.com/office/powerpoint/2010/main" val="3694982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da-DK" dirty="0"/>
              <a:t>Growth in demand for </a:t>
            </a:r>
            <a:r>
              <a:rPr lang="da-DK" dirty="0" err="1"/>
              <a:t>key</a:t>
            </a:r>
            <a:r>
              <a:rPr lang="da-DK" dirty="0"/>
              <a:t> </a:t>
            </a:r>
            <a:r>
              <a:rPr lang="da-DK" dirty="0" err="1"/>
              <a:t>materials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294967295"/>
          </p:nvPr>
        </p:nvSpPr>
        <p:spPr>
          <a:xfrm>
            <a:off x="11757025" y="6540500"/>
            <a:ext cx="433388" cy="317500"/>
          </a:xfrm>
        </p:spPr>
        <p:txBody>
          <a:bodyPr/>
          <a:lstStyle/>
          <a:p>
            <a:fld id="{103EA872-A674-449B-A120-B97244F8E91D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516432" y="6199336"/>
            <a:ext cx="554831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da-DK" altLang="en-US" sz="1050" i="1" dirty="0">
                <a:cs typeface="Arial" charset="0"/>
              </a:rPr>
              <a:t>Source: IEA (2019): </a:t>
            </a:r>
            <a:r>
              <a:rPr lang="da-DK" altLang="en-US" sz="1050" i="1" dirty="0" err="1">
                <a:cs typeface="Arial" charset="0"/>
              </a:rPr>
              <a:t>Material</a:t>
            </a:r>
            <a:r>
              <a:rPr lang="da-DK" altLang="en-US" sz="1050" i="1" dirty="0">
                <a:cs typeface="Arial" charset="0"/>
              </a:rPr>
              <a:t> </a:t>
            </a:r>
            <a:r>
              <a:rPr lang="da-DK" altLang="en-US" sz="1050" i="1" dirty="0" err="1">
                <a:cs typeface="Arial" charset="0"/>
              </a:rPr>
              <a:t>efficiency</a:t>
            </a:r>
            <a:r>
              <a:rPr lang="da-DK" altLang="en-US" sz="1050" i="1" dirty="0">
                <a:cs typeface="Arial" charset="0"/>
              </a:rPr>
              <a:t> in </a:t>
            </a:r>
            <a:r>
              <a:rPr lang="da-DK" altLang="en-US" sz="1050" i="1" dirty="0" err="1">
                <a:cs typeface="Arial" charset="0"/>
              </a:rPr>
              <a:t>clean</a:t>
            </a:r>
            <a:r>
              <a:rPr lang="da-DK" altLang="en-US" sz="1050" i="1" dirty="0">
                <a:cs typeface="Arial" charset="0"/>
              </a:rPr>
              <a:t> </a:t>
            </a:r>
            <a:r>
              <a:rPr lang="da-DK" altLang="en-US" sz="1050" i="1" dirty="0" err="1">
                <a:cs typeface="Arial" charset="0"/>
              </a:rPr>
              <a:t>energy</a:t>
            </a:r>
            <a:r>
              <a:rPr lang="da-DK" altLang="en-US" sz="1050" i="1" dirty="0">
                <a:cs typeface="Arial" charset="0"/>
              </a:rPr>
              <a:t> transitions</a:t>
            </a:r>
            <a:endParaRPr lang="en-US" altLang="en-US" sz="1050" i="1" dirty="0">
              <a:cs typeface="Arial" charset="0"/>
            </a:endParaRPr>
          </a:p>
        </p:txBody>
      </p:sp>
      <p:pic>
        <p:nvPicPr>
          <p:cNvPr id="8" name="Billed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10"/>
          <a:stretch>
            <a:fillRect/>
          </a:stretch>
        </p:blipFill>
        <p:spPr bwMode="auto">
          <a:xfrm>
            <a:off x="592137" y="1844824"/>
            <a:ext cx="11006138" cy="4103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2751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15</a:t>
            </a:fld>
            <a:endParaRPr lang="da-DK" dirty="0"/>
          </a:p>
        </p:txBody>
      </p:sp>
      <p:pic>
        <p:nvPicPr>
          <p:cNvPr id="4" name="Picture 2" descr="How Long Will It Last? | DeepResour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169730"/>
            <a:ext cx="10407799" cy="6371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5873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14686" y="980728"/>
            <a:ext cx="8496944" cy="5137785"/>
          </a:xfrm>
        </p:spPr>
        <p:txBody>
          <a:bodyPr/>
          <a:lstStyle/>
          <a:p>
            <a:r>
              <a:rPr lang="en-GB" altLang="da-DK" sz="2880" dirty="0"/>
              <a:t>Sustainability assessment should consider three dimensions; social, economic and environmental </a:t>
            </a:r>
          </a:p>
          <a:p>
            <a:endParaRPr lang="en-GB" altLang="da-DK" sz="2880" dirty="0"/>
          </a:p>
          <a:p>
            <a:r>
              <a:rPr lang="en-GB" altLang="da-DK" sz="2880" dirty="0"/>
              <a:t>The environment is challenged by human activities</a:t>
            </a:r>
          </a:p>
          <a:p>
            <a:endParaRPr lang="en-GB" altLang="da-DK" sz="2880" dirty="0"/>
          </a:p>
          <a:p>
            <a:r>
              <a:rPr lang="en-GB" altLang="da-DK" sz="2880" dirty="0"/>
              <a:t>We need to reduce our environmental impact to stay within the planetary boundaries</a:t>
            </a:r>
          </a:p>
          <a:p>
            <a:pPr>
              <a:buFontTx/>
              <a:buNone/>
            </a:pPr>
            <a:endParaRPr lang="en-GB" altLang="da-DK" sz="2880" dirty="0"/>
          </a:p>
        </p:txBody>
      </p:sp>
      <p:sp>
        <p:nvSpPr>
          <p:cNvPr id="22531" name="Rectangle 4"/>
          <p:cNvSpPr>
            <a:spLocks noGrp="1" noChangeArrowheads="1"/>
          </p:cNvSpPr>
          <p:nvPr>
            <p:ph type="title"/>
          </p:nvPr>
        </p:nvSpPr>
        <p:spPr>
          <a:xfrm>
            <a:off x="1702718" y="151230"/>
            <a:ext cx="9312374" cy="972716"/>
          </a:xfrm>
        </p:spPr>
        <p:txBody>
          <a:bodyPr anchor="t"/>
          <a:lstStyle/>
          <a:p>
            <a:r>
              <a:rPr lang="en-GB" altLang="da-DK" sz="3240" i="1" dirty="0"/>
              <a:t>Key take aways</a:t>
            </a:r>
          </a:p>
        </p:txBody>
      </p:sp>
    </p:spTree>
    <p:extLst>
      <p:ext uri="{BB962C8B-B14F-4D97-AF65-F5344CB8AC3E}">
        <p14:creationId xmlns:p14="http://schemas.microsoft.com/office/powerpoint/2010/main" val="38631079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8737"/>
        </a:solidFill>
        <a:ln w="9525" cap="flat" cmpd="sng" algn="ctr">
          <a:solidFill>
            <a:srgbClr val="008737"/>
          </a:solidFill>
          <a:prstDash val="solid"/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 DTU Template.potx" id="{DCBB0D47-5BC6-435C-9126-D3D343B0B928}" vid="{2DC669D5-2566-4482-AB47-A5699F5A4350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FormConfiguration><![CDATA[{"formFields":[{"required":false,"helpTexts":{"prefix":"","postfix":""},"spacing":{},"type":"datePicker","name":"Date","label":"Date","fullyQualifiedName":"Date"},{"required":false,"placeholder":"","lines":0,"helpTexts":{"prefix":"","postfix":""},"spacing":{},"type":"textBox","name":"PresentationTitle","label":"Presentation title","fullyQualifiedName":"PresentationTitle"}],"formDataEntries":[{"name":"Date","value":"zUFmAcoBGCHSI3616fWuWw=="},{"name":"PresentationTitle","value":"JHpQ28E6YODhe53bYQMuFcKwvwj7qoDzpG/+8Sz2mpwMB4K9i+bCFTLK9NE7/N/cpIY6G5hGKONZd7KphtoLYg=="}]}]]></TemplafyFormConfiguration>
</file>

<file path=customXml/item2.xml><?xml version="1.0" encoding="utf-8"?>
<TemplafyTemplateConfiguration><![CDATA[{"elementsMetadata":[{"type":"shape","id":"9541a5c0-d901-45f2-925e-722feb7135f1","elementConfiguration":{"binding":"UserProfile.Offices.Workarea_{{DocumentLanguage}}","disableUpdates":false,"type":"text"}},{"type":"shape","id":"a5beb609-e23c-40a0-b068-9d47a9293ac9","elementConfiguration":{"format":"{{DateFormats.GeneralDate}}","binding":"Form.Date","disableUpdates":false,"type":"date"}},{"type":"shape","id":"3600bef2-8dd8-4dc9-b382-d19fc3de40f2","elementConfiguration":{"binding":"Form.PresentationTitle","disableUpdates":false,"type":"text"}}],"transformationConfigurations":[{"language":"{{DocumentLanguage}}","disableUpdates":false,"type":"proofingLanguage"}],"templateName":"","templateDescription":"","enableDocumentContentUpdater":true,"version":"1.2"}]]></Templafy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documentContentValidatorConfiguration":{"enableDocumentContentValidator":false,"documentContentValidatorVersion":0},"elementsMetadata":[],"slideId":"636964369970985159","enableDocumentContentUpdater":true,"version":"1.2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documentContentValidatorConfiguration":{"enableDocumentContentValidator":false,"documentContentValidatorVersion":0},"elementsMetadata":[],"slideId":"636964369970345660","enableDocumentContentUpdater":true,"version":"1.2"}]]></TemplafySlideTemplateConfiguration>
</file>

<file path=customXml/itemProps1.xml><?xml version="1.0" encoding="utf-8"?>
<ds:datastoreItem xmlns:ds="http://schemas.openxmlformats.org/officeDocument/2006/customXml" ds:itemID="{ABF51F55-B004-46D7-A679-5A180B2299D4}">
  <ds:schemaRefs/>
</ds:datastoreItem>
</file>

<file path=customXml/itemProps2.xml><?xml version="1.0" encoding="utf-8"?>
<ds:datastoreItem xmlns:ds="http://schemas.openxmlformats.org/officeDocument/2006/customXml" ds:itemID="{1334258C-C3E7-4029-A615-C886A240FB15}">
  <ds:schemaRefs/>
</ds:datastoreItem>
</file>

<file path=customXml/itemProps3.xml><?xml version="1.0" encoding="utf-8"?>
<ds:datastoreItem xmlns:ds="http://schemas.openxmlformats.org/officeDocument/2006/customXml" ds:itemID="{40BF509C-78FA-46F5-B5D7-7488E351E3B9}">
  <ds:schemaRefs/>
</ds:datastoreItem>
</file>

<file path=customXml/itemProps4.xml><?xml version="1.0" encoding="utf-8"?>
<ds:datastoreItem xmlns:ds="http://schemas.openxmlformats.org/officeDocument/2006/customXml" ds:itemID="{9A75AE2F-93CA-4972-86BB-29AB79ACCA1E}">
  <ds:schemaRefs/>
</ds:datastoreItem>
</file>

<file path=customXml/itemProps5.xml><?xml version="1.0" encoding="utf-8"?>
<ds:datastoreItem xmlns:ds="http://schemas.openxmlformats.org/officeDocument/2006/customXml" ds:itemID="{BDF24F0A-B8FF-43DE-92DA-AC86FABA256A}">
  <ds:schemaRefs/>
</ds:datastoreItem>
</file>

<file path=customXml/itemProps6.xml><?xml version="1.0" encoding="utf-8"?>
<ds:datastoreItem xmlns:ds="http://schemas.openxmlformats.org/officeDocument/2006/customXml" ds:itemID="{5B7D4340-81E9-46AF-B909-48B68CC900E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 DTU Template</Template>
  <TotalTime>6966</TotalTime>
  <Words>337</Words>
  <Application>Microsoft Office PowerPoint</Application>
  <PresentationFormat>Custom</PresentationFormat>
  <Paragraphs>114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Tahoma</vt:lpstr>
      <vt:lpstr>Arial</vt:lpstr>
      <vt:lpstr>Verdana</vt:lpstr>
      <vt:lpstr>Blank</vt:lpstr>
      <vt:lpstr>PowerPoint Presentation</vt:lpstr>
      <vt:lpstr>What is sustainability?</vt:lpstr>
      <vt:lpstr>Learning outcomes of the video</vt:lpstr>
      <vt:lpstr>What is sustainability?</vt:lpstr>
      <vt:lpstr>Brundtland commission definition</vt:lpstr>
      <vt:lpstr>Sustainability ?</vt:lpstr>
      <vt:lpstr>PowerPoint Presentation</vt:lpstr>
      <vt:lpstr>Progress towards the SDGs</vt:lpstr>
      <vt:lpstr>Planetary boundaries</vt:lpstr>
      <vt:lpstr>PowerPoint Presentation</vt:lpstr>
      <vt:lpstr>Pollution</vt:lpstr>
      <vt:lpstr>PCB in arctic animals</vt:lpstr>
      <vt:lpstr>Biodiversity is threatened</vt:lpstr>
      <vt:lpstr>Growth in demand for key materials</vt:lpstr>
      <vt:lpstr>PowerPoint Presentation</vt:lpstr>
      <vt:lpstr>Key take aways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DTU</dc:creator>
  <cp:lastModifiedBy>Niklas Braarud Jordal</cp:lastModifiedBy>
  <cp:revision>113</cp:revision>
  <dcterms:created xsi:type="dcterms:W3CDTF">2017-07-31T08:31:56Z</dcterms:created>
  <dcterms:modified xsi:type="dcterms:W3CDTF">2026-01-21T12:05:30Z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imeStamp">
    <vt:lpwstr>2019-06-10T12:55:42.8581309Z</vt:lpwstr>
  </property>
  <property fmtid="{D5CDD505-2E9C-101B-9397-08002B2CF9AE}" pid="4" name="TemplafyTenantId">
    <vt:lpwstr>dtu</vt:lpwstr>
  </property>
  <property fmtid="{D5CDD505-2E9C-101B-9397-08002B2CF9AE}" pid="5" name="TemplafyTemplateId">
    <vt:lpwstr>636964369962321026</vt:lpwstr>
  </property>
  <property fmtid="{D5CDD505-2E9C-101B-9397-08002B2CF9AE}" pid="6" name="TemplafyUserProfileId">
    <vt:lpwstr>636458161745684860</vt:lpwstr>
  </property>
  <property fmtid="{D5CDD505-2E9C-101B-9397-08002B2CF9AE}" pid="7" name="TemplafyLanguageCode">
    <vt:lpwstr>da-DK</vt:lpwstr>
  </property>
</Properties>
</file>