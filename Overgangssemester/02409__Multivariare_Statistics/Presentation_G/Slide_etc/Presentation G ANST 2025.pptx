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7"/>
  </p:notesMasterIdLst>
  <p:handoutMasterIdLst>
    <p:handoutMasterId r:id="rId88"/>
  </p:handoutMasterIdLst>
  <p:sldIdLst>
    <p:sldId id="318" r:id="rId3"/>
    <p:sldId id="421" r:id="rId4"/>
    <p:sldId id="428" r:id="rId5"/>
    <p:sldId id="434" r:id="rId6"/>
    <p:sldId id="446" r:id="rId7"/>
    <p:sldId id="447" r:id="rId8"/>
    <p:sldId id="592" r:id="rId9"/>
    <p:sldId id="591" r:id="rId10"/>
    <p:sldId id="593" r:id="rId11"/>
    <p:sldId id="594" r:id="rId12"/>
    <p:sldId id="595" r:id="rId13"/>
    <p:sldId id="596" r:id="rId14"/>
    <p:sldId id="597" r:id="rId15"/>
    <p:sldId id="598" r:id="rId16"/>
    <p:sldId id="599" r:id="rId17"/>
    <p:sldId id="600" r:id="rId18"/>
    <p:sldId id="601" r:id="rId19"/>
    <p:sldId id="602" r:id="rId20"/>
    <p:sldId id="603" r:id="rId21"/>
    <p:sldId id="604" r:id="rId22"/>
    <p:sldId id="605" r:id="rId23"/>
    <p:sldId id="606" r:id="rId24"/>
    <p:sldId id="607" r:id="rId25"/>
    <p:sldId id="608" r:id="rId26"/>
    <p:sldId id="609" r:id="rId27"/>
    <p:sldId id="610" r:id="rId28"/>
    <p:sldId id="611" r:id="rId29"/>
    <p:sldId id="612" r:id="rId30"/>
    <p:sldId id="613" r:id="rId31"/>
    <p:sldId id="614" r:id="rId32"/>
    <p:sldId id="615" r:id="rId33"/>
    <p:sldId id="616" r:id="rId34"/>
    <p:sldId id="617" r:id="rId35"/>
    <p:sldId id="618" r:id="rId36"/>
    <p:sldId id="619" r:id="rId37"/>
    <p:sldId id="620" r:id="rId38"/>
    <p:sldId id="623" r:id="rId39"/>
    <p:sldId id="621" r:id="rId40"/>
    <p:sldId id="622" r:id="rId41"/>
    <p:sldId id="624" r:id="rId42"/>
    <p:sldId id="625" r:id="rId43"/>
    <p:sldId id="626" r:id="rId44"/>
    <p:sldId id="627" r:id="rId45"/>
    <p:sldId id="628" r:id="rId46"/>
    <p:sldId id="629" r:id="rId47"/>
    <p:sldId id="632" r:id="rId48"/>
    <p:sldId id="635" r:id="rId49"/>
    <p:sldId id="633" r:id="rId50"/>
    <p:sldId id="634" r:id="rId51"/>
    <p:sldId id="637" r:id="rId52"/>
    <p:sldId id="638" r:id="rId53"/>
    <p:sldId id="636" r:id="rId54"/>
    <p:sldId id="639" r:id="rId55"/>
    <p:sldId id="640" r:id="rId56"/>
    <p:sldId id="642" r:id="rId57"/>
    <p:sldId id="641" r:id="rId58"/>
    <p:sldId id="643" r:id="rId59"/>
    <p:sldId id="644" r:id="rId60"/>
    <p:sldId id="645" r:id="rId61"/>
    <p:sldId id="630" r:id="rId62"/>
    <p:sldId id="631" r:id="rId63"/>
    <p:sldId id="646" r:id="rId64"/>
    <p:sldId id="648" r:id="rId65"/>
    <p:sldId id="649" r:id="rId66"/>
    <p:sldId id="650" r:id="rId67"/>
    <p:sldId id="651" r:id="rId68"/>
    <p:sldId id="652" r:id="rId69"/>
    <p:sldId id="653" r:id="rId70"/>
    <p:sldId id="647" r:id="rId71"/>
    <p:sldId id="575" r:id="rId72"/>
    <p:sldId id="655" r:id="rId73"/>
    <p:sldId id="656" r:id="rId74"/>
    <p:sldId id="657" r:id="rId75"/>
    <p:sldId id="658" r:id="rId76"/>
    <p:sldId id="659" r:id="rId77"/>
    <p:sldId id="660" r:id="rId78"/>
    <p:sldId id="661" r:id="rId79"/>
    <p:sldId id="662" r:id="rId80"/>
    <p:sldId id="663" r:id="rId81"/>
    <p:sldId id="664" r:id="rId82"/>
    <p:sldId id="666" r:id="rId83"/>
    <p:sldId id="665" r:id="rId84"/>
    <p:sldId id="667" r:id="rId85"/>
    <p:sldId id="585" r:id="rId86"/>
  </p:sldIdLst>
  <p:sldSz cx="12192000" cy="6858000"/>
  <p:notesSz cx="6797675" cy="9929813"/>
  <p:defaultTextStyle>
    <a:defPPr>
      <a:defRPr lang="da-DK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5220B5-AB43-4C6E-866D-766890D226F7}">
          <p14:sldIdLst>
            <p14:sldId id="318"/>
            <p14:sldId id="421"/>
            <p14:sldId id="428"/>
            <p14:sldId id="434"/>
            <p14:sldId id="446"/>
            <p14:sldId id="447"/>
            <p14:sldId id="592"/>
            <p14:sldId id="591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3"/>
            <p14:sldId id="621"/>
            <p14:sldId id="622"/>
            <p14:sldId id="624"/>
            <p14:sldId id="625"/>
            <p14:sldId id="626"/>
            <p14:sldId id="627"/>
            <p14:sldId id="628"/>
            <p14:sldId id="629"/>
            <p14:sldId id="632"/>
            <p14:sldId id="635"/>
            <p14:sldId id="633"/>
            <p14:sldId id="634"/>
            <p14:sldId id="637"/>
            <p14:sldId id="638"/>
            <p14:sldId id="636"/>
            <p14:sldId id="639"/>
            <p14:sldId id="640"/>
            <p14:sldId id="642"/>
            <p14:sldId id="641"/>
            <p14:sldId id="643"/>
            <p14:sldId id="644"/>
            <p14:sldId id="645"/>
            <p14:sldId id="630"/>
            <p14:sldId id="631"/>
            <p14:sldId id="646"/>
            <p14:sldId id="648"/>
            <p14:sldId id="649"/>
            <p14:sldId id="650"/>
            <p14:sldId id="651"/>
            <p14:sldId id="652"/>
            <p14:sldId id="653"/>
            <p14:sldId id="647"/>
          </p14:sldIdLst>
        </p14:section>
        <p14:section name="CDA" id="{B6222352-8D9C-433B-B10B-B69FCFD515FF}">
          <p14:sldIdLst>
            <p14:sldId id="575"/>
            <p14:sldId id="655"/>
            <p14:sldId id="656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  <p14:sldId id="666"/>
            <p14:sldId id="665"/>
            <p14:sldId id="667"/>
            <p14:sldId id="5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ers Nymark Christensen" initials="ANC" lastIdx="1" clrIdx="0">
    <p:extLst>
      <p:ext uri="{19B8F6BF-5375-455C-9EA6-DF929625EA0E}">
        <p15:presenceInfo xmlns:p15="http://schemas.microsoft.com/office/powerpoint/2012/main" userId="S-1-5-21-4207196655-1284807994-987816898-9634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21ED4"/>
    <a:srgbClr val="F666E1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4675" autoAdjust="0"/>
  </p:normalViewPr>
  <p:slideViewPr>
    <p:cSldViewPr>
      <p:cViewPr varScale="1">
        <p:scale>
          <a:sx n="90" d="100"/>
          <a:sy n="90" d="100"/>
        </p:scale>
        <p:origin x="26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-10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commentAuthors" Target="commentAuthor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handoutMaster" Target="handoutMasters/handout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7CBDC-3B8C-47AA-91A1-C071FD27F9E4}" type="datetimeFigureOut">
              <a:rPr lang="da-DK" smtClean="0"/>
              <a:pPr/>
              <a:t>20-10-2025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599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599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81615-13A5-4414-9E50-96FF15D23B24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28887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BE258-6918-4AF2-A686-75E64DAA5DCF}" type="datetimeFigureOut">
              <a:rPr lang="da-DK" smtClean="0"/>
              <a:pPr/>
              <a:t>17-10-2025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1599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DC2F4-B5AC-4688-A019-1A152D2A024F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2954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DDF4-A329-3AC1-AC80-049E0B57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FB1AE0D-521E-9E16-FDB0-0BD781FAA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59683D1-DA97-12D1-6A28-1036897F7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A03094C-3A89-4AE2-7C79-69B60AAD3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1296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p=1: </a:t>
            </a:r>
            <a:r>
              <a:rPr lang="da-DK" dirty="0" err="1"/>
              <a:t>Generalizes</a:t>
            </a:r>
            <a:r>
              <a:rPr lang="da-DK" dirty="0"/>
              <a:t> </a:t>
            </a:r>
            <a:r>
              <a:rPr lang="da-DK" dirty="0" err="1"/>
              <a:t>previous</a:t>
            </a:r>
            <a:r>
              <a:rPr lang="da-DK" dirty="0"/>
              <a:t> Slide. T^2 er </a:t>
            </a:r>
            <a:r>
              <a:rPr lang="da-DK" dirty="0" err="1"/>
              <a:t>Hotellings</a:t>
            </a:r>
            <a:r>
              <a:rPr lang="da-DK" dirty="0"/>
              <a:t> T^2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995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72C45-C40E-B868-0C82-042030C4C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F719B-02AC-A72C-5901-D0F0DDD00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65D63-6099-0A1D-479A-8E8850019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137BD-C1BA-4F9E-5FFB-A7907DB7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5100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300D-441F-EA7A-690D-01FA9A182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C68D9-BE62-CCF6-DD2F-C09BF176A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EE4B9-4315-8D11-F8A5-EEC84716C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C5228-11B6-D936-8E93-1B0D1ED29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5137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Note: 0 i diagonalen.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1806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A62A0-0663-66B2-2D3E-BBD890A21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F885B-58AF-ACEB-E667-ED649C5F8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56C9A-B2AF-5535-6A87-5E5CF9A20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Note: f(x) er </a:t>
            </a:r>
            <a:r>
              <a:rPr lang="da-DK" dirty="0" err="1"/>
              <a:t>densities</a:t>
            </a:r>
            <a:r>
              <a:rPr lang="da-DK" dirty="0"/>
              <a:t>, kan benyttes da vi taler ratios, jfr. </a:t>
            </a:r>
            <a:r>
              <a:rPr lang="da-DK" dirty="0" err="1"/>
              <a:t>limiting</a:t>
            </a:r>
            <a:r>
              <a:rPr lang="da-DK" dirty="0"/>
              <a:t> argument i </a:t>
            </a:r>
            <a:r>
              <a:rPr lang="da-DK" dirty="0" err="1"/>
              <a:t>lecture</a:t>
            </a:r>
            <a:r>
              <a:rPr lang="da-DK" dirty="0"/>
              <a:t> 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C2E85-9ABE-12AA-0954-14399437B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1931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DF573-EF2E-BDEC-7C19-D83CF9F4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C3D73-4DAE-68AC-E9F8-E596FB547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E8F2FF3-481D-F2CF-0DCE-01636C0FC6A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da-DK" b="0" dirty="0"/>
                  <a:t> </a:t>
                </a:r>
                <a:r>
                  <a:rPr lang="da-DK" b="0" dirty="0" err="1"/>
                  <a:t>doesn’t</a:t>
                </a:r>
                <a:r>
                  <a:rPr lang="da-DK" b="0" dirty="0"/>
                  <a:t> </a:t>
                </a:r>
                <a:r>
                  <a:rPr lang="da-DK" b="0" dirty="0" err="1"/>
                  <a:t>depend</a:t>
                </a:r>
                <a:r>
                  <a:rPr lang="da-DK" b="0" dirty="0"/>
                  <a:t> on the </a:t>
                </a:r>
                <a:r>
                  <a:rPr lang="da-DK" b="0" dirty="0" err="1"/>
                  <a:t>loss</a:t>
                </a:r>
                <a:r>
                  <a:rPr lang="da-DK" b="0" dirty="0"/>
                  <a:t>.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E8F2FF3-481D-F2CF-0DCE-01636C0FC6A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a-DK" sz="1200" b="0" i="0">
                    <a:latin typeface="Cambria Math" panose="02040503050406030204" pitchFamily="18" charset="0"/>
                  </a:rPr>
                  <a:t>1/(∑2_(𝑗=1)^𝑘▒〖𝑓_𝑗 (𝑥) 𝑝_𝑗 〗)</a:t>
                </a:r>
                <a:r>
                  <a:rPr lang="da-DK" b="0" dirty="0"/>
                  <a:t> </a:t>
                </a:r>
                <a:r>
                  <a:rPr lang="da-DK" b="0" dirty="0" err="1"/>
                  <a:t>doesn’t</a:t>
                </a:r>
                <a:r>
                  <a:rPr lang="da-DK" b="0" dirty="0"/>
                  <a:t> </a:t>
                </a:r>
                <a:r>
                  <a:rPr lang="da-DK" b="0" dirty="0" err="1"/>
                  <a:t>depend</a:t>
                </a:r>
                <a:r>
                  <a:rPr lang="da-DK" b="0" dirty="0"/>
                  <a:t> on the </a:t>
                </a:r>
                <a:r>
                  <a:rPr lang="da-DK" b="0" dirty="0" err="1"/>
                  <a:t>loss</a:t>
                </a:r>
                <a:r>
                  <a:rPr lang="da-DK" b="0" dirty="0"/>
                  <a:t>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44973-855A-6EF0-C341-FD2FF04B0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83440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4E1D3-1D28-9B88-4E8A-4E38904F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E4E8C-626D-19E2-FDBA-6D9406CFE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0021E56-D0FE-FAC0-AFB1-203F8C2470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da-DK" b="0" dirty="0"/>
                  <a:t> </a:t>
                </a:r>
                <a:r>
                  <a:rPr lang="da-DK" b="0" dirty="0" err="1"/>
                  <a:t>doesn’t</a:t>
                </a:r>
                <a:r>
                  <a:rPr lang="da-DK" b="0" dirty="0"/>
                  <a:t> </a:t>
                </a:r>
                <a:r>
                  <a:rPr lang="da-DK" b="0" dirty="0" err="1"/>
                  <a:t>depend</a:t>
                </a:r>
                <a:r>
                  <a:rPr lang="da-DK" b="0" dirty="0"/>
                  <a:t> on the </a:t>
                </a:r>
                <a:r>
                  <a:rPr lang="da-DK" b="0" dirty="0" err="1"/>
                  <a:t>loss</a:t>
                </a:r>
                <a:r>
                  <a:rPr lang="da-DK" b="0" dirty="0"/>
                  <a:t>.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0021E56-D0FE-FAC0-AFB1-203F8C2470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a-DK" sz="1200" b="0" i="0">
                    <a:latin typeface="Cambria Math" panose="02040503050406030204" pitchFamily="18" charset="0"/>
                  </a:rPr>
                  <a:t>1/(∑2_(𝑗=1)^𝑘▒〖𝑓_𝑗 (𝑥) 𝑝_𝑗 〗)</a:t>
                </a:r>
                <a:r>
                  <a:rPr lang="da-DK" b="0" dirty="0"/>
                  <a:t> </a:t>
                </a:r>
                <a:r>
                  <a:rPr lang="da-DK" b="0" dirty="0" err="1"/>
                  <a:t>doesn’t</a:t>
                </a:r>
                <a:r>
                  <a:rPr lang="da-DK" b="0" dirty="0"/>
                  <a:t> </a:t>
                </a:r>
                <a:r>
                  <a:rPr lang="da-DK" b="0" dirty="0" err="1"/>
                  <a:t>depend</a:t>
                </a:r>
                <a:r>
                  <a:rPr lang="da-DK" b="0" dirty="0"/>
                  <a:t> on the </a:t>
                </a:r>
                <a:r>
                  <a:rPr lang="da-DK" b="0" dirty="0" err="1"/>
                  <a:t>loss</a:t>
                </a:r>
                <a:r>
                  <a:rPr lang="da-DK" b="0" dirty="0"/>
                  <a:t>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A1323-E3D3-AEE8-2984-97A580A0A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11594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c hosen to </a:t>
            </a:r>
            <a:r>
              <a:rPr lang="da-DK" dirty="0" err="1"/>
              <a:t>make</a:t>
            </a:r>
            <a:r>
              <a:rPr lang="da-DK" dirty="0"/>
              <a:t> the </a:t>
            </a:r>
            <a:r>
              <a:rPr lang="da-DK" dirty="0" err="1"/>
              <a:t>formula</a:t>
            </a:r>
            <a:r>
              <a:rPr lang="da-DK" dirty="0"/>
              <a:t> as </a:t>
            </a:r>
            <a:r>
              <a:rPr lang="da-DK" dirty="0" err="1"/>
              <a:t>below</a:t>
            </a:r>
            <a:r>
              <a:rPr lang="da-DK" dirty="0"/>
              <a:t>, </a:t>
            </a:r>
            <a:r>
              <a:rPr lang="da-DK" dirty="0" err="1"/>
              <a:t>eliminating</a:t>
            </a:r>
            <a:r>
              <a:rPr lang="da-DK" dirty="0"/>
              <a:t> </a:t>
            </a:r>
            <a:r>
              <a:rPr lang="da-DK" dirty="0" err="1"/>
              <a:t>unnecessary</a:t>
            </a:r>
            <a:r>
              <a:rPr lang="da-DK" dirty="0"/>
              <a:t> factors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9353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C is </a:t>
            </a:r>
            <a:r>
              <a:rPr lang="da-DK" dirty="0" err="1"/>
              <a:t>adapted</a:t>
            </a:r>
            <a:r>
              <a:rPr lang="da-DK" dirty="0"/>
              <a:t> to </a:t>
            </a:r>
            <a:r>
              <a:rPr lang="da-DK" dirty="0" err="1"/>
              <a:t>remove</a:t>
            </a:r>
            <a:r>
              <a:rPr lang="da-DK" dirty="0"/>
              <a:t> the common determinant from the </a:t>
            </a:r>
            <a:r>
              <a:rPr lang="da-DK" dirty="0" err="1"/>
              <a:t>expression</a:t>
            </a:r>
            <a:r>
              <a:rPr lang="da-DK" dirty="0"/>
              <a:t>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7567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2421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68250-087D-7071-C454-B8417886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8B0B3-59B4-47E2-4636-368946D74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50FD0-62C2-8B45-7A78-C87BB4C65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FD6F5-70EA-EDC9-67B3-3A0E89F5E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4239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A0171-A4D5-1E82-C8F4-83D4EC51E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E3453-BAC4-DAF7-3744-20CA4D788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5A188-6D86-9F79-94D0-200BF97E9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Vi skal bruge disse </a:t>
            </a:r>
            <a:r>
              <a:rPr lang="da-DK" dirty="0" err="1"/>
              <a:t>concepter</a:t>
            </a:r>
            <a:r>
              <a:rPr lang="da-DK" dirty="0"/>
              <a:t> senere, lige nu fokuserer vi på W til parameter </a:t>
            </a:r>
            <a:r>
              <a:rPr lang="da-DK" dirty="0" err="1"/>
              <a:t>estimation</a:t>
            </a:r>
            <a:r>
              <a:rPr lang="da-DK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F18C9-0977-95B9-4EF9-EC1DCD056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5622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AF75E-7257-3669-568C-9F448542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B417F-18A5-7361-A4A6-185E769CA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C68AF-7A5D-4539-755B-2A7D50B0F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1D41B-1BD7-D2FD-6380-3015CBCF2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30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746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a-DK" dirty="0"/>
                  <a:t>Formula from Lemma 4.1 page 278. If H_0 is not true, </a:t>
                </a:r>
                <a:r>
                  <a:rPr lang="da-DK" dirty="0" err="1"/>
                  <a:t>then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a-DK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a-DK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a-DK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da-DK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da-DK" sz="1200" b="0" i="1" smtClean="0">
                        <a:latin typeface="Cambria Math" panose="02040503050406030204" pitchFamily="18" charset="0"/>
                      </a:rPr>
                      <m:t>≠</m:t>
                    </m:r>
                    <m:sSubSup>
                      <m:sSubSupPr>
                        <m:ctrlPr>
                          <a:rPr lang="da-DK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a-DK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a-DK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da-DK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da-DK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da-DK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dirty="0"/>
                  <a:t> for </a:t>
                </a:r>
                <a:r>
                  <a:rPr lang="da-DK" dirty="0" err="1"/>
                  <a:t>some</a:t>
                </a:r>
                <a:r>
                  <a:rPr lang="da-DK" dirty="0"/>
                  <a:t> i and j, and the test is no longer </a:t>
                </a:r>
                <a:r>
                  <a:rPr lang="da-DK" dirty="0" err="1"/>
                  <a:t>symmetric</a:t>
                </a:r>
                <a:r>
                  <a:rPr lang="da-DK" baseline="0" dirty="0"/>
                  <a:t> in i and j.</a:t>
                </a:r>
                <a:endParaRPr lang="da-DK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a-DK" dirty="0"/>
                  <a:t>Formula from Lemma 4.1 page 278. If H_0 is not true, </a:t>
                </a:r>
                <a:r>
                  <a:rPr lang="da-DK" dirty="0" err="1"/>
                  <a:t>then</a:t>
                </a:r>
                <a:r>
                  <a:rPr lang="da-DK" dirty="0"/>
                  <a:t> </a:t>
                </a:r>
                <a:r>
                  <a:rPr lang="da-DK" sz="1200" b="0" i="0">
                    <a:latin typeface="Cambria Math" panose="02040503050406030204" pitchFamily="18" charset="0"/>
                  </a:rPr>
                  <a:t>𝐷_𝑖^2 (𝜇 ̂_𝑗 )≠</a:t>
                </a:r>
                <a:r>
                  <a:rPr lang="da-DK" sz="1200" i="0">
                    <a:latin typeface="Cambria Math" panose="02040503050406030204" pitchFamily="18" charset="0"/>
                  </a:rPr>
                  <a:t>𝐷_</a:t>
                </a:r>
                <a:r>
                  <a:rPr lang="da-DK" sz="1200" b="0" i="0">
                    <a:latin typeface="Cambria Math" panose="02040503050406030204" pitchFamily="18" charset="0"/>
                  </a:rPr>
                  <a:t>𝑗^</a:t>
                </a:r>
                <a:r>
                  <a:rPr lang="da-DK" sz="1200" i="0">
                    <a:latin typeface="Cambria Math" panose="02040503050406030204" pitchFamily="18" charset="0"/>
                  </a:rPr>
                  <a:t>2 (𝜇 ̂_</a:t>
                </a:r>
                <a:r>
                  <a:rPr lang="da-DK" sz="1200" b="0" i="0">
                    <a:latin typeface="Cambria Math" panose="02040503050406030204" pitchFamily="18" charset="0"/>
                  </a:rPr>
                  <a:t>𝑖 )</a:t>
                </a:r>
                <a:r>
                  <a:rPr lang="da-DK" dirty="0"/>
                  <a:t>, and the test is no longer </a:t>
                </a:r>
                <a:r>
                  <a:rPr lang="da-DK" dirty="0" err="1"/>
                  <a:t>symmetric</a:t>
                </a:r>
                <a:r>
                  <a:rPr lang="da-DK" baseline="0" dirty="0"/>
                  <a:t> in i and j.</a:t>
                </a:r>
                <a:endParaRPr lang="da-DK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32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5061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Maximum is the </a:t>
            </a:r>
            <a:r>
              <a:rPr lang="da-DK" dirty="0" err="1"/>
              <a:t>Mahanalobis</a:t>
            </a:r>
            <a:r>
              <a:rPr lang="da-DK" dirty="0"/>
              <a:t> distance </a:t>
            </a:r>
            <a:r>
              <a:rPr lang="da-DK" dirty="0" err="1"/>
              <a:t>between</a:t>
            </a:r>
            <a:r>
              <a:rPr lang="da-DK" dirty="0"/>
              <a:t> pi1 and pi2.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41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8096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Solution </a:t>
            </a:r>
            <a:r>
              <a:rPr lang="da-DK" dirty="0" err="1"/>
              <a:t>derived</a:t>
            </a:r>
            <a:r>
              <a:rPr lang="da-DK" dirty="0"/>
              <a:t> in detail for k=2 on </a:t>
            </a:r>
            <a:r>
              <a:rPr lang="da-DK" dirty="0" err="1"/>
              <a:t>blackboard</a:t>
            </a:r>
            <a:r>
              <a:rPr lang="da-DK" dirty="0"/>
              <a:t> in </a:t>
            </a:r>
            <a:r>
              <a:rPr lang="da-DK" dirty="0" err="1"/>
              <a:t>lecture</a:t>
            </a:r>
            <a:r>
              <a:rPr lang="da-DK" dirty="0"/>
              <a:t>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42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9898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23667-C4BA-4715-17F5-20E83C20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E967E-E6B6-8F59-8D83-34824781B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487EC-ED5C-095B-1895-8042AD896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63785-EC18-41EC-1AC2-9E306BA9B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43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7527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09EEE-9A69-2528-94D0-36D6EF190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AFC38-1356-AA53-D78A-8CB4F61BB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8DA7F-58F9-D80A-D4AA-129984A0C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7FCCD-EE36-FFE8-C6E5-22880FFCB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44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161471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ACA9-885B-E442-EFE0-BC2825D8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87238-30A8-B4C3-D92C-3EE8F51A9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821D6-BE54-B324-9454-C602DDFB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F41AD-5439-24A6-9B51-A75D8CDBE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45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42351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59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173417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65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40906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30075-AA5F-0F03-E4CA-5A2E14C7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2C4A70EC-D553-BF8D-103A-218A31161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F18BDC58-AE4C-EE78-F28F-6B04AEAC8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98BF2DE-7FC0-BF8D-65CA-348C74FAB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66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34941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096EA-6620-623F-A977-A142E07B5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F1EF91C-C75A-B420-EA62-A3A91BD6C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953E674-7974-4E26-308C-66A22F475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0EB7345-BBEB-8F02-139C-D4014DF71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67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6376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FEC20-08A7-2BA4-F073-504FCE511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B335646-C4E6-8401-545C-7282891FE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1F7CEBB-18FA-2604-CB04-49D93C30D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B85520F-65AE-D7F6-6A67-06AB99B08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68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92684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know </a:t>
            </a:r>
            <a:r>
              <a:rPr lang="da-DK" dirty="0" err="1"/>
              <a:t>move</a:t>
            </a:r>
            <a:r>
              <a:rPr lang="da-DK" dirty="0"/>
              <a:t> from the </a:t>
            </a:r>
            <a:r>
              <a:rPr lang="da-DK" dirty="0" err="1"/>
              <a:t>classification</a:t>
            </a:r>
            <a:r>
              <a:rPr lang="da-DK" dirty="0"/>
              <a:t> </a:t>
            </a:r>
            <a:r>
              <a:rPr lang="da-DK" dirty="0" err="1"/>
              <a:t>setting</a:t>
            </a:r>
            <a:r>
              <a:rPr lang="da-DK" dirty="0"/>
              <a:t> to regression. </a:t>
            </a:r>
            <a:r>
              <a:rPr lang="da-DK" dirty="0" err="1"/>
              <a:t>Where</a:t>
            </a:r>
            <a:r>
              <a:rPr lang="da-DK" dirty="0"/>
              <a:t> in </a:t>
            </a:r>
            <a:r>
              <a:rPr lang="da-DK" dirty="0" err="1"/>
              <a:t>classification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seek</a:t>
            </a:r>
            <a:r>
              <a:rPr lang="da-DK" dirty="0"/>
              <a:t> to separate or </a:t>
            </a:r>
            <a:r>
              <a:rPr lang="da-DK" dirty="0" err="1"/>
              <a:t>discriminate</a:t>
            </a:r>
            <a:r>
              <a:rPr lang="da-DK" dirty="0"/>
              <a:t> </a:t>
            </a:r>
            <a:r>
              <a:rPr lang="da-DK" dirty="0" err="1"/>
              <a:t>between</a:t>
            </a:r>
            <a:r>
              <a:rPr lang="da-DK" dirty="0"/>
              <a:t> </a:t>
            </a:r>
            <a:r>
              <a:rPr lang="da-DK" dirty="0" err="1"/>
              <a:t>classes</a:t>
            </a:r>
            <a:r>
              <a:rPr lang="da-DK" dirty="0"/>
              <a:t>, in regression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seek</a:t>
            </a:r>
            <a:r>
              <a:rPr lang="da-DK" dirty="0"/>
              <a:t> to model a </a:t>
            </a:r>
            <a:r>
              <a:rPr lang="da-DK" dirty="0" err="1"/>
              <a:t>continous</a:t>
            </a:r>
            <a:r>
              <a:rPr lang="da-DK" dirty="0"/>
              <a:t>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70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38059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Vis at P_M er </a:t>
            </a:r>
            <a:r>
              <a:rPr lang="da-DK" dirty="0" err="1"/>
              <a:t>surjektiv</a:t>
            </a:r>
            <a:r>
              <a:rPr lang="da-DK" dirty="0"/>
              <a:t> og </a:t>
            </a:r>
            <a:r>
              <a:rPr lang="da-DK" dirty="0" err="1"/>
              <a:t>idempotent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DC2F4-B5AC-4688-A019-1A152D2A024F}" type="slidenum">
              <a:rPr lang="da-DK" smtClean="0"/>
              <a:pPr/>
              <a:t>73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5557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18300-8CF7-4659-BCBB-E053AE519DE6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9A18A-B79C-4F10-AABA-E4E43F2560B3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A6627-3272-4DE2-8D99-7F6237F31E70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73FF3-3468-4183-A5EE-2FE8FB7CB5CA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47BAC-524B-4079-803D-24685E2FFF56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20513-4BED-48D5-8A13-56F1092056D0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DE1B7-8C0A-4B1E-97A8-E5A6D0A2AE33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FDBD38-6D18-46A6-9C67-FB6C134E69E3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7FFCF-14BC-4778-9E03-1A7806F9487B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DE100-3C52-4A2C-A6B3-362579D799B3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6BA315-56F7-4376-8749-586100F6A6F9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780F8-1381-45A7-A1BD-BCFA79A8CFC0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27B4C-40CA-4C95-B102-9462812EB1D7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81D64-7294-4D4F-95C9-4067E69C3BFE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831A05-614D-4B07-9CDD-308FC32312AE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77A76-7E2A-4B44-ADD1-2F8D3DEB3250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a-D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1B2B2-67D6-4EFE-8F38-9EB113384087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F58EC-84DD-4C4B-9686-D66CA22B0A78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36B43-6618-4D85-BF0B-AB08D11354D6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CE8-C6B4-4730-936B-67D5C3D1F2A9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AABD9-0D2C-449A-A496-AF9C73CB4459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CF38-37A5-4981-9C77-117EDDEC382E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33" y="252000"/>
            <a:ext cx="419666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 sz="180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92" y="3545117"/>
            <a:ext cx="10841439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noProof="0"/>
              <a:t>Click to edit Master title style</a:t>
            </a:r>
            <a:endParaRPr lang="da-DK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104" y="1704975"/>
            <a:ext cx="10841439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noProof="0" dirty="0"/>
              <a:t>Click to edit Master subtitle style</a:t>
            </a:r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38455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92" y="3545117"/>
            <a:ext cx="10841439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/>
              <a:t>Click to edit Master title style</a:t>
            </a:r>
            <a:endParaRPr lang="da-DK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104" y="1704975"/>
            <a:ext cx="10841439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/>
              <a:t>Click to edit Master subtitle style</a:t>
            </a:r>
            <a:endParaRPr lang="da-DK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3309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41426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1117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957" y="426127"/>
            <a:ext cx="9313586" cy="972716"/>
          </a:xfrm>
        </p:spPr>
        <p:txBody>
          <a:bodyPr/>
          <a:lstStyle/>
          <a:p>
            <a:r>
              <a:rPr lang="da-DK"/>
              <a:t>Click to edit Master title style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5032" y="1706399"/>
            <a:ext cx="4410751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870" y="1706399"/>
            <a:ext cx="4409674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5734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957" y="426127"/>
            <a:ext cx="6049459" cy="972716"/>
          </a:xfrm>
        </p:spPr>
        <p:txBody>
          <a:bodyPr/>
          <a:lstStyle/>
          <a:p>
            <a:r>
              <a:rPr lang="da-DK"/>
              <a:t>Click to edit Master title style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957" y="1706328"/>
            <a:ext cx="6049459" cy="4545578"/>
          </a:xfrm>
        </p:spPr>
        <p:txBody>
          <a:bodyPr/>
          <a:lstStyle/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2298" y="849734"/>
            <a:ext cx="3859702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2298" y="3563718"/>
            <a:ext cx="3859702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  <a:p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11039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>
          <p15:clr>
            <a:srgbClr val="F26B43"/>
          </p15:clr>
        </p15:guide>
        <p15:guide id="2" pos="5247">
          <p15:clr>
            <a:srgbClr val="F26B43"/>
          </p15:clr>
        </p15:guide>
        <p15:guide id="3" pos="1117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909" y="426127"/>
            <a:ext cx="6866634" cy="972716"/>
          </a:xfrm>
        </p:spPr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909" y="1706328"/>
            <a:ext cx="6866634" cy="4545578"/>
          </a:xfrm>
        </p:spPr>
        <p:txBody>
          <a:bodyPr/>
          <a:lstStyle/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483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483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  <a:p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36872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2660">
          <p15:clr>
            <a:srgbClr val="F26B43"/>
          </p15:clr>
        </p15:guide>
        <p15:guide id="3" pos="2335">
          <p15:clr>
            <a:srgbClr val="F26B43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82" y="980728"/>
            <a:ext cx="3740887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da-DK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82" y="4407151"/>
            <a:ext cx="3740887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3300" y="979201"/>
            <a:ext cx="3740887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da-DK" dirty="0"/>
              <a:t>Click to add title one line</a:t>
            </a:r>
            <a:endParaRPr lang="da-DK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3300" y="4406900"/>
            <a:ext cx="3740888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endParaRPr lang="da-DK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8917" y="979201"/>
            <a:ext cx="3740887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da-DK" dirty="0"/>
              <a:t>Click to add title one line</a:t>
            </a:r>
            <a:endParaRPr lang="da-DK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8917" y="4406900"/>
            <a:ext cx="3740887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endParaRPr lang="da-DK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82" y="1546282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699" y="1548581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9715" y="1546282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15462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8344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16121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4787" cy="68616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1174" y="1651373"/>
            <a:ext cx="2388634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 sz="1800"/>
          </a:p>
        </p:txBody>
      </p:sp>
    </p:spTree>
    <p:extLst>
      <p:ext uri="{BB962C8B-B14F-4D97-AF65-F5344CB8AC3E}">
        <p14:creationId xmlns:p14="http://schemas.microsoft.com/office/powerpoint/2010/main" val="3600369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4787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1174" y="1651373"/>
            <a:ext cx="2388634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FD08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 sz="180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4787" cy="3168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4787" cy="504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2174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AAED109-E184-49CD-B99E-BA6ADB500132}" type="datetime1">
              <a:rPr lang="da-DK" smtClean="0"/>
              <a:pPr>
                <a:defRPr/>
              </a:pPr>
              <a:t>17-10-2025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16D3E5F-14A3-49B0-8864-C787FC87CB98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33" y="252000"/>
            <a:ext cx="419666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FD08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 sz="180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4787" cy="3168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957" y="426127"/>
            <a:ext cx="9313586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957" y="1706328"/>
            <a:ext cx="9313586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endParaRPr lang="da-DK" dirty="0"/>
          </a:p>
        </p:txBody>
      </p:sp>
      <p:sp>
        <p:nvSpPr>
          <p:cNvPr id="113676" name="text" descr="{&quot;templafy&quot;:{&quot;id&quot;:&quot;1478b48b-58a6-4694-9b73-3593e08dd0de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958" y="6541200"/>
            <a:ext cx="3397513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Danmarks Tekniske Universitet</a:t>
            </a:r>
          </a:p>
        </p:txBody>
      </p:sp>
      <p:sp>
        <p:nvSpPr>
          <p:cNvPr id="5" name="date" descr="{&quot;templafy&quot;:{&quot;id&quot;:&quot;a20a7ca0-91a9-4908-a929-770486b3be8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96" y="6541200"/>
            <a:ext cx="1104157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11. august 2020</a:t>
            </a:r>
          </a:p>
        </p:txBody>
      </p:sp>
      <p:sp>
        <p:nvSpPr>
          <p:cNvPr id="7" name="text" descr="{&quot;templafy&quot;:{&quot;id&quot;:&quot;6bd1256b-7205-49cc-ba43-051dbf3dc160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878" y="6541200"/>
            <a:ext cx="5496664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4787" cy="504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461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>
          <p15:clr>
            <a:srgbClr val="F26B43"/>
          </p15:clr>
        </p15:guide>
        <p15:guide id="4" orient="horz" pos="881">
          <p15:clr>
            <a:srgbClr val="F26B43"/>
          </p15:clr>
        </p15:guide>
        <p15:guide id="5" orient="horz" pos="1074">
          <p15:clr>
            <a:srgbClr val="F26B43"/>
          </p15:clr>
        </p15:guide>
        <p15:guide id="6" orient="horz" pos="39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dn-images-1.medium.com/max/638/1*4sixxtuD8unWceZ-yp9TgQ.jpeg" TargetMode="Externa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B23634AB-541E-2D82-C9F7-41CB34FF0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47" b="11347"/>
          <a:stretch/>
        </p:blipFill>
        <p:spPr bwMode="auto">
          <a:xfrm>
            <a:off x="12000" y="1"/>
            <a:ext cx="12168000" cy="686214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368" y="1346156"/>
            <a:ext cx="8725800" cy="1296888"/>
          </a:xfrm>
        </p:spPr>
        <p:txBody>
          <a:bodyPr>
            <a:noAutofit/>
          </a:bodyPr>
          <a:lstStyle/>
          <a:p>
            <a:pPr algn="l"/>
            <a:r>
              <a:rPr lang="it-IT" b="1" dirty="0">
                <a:solidFill>
                  <a:srgbClr val="C00000"/>
                </a:solidFill>
              </a:rPr>
              <a:t>02409 Multivariate Statistics</a:t>
            </a:r>
            <a:br>
              <a:rPr lang="it-IT" sz="4800" b="1" dirty="0">
                <a:solidFill>
                  <a:srgbClr val="C00000"/>
                </a:solidFill>
              </a:rPr>
            </a:br>
            <a:endParaRPr lang="da-DK" sz="48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344" y="3240426"/>
            <a:ext cx="11245157" cy="30243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it-IT" sz="2400" b="1" dirty="0">
                <a:solidFill>
                  <a:srgbClr val="FF0000"/>
                </a:solidFill>
              </a:rPr>
              <a:t>Lecture G, October 20 2025</a:t>
            </a:r>
          </a:p>
          <a:p>
            <a:pPr algn="l"/>
            <a:r>
              <a:rPr lang="da-DK" sz="2400" b="1" dirty="0">
                <a:solidFill>
                  <a:srgbClr val="FF0000"/>
                </a:solidFill>
              </a:rPr>
              <a:t>Anders Stockmarr</a:t>
            </a:r>
          </a:p>
          <a:p>
            <a:pPr algn="l"/>
            <a:r>
              <a:rPr lang="da-DK" sz="2400" b="1" dirty="0">
                <a:solidFill>
                  <a:srgbClr val="FF0000"/>
                </a:solidFill>
              </a:rPr>
              <a:t>anst@dtu.dk</a:t>
            </a:r>
          </a:p>
          <a:p>
            <a:pPr algn="l"/>
            <a:endParaRPr lang="da-DK" sz="2400" b="1" dirty="0">
              <a:solidFill>
                <a:srgbClr val="FFFF00"/>
              </a:solidFill>
            </a:endParaRPr>
          </a:p>
          <a:p>
            <a:pPr algn="l"/>
            <a:endParaRPr lang="da-DK" sz="2400" b="1" dirty="0">
              <a:solidFill>
                <a:srgbClr val="FFFF00"/>
              </a:solidFill>
            </a:endParaRPr>
          </a:p>
          <a:p>
            <a:pPr algn="l"/>
            <a:r>
              <a:rPr lang="da-DK" sz="2400" b="1" dirty="0">
                <a:solidFill>
                  <a:srgbClr val="FF0000"/>
                </a:solidFill>
              </a:rPr>
              <a:t>Course developers:</a:t>
            </a:r>
          </a:p>
          <a:p>
            <a:pPr algn="l"/>
            <a:r>
              <a:rPr lang="da-DK" sz="2400" b="1" dirty="0">
                <a:solidFill>
                  <a:srgbClr val="FF0000"/>
                </a:solidFill>
              </a:rPr>
              <a:t>Anders Stockmarr</a:t>
            </a:r>
          </a:p>
          <a:p>
            <a:pPr algn="l"/>
            <a:r>
              <a:rPr lang="da-DK" sz="2400" b="1" dirty="0">
                <a:solidFill>
                  <a:srgbClr val="FF0000"/>
                </a:solidFill>
              </a:rPr>
              <a:t>Anders </a:t>
            </a:r>
            <a:r>
              <a:rPr lang="da-DK" sz="2400" b="1" dirty="0" err="1">
                <a:solidFill>
                  <a:srgbClr val="FF0000"/>
                </a:solidFill>
              </a:rPr>
              <a:t>Nymark</a:t>
            </a:r>
            <a:r>
              <a:rPr lang="da-DK" sz="2400" b="1" dirty="0">
                <a:solidFill>
                  <a:srgbClr val="FF0000"/>
                </a:solidFill>
              </a:rPr>
              <a:t> Christensen</a:t>
            </a:r>
          </a:p>
        </p:txBody>
      </p:sp>
      <p:pic>
        <p:nvPicPr>
          <p:cNvPr id="5" name="Picture 4" descr="DTU Corporate logo_F_A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537" y="279398"/>
            <a:ext cx="731989" cy="106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5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83832" y="602703"/>
            <a:ext cx="1919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rgbClr val="C00000"/>
                </a:solidFill>
                <a:latin typeface="Verdana" pitchFamily="34" charset="0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5520" y="1466957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da-DK" sz="2400" dirty="0"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da-DK" sz="2400" dirty="0" err="1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Concepts</a:t>
            </a: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 in </a:t>
            </a:r>
            <a:r>
              <a:rPr lang="da-DK" sz="2400" dirty="0" err="1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discriminant</a:t>
            </a: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 </a:t>
            </a:r>
            <a:r>
              <a:rPr lang="da-DK" sz="2400" dirty="0" err="1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analysis</a:t>
            </a: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: 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MINIMAX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LDF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QDF</a:t>
            </a:r>
          </a:p>
          <a:p>
            <a:pPr lvl="1"/>
            <a:endParaRPr lang="da-DK" sz="2400" dirty="0"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da-DK" sz="2400" dirty="0" err="1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Canonical</a:t>
            </a: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 </a:t>
            </a:r>
            <a:r>
              <a:rPr lang="da-DK" sz="2400" dirty="0" err="1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Discriminant</a:t>
            </a: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 </a:t>
            </a:r>
            <a:r>
              <a:rPr lang="da-DK" sz="2400" dirty="0" err="1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analysis</a:t>
            </a:r>
            <a:endParaRPr lang="da-DK" sz="2400" dirty="0"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da-DK" sz="2400" dirty="0" err="1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Theory</a:t>
            </a:r>
            <a:endParaRPr lang="da-DK" sz="2400" dirty="0"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da-DK" sz="2400" dirty="0" err="1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Examples</a:t>
            </a: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 of </a:t>
            </a:r>
            <a:r>
              <a:rPr lang="da-DK" sz="2400" dirty="0" err="1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use</a:t>
            </a:r>
            <a:endParaRPr lang="da-DK" sz="2400" dirty="0"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endParaRPr lang="da-DK" sz="2400" dirty="0"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da-DK" sz="2400" dirty="0" err="1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Introduction</a:t>
            </a: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 to GLM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da-DK" sz="2400" dirty="0"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The General Linear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9878B-A769-418D-BB9E-42C7D7A1A337}" type="slidenum">
              <a:rPr lang="da-DK" smtClean="0"/>
              <a:pPr/>
              <a:t>2</a:t>
            </a:fld>
            <a:endParaRPr lang="da-DK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8E442-16BE-C1BC-C735-6153CE818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Discriminant</a:t>
            </a:r>
            <a:r>
              <a:rPr lang="da-DK" b="1" dirty="0">
                <a:solidFill>
                  <a:srgbClr val="C00000"/>
                </a:solidFill>
              </a:rPr>
              <a:t>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C98ED179-E3CF-BAE0-7303-208133EEEA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68760"/>
                <a:ext cx="10972800" cy="4525963"/>
              </a:xfrm>
            </p:spPr>
            <p:txBody>
              <a:bodyPr/>
              <a:lstStyle/>
              <a:p>
                <a:r>
                  <a:rPr lang="da-DK" sz="2400" dirty="0"/>
                  <a:t>We </a:t>
                </a:r>
                <a:r>
                  <a:rPr lang="da-DK" sz="2400" dirty="0" err="1"/>
                  <a:t>seek</a:t>
                </a:r>
                <a:r>
                  <a:rPr lang="da-DK" sz="2400" dirty="0"/>
                  <a:t> a </a:t>
                </a:r>
                <a:r>
                  <a:rPr lang="da-DK" sz="2400" dirty="0" err="1"/>
                  <a:t>function</a:t>
                </a:r>
                <a:r>
                  <a:rPr lang="da-DK" sz="2400" dirty="0"/>
                  <a:t> to </a:t>
                </a:r>
                <a:r>
                  <a:rPr lang="da-DK" sz="2400" dirty="0" err="1"/>
                  <a:t>determine</a:t>
                </a:r>
                <a:r>
                  <a:rPr lang="da-DK" sz="2400" dirty="0"/>
                  <a:t>, </a:t>
                </a:r>
                <a:r>
                  <a:rPr lang="da-DK" sz="2400" dirty="0" err="1"/>
                  <a:t>based</a:t>
                </a:r>
                <a:r>
                  <a:rPr lang="da-DK" sz="2400" dirty="0"/>
                  <a:t> on </a:t>
                </a:r>
                <a:r>
                  <a:rPr lang="da-DK" sz="2400" dirty="0" err="1"/>
                  <a:t>observational</a:t>
                </a:r>
                <a:r>
                  <a:rPr lang="da-DK" sz="2400" dirty="0"/>
                  <a:t> data, </a:t>
                </a:r>
                <a:r>
                  <a:rPr lang="da-DK" sz="2400" dirty="0" err="1"/>
                  <a:t>if</a:t>
                </a:r>
                <a:r>
                  <a:rPr lang="da-DK" sz="2400" dirty="0"/>
                  <a:t> a </a:t>
                </a:r>
                <a:r>
                  <a:rPr lang="da-DK" sz="2400" dirty="0" err="1"/>
                  <a:t>subject</a:t>
                </a:r>
                <a:r>
                  <a:rPr lang="da-DK" sz="2400" dirty="0"/>
                  <a:t> </a:t>
                </a:r>
                <a:r>
                  <a:rPr lang="da-DK" sz="2400" dirty="0" err="1"/>
                  <a:t>belongs</a:t>
                </a:r>
                <a:r>
                  <a:rPr lang="da-DK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a-DK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sz="2400" dirty="0"/>
                  <a:t>:</a:t>
                </a:r>
              </a:p>
              <a:p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r>
                  <a:rPr lang="da-DK" sz="2400" dirty="0" err="1"/>
                  <a:t>Since</a:t>
                </a:r>
                <a:r>
                  <a:rPr lang="da-DK" sz="2400" dirty="0"/>
                  <a:t> d </a:t>
                </a:r>
                <a:r>
                  <a:rPr lang="da-DK" sz="2400" dirty="0" err="1"/>
                  <a:t>can</a:t>
                </a:r>
                <a:r>
                  <a:rPr lang="da-DK" sz="2400" dirty="0"/>
                  <a:t> </a:t>
                </a:r>
                <a:r>
                  <a:rPr lang="da-DK" sz="2400" dirty="0" err="1"/>
                  <a:t>only</a:t>
                </a:r>
                <a:r>
                  <a:rPr lang="da-DK" sz="2400" dirty="0"/>
                  <a:t> </a:t>
                </a:r>
                <a:r>
                  <a:rPr lang="da-DK" sz="2400" dirty="0" err="1"/>
                  <a:t>attain</a:t>
                </a:r>
                <a:r>
                  <a:rPr lang="da-DK" sz="2400" dirty="0"/>
                  <a:t> </a:t>
                </a:r>
                <a:r>
                  <a:rPr lang="da-DK" sz="2400" dirty="0" err="1"/>
                  <a:t>two</a:t>
                </a:r>
                <a:r>
                  <a:rPr lang="da-DK" sz="2400" dirty="0"/>
                  <a:t> </a:t>
                </a:r>
                <a:r>
                  <a:rPr lang="da-DK" sz="2400" dirty="0" err="1"/>
                  <a:t>values</a:t>
                </a:r>
                <a:r>
                  <a:rPr lang="da-DK" sz="2400" dirty="0"/>
                  <a:t>, it </a:t>
                </a:r>
                <a:r>
                  <a:rPr lang="da-DK" sz="2400" dirty="0" err="1"/>
                  <a:t>will</a:t>
                </a:r>
                <a:r>
                  <a:rPr lang="da-DK" sz="2400" dirty="0"/>
                  <a:t> </a:t>
                </a:r>
                <a:r>
                  <a:rPr lang="da-DK" sz="2400" dirty="0" err="1"/>
                  <a:t>necessarily</a:t>
                </a:r>
                <a:r>
                  <a:rPr lang="da-DK" sz="2400" dirty="0"/>
                  <a:t> </a:t>
                </a:r>
                <a:r>
                  <a:rPr lang="da-DK" sz="2400" dirty="0" err="1"/>
                  <a:t>subdivide</a:t>
                </a:r>
                <a:r>
                  <a:rPr lang="da-DK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da-DK" sz="2400" dirty="0"/>
                  <a:t> </a:t>
                </a:r>
                <a:r>
                  <a:rPr lang="da-DK" sz="2400" dirty="0" err="1"/>
                  <a:t>into</a:t>
                </a:r>
                <a:r>
                  <a:rPr lang="da-DK" sz="2400" dirty="0"/>
                  <a:t> </a:t>
                </a:r>
                <a:r>
                  <a:rPr lang="da-DK" sz="2400" dirty="0" err="1"/>
                  <a:t>two</a:t>
                </a:r>
                <a:r>
                  <a:rPr lang="da-DK" sz="2400" dirty="0"/>
                  <a:t> </a:t>
                </a:r>
                <a:r>
                  <a:rPr lang="da-DK" sz="2400" dirty="0" err="1"/>
                  <a:t>disjoint</a:t>
                </a:r>
                <a:r>
                  <a:rPr lang="da-DK" sz="2400" dirty="0"/>
                  <a:t> subsets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sz="2400" dirty="0"/>
                  <a:t>: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  <a:p>
                <a:endParaRPr lang="da-DK" sz="2800" dirty="0"/>
              </a:p>
              <a:p>
                <a:r>
                  <a:rPr lang="da-DK" sz="2800" dirty="0"/>
                  <a:t>If </a:t>
                </a:r>
                <a:r>
                  <a:rPr lang="da-DK" sz="2800" dirty="0" err="1"/>
                  <a:t>we</a:t>
                </a:r>
                <a:r>
                  <a:rPr lang="da-DK" sz="2800" dirty="0"/>
                  <a:t> </a:t>
                </a:r>
                <a:r>
                  <a:rPr lang="da-DK" sz="2800" dirty="0" err="1"/>
                  <a:t>choose</a:t>
                </a:r>
                <a:r>
                  <a:rPr lang="da-DK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a-DK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da-DK" sz="2800" dirty="0" err="1"/>
                  <a:t>we</a:t>
                </a:r>
                <a:r>
                  <a:rPr lang="da-DK" sz="2800" dirty="0"/>
                  <a:t> </a:t>
                </a:r>
                <a:r>
                  <a:rPr lang="da-DK" sz="2800" dirty="0" err="1"/>
                  <a:t>choose</a:t>
                </a:r>
                <a:r>
                  <a:rPr lang="da-DK" sz="2800" dirty="0"/>
                  <a:t> </a:t>
                </a:r>
                <a14:m>
                  <m:oMath xmlns:m="http://schemas.openxmlformats.org/officeDocument/2006/math">
                    <m:r>
                      <a:rPr lang="da-DK" sz="28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a-DK" sz="2800" dirty="0"/>
                  <a:t>!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C98ED179-E3CF-BAE0-7303-208133EEE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68760"/>
                <a:ext cx="10972800" cy="4525963"/>
              </a:xfrm>
              <a:blipFill>
                <a:blip r:embed="rId2"/>
                <a:stretch>
                  <a:fillRect l="-1000" t="-1077" b="-1763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B17BA7D-3A97-3543-1B82-1C5E91E6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257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152B3-A369-37F1-4DA9-8EDF5EF39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61482-9F17-56B4-2A10-A136E083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The </a:t>
            </a:r>
            <a:r>
              <a:rPr lang="da-DK" b="1" dirty="0" err="1">
                <a:solidFill>
                  <a:srgbClr val="C00000"/>
                </a:solidFill>
              </a:rPr>
              <a:t>Bayes</a:t>
            </a:r>
            <a:r>
              <a:rPr lang="da-DK" b="1" dirty="0">
                <a:solidFill>
                  <a:srgbClr val="C00000"/>
                </a:solidFill>
              </a:rPr>
              <a:t> and </a:t>
            </a:r>
            <a:r>
              <a:rPr lang="da-DK" b="1" dirty="0" err="1">
                <a:solidFill>
                  <a:srgbClr val="C00000"/>
                </a:solidFill>
              </a:rPr>
              <a:t>Minimax</a:t>
            </a:r>
            <a:r>
              <a:rPr lang="da-DK" b="1" dirty="0">
                <a:solidFill>
                  <a:srgbClr val="C00000"/>
                </a:solidFill>
              </a:rPr>
              <a:t> Solutions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3EFCBF52-7880-D53F-74CF-B272C27E4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970491" y="1276561"/>
            <a:ext cx="8251018" cy="2152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1D4A8C1-2384-D2F5-0B06-CC5CF0C5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</a:t>
            </a:fld>
            <a:endParaRPr lang="da-DK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14A5E51F-01AA-D78F-B4BE-E4236A3C7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491" y="3763019"/>
            <a:ext cx="7496554" cy="299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5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C1D7B-54D6-E46B-C7C8-5DA669AD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The </a:t>
            </a:r>
            <a:r>
              <a:rPr lang="da-DK" b="1" dirty="0" err="1">
                <a:solidFill>
                  <a:srgbClr val="C00000"/>
                </a:solidFill>
              </a:rPr>
              <a:t>Linear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Discriminator</a:t>
            </a:r>
            <a:endParaRPr lang="da-DK" b="1" dirty="0">
              <a:solidFill>
                <a:srgbClr val="C00000"/>
              </a:solidFill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17744C-EAEC-B57A-9031-78E095D7E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 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C97D870-01FB-2BD1-87C4-5AF4B06D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</a:t>
            </a:fld>
            <a:endParaRPr lang="da-DK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9B9B9246-FC87-FB24-8864-C329DD1B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2284809"/>
            <a:ext cx="6292645" cy="2939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CBA3E5B6-2159-B841-CCA5-D84DCC78D285}"/>
                  </a:ext>
                </a:extLst>
              </p:cNvPr>
              <p:cNvSpPr txBox="1"/>
              <p:nvPr/>
            </p:nvSpPr>
            <p:spPr>
              <a:xfrm>
                <a:off x="2875143" y="5563060"/>
                <a:ext cx="6098146" cy="657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da-DK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da-DK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da-DK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da-DK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da-DK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da-DK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/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CBA3E5B6-2159-B841-CCA5-D84DCC78D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143" y="5563060"/>
                <a:ext cx="6098146" cy="657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llipse 7">
            <a:extLst>
              <a:ext uri="{FF2B5EF4-FFF2-40B4-BE49-F238E27FC236}">
                <a16:creationId xmlns:a16="http://schemas.microsoft.com/office/drawing/2014/main" id="{52621026-3422-16BD-9BAF-E0D7EB1F4E56}"/>
              </a:ext>
            </a:extLst>
          </p:cNvPr>
          <p:cNvSpPr/>
          <p:nvPr/>
        </p:nvSpPr>
        <p:spPr>
          <a:xfrm>
            <a:off x="4583832" y="3334552"/>
            <a:ext cx="432048" cy="38248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AAA50FA-E305-B965-5B0F-5248326FEB16}"/>
              </a:ext>
            </a:extLst>
          </p:cNvPr>
          <p:cNvSpPr/>
          <p:nvPr/>
        </p:nvSpPr>
        <p:spPr>
          <a:xfrm>
            <a:off x="6168008" y="3372251"/>
            <a:ext cx="432048" cy="38248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1A324F9-61C6-18DE-6D00-B44394FC2B91}"/>
              </a:ext>
            </a:extLst>
          </p:cNvPr>
          <p:cNvSpPr/>
          <p:nvPr/>
        </p:nvSpPr>
        <p:spPr>
          <a:xfrm>
            <a:off x="7316479" y="3371660"/>
            <a:ext cx="432048" cy="38248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felt 10">
                <a:extLst>
                  <a:ext uri="{FF2B5EF4-FFF2-40B4-BE49-F238E27FC236}">
                    <a16:creationId xmlns:a16="http://schemas.microsoft.com/office/drawing/2014/main" id="{3C1FE1BF-DAC4-0F11-3618-45B8FC6C8E00}"/>
                  </a:ext>
                </a:extLst>
              </p:cNvPr>
              <p:cNvSpPr txBox="1"/>
              <p:nvPr/>
            </p:nvSpPr>
            <p:spPr>
              <a:xfrm>
                <a:off x="9552384" y="3064127"/>
                <a:ext cx="24482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Prerequisite: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a-DK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individuals</a:t>
                </a:r>
                <a:r>
                  <a:rPr lang="da-DK" dirty="0"/>
                  <a:t> have the </a:t>
                </a:r>
                <a:r>
                  <a:rPr lang="da-DK" b="1" dirty="0">
                    <a:solidFill>
                      <a:srgbClr val="FF0000"/>
                    </a:solidFill>
                  </a:rPr>
                  <a:t>SAME</a:t>
                </a:r>
                <a:r>
                  <a:rPr lang="da-DK" dirty="0"/>
                  <a:t> </a:t>
                </a:r>
                <a:r>
                  <a:rPr lang="da-DK" dirty="0" err="1"/>
                  <a:t>variance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11" name="Tekstfelt 10">
                <a:extLst>
                  <a:ext uri="{FF2B5EF4-FFF2-40B4-BE49-F238E27FC236}">
                    <a16:creationId xmlns:a16="http://schemas.microsoft.com/office/drawing/2014/main" id="{3C1FE1BF-DAC4-0F11-3618-45B8FC6C8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384" y="3064127"/>
                <a:ext cx="2448272" cy="923330"/>
              </a:xfrm>
              <a:prstGeom prst="rect">
                <a:avLst/>
              </a:prstGeom>
              <a:blipFill>
                <a:blip r:embed="rId4"/>
                <a:stretch>
                  <a:fillRect l="-2239" t="-3974" b="-993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60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D48E67-8271-1277-F945-0857066AF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endParaRPr lang="da-DK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84BCEE6-F569-7E1D-6751-85D10426AF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sz="2400" dirty="0"/>
                  <a:t>Suppose </a:t>
                </a:r>
                <a:r>
                  <a:rPr lang="da-DK" sz="2400" dirty="0" err="1"/>
                  <a:t>that</a:t>
                </a: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⟷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a-DK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da-DK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⟷</m:t>
                      </m:r>
                      <m:r>
                        <a:rPr lang="da-DK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da-DK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with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a-DK" sz="18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1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18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da-DK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  2</m:t>
                                </m:r>
                              </m:e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2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2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a-DK" sz="24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Note </a:t>
                </a:r>
                <a:r>
                  <a:rPr lang="da-DK" sz="2400" dirty="0" err="1"/>
                  <a:t>that</a:t>
                </a:r>
                <a:r>
                  <a:rPr lang="da-DK" sz="2400" dirty="0"/>
                  <a:t>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𝑑𝑒𝑡</m:t>
                    </m:r>
                    <m:d>
                      <m:d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24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𝑑𝑒𝑡</m:t>
                        </m:r>
                      </m:fName>
                      <m:e>
                        <m:d>
                          <m:dPr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a-DK" sz="2400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a-DK" sz="2400" dirty="0"/>
                  <a:t> so </a:t>
                </a:r>
                <a:r>
                  <a:rPr lang="da-DK" sz="2400" dirty="0" err="1"/>
                  <a:t>that</a:t>
                </a: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sSubSup>
                                <m:sSubSup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sub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=1,2.</m:t>
                      </m:r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84BCEE6-F569-7E1D-6751-85D10426AF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3" t="-107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B1F3AA4-84E5-2A21-CF85-B1F3FD0F2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6627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9EB7-1725-5AA9-3294-62D8AB21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36B8E3-2089-0C14-FD9E-A31BE84FF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endParaRPr lang="da-DK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4209F8D-AA9A-9148-4697-2953924A84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2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12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a-DK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2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12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a-DK" sz="120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a-DK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12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12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da-DK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2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12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da-DK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  2</m:t>
                                </m:r>
                              </m:e>
                              <m:e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1200" i="1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1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a-DK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a-DK" sz="16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da-DK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a-DK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a-DK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16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⇔−</m:t>
                      </m:r>
                      <m:sSup>
                        <m:sSupPr>
                          <m:ctrlP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a-DK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≥2</m:t>
                      </m:r>
                      <m:func>
                        <m:funcPr>
                          <m:ctrlP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                                       </m:t>
                      </m:r>
                    </m:oMath>
                  </m:oMathPara>
                </a14:m>
                <a:endParaRPr lang="da-DK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da-DK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da-DK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da-DK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a-DK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da-DK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a-DK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da-DK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1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1800" i="1">
                                    <a:latin typeface="Cambria Math" panose="02040503050406030204" pitchFamily="18" charset="0"/>
                                  </a:rPr>
                                  <m:t>  2</m:t>
                                </m:r>
                              </m:e>
                              <m:e>
                                <m:r>
                                  <a:rPr lang="da-DK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da-DK" sz="180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da-DK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da-DK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da-DK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da-DK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a-DK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da-DK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da-DK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a-DK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da-DK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da-DK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≥2</m:t>
                      </m:r>
                      <m:func>
                        <m:funcPr>
                          <m:ctrlP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a-DK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+10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−6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−18</m:t>
                      </m:r>
                      <m:r>
                        <a:rPr lang="da-DK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≥2</m:t>
                      </m:r>
                      <m:func>
                        <m:funcPr>
                          <m:ctrlPr>
                            <a:rPr lang="da-DK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 algn="ctr">
                  <a:buNone/>
                </a:pPr>
                <a:r>
                  <a:rPr lang="da-DK" sz="1800" b="1" dirty="0"/>
                  <a:t>The </a:t>
                </a:r>
                <a:r>
                  <a:rPr lang="da-DK" sz="1800" b="1" dirty="0" err="1"/>
                  <a:t>discriminator</a:t>
                </a:r>
                <a:r>
                  <a:rPr lang="da-DK" sz="1800" b="1" dirty="0"/>
                  <a:t> is no longer </a:t>
                </a:r>
                <a:r>
                  <a:rPr lang="da-DK" sz="1800" b="1" dirty="0" err="1"/>
                  <a:t>linear</a:t>
                </a:r>
                <a:r>
                  <a:rPr lang="da-DK" sz="1800" b="1" dirty="0"/>
                  <a:t> in x!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4209F8D-AA9A-9148-4697-2953924A8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F410518-FC82-5256-1142-F6888004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7</a:t>
            </a:fld>
            <a:endParaRPr lang="da-DK"/>
          </a:p>
        </p:txBody>
      </p:sp>
      <p:sp>
        <p:nvSpPr>
          <p:cNvPr id="5" name="Ellipse 7">
            <a:extLst>
              <a:ext uri="{FF2B5EF4-FFF2-40B4-BE49-F238E27FC236}">
                <a16:creationId xmlns:a16="http://schemas.microsoft.com/office/drawing/2014/main" id="{A0EFB96C-C9D6-C750-10BE-180D98DBDE8F}"/>
              </a:ext>
            </a:extLst>
          </p:cNvPr>
          <p:cNvSpPr/>
          <p:nvPr/>
        </p:nvSpPr>
        <p:spPr>
          <a:xfrm>
            <a:off x="4223792" y="4077072"/>
            <a:ext cx="504056" cy="4544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Ellipse 7">
            <a:extLst>
              <a:ext uri="{FF2B5EF4-FFF2-40B4-BE49-F238E27FC236}">
                <a16:creationId xmlns:a16="http://schemas.microsoft.com/office/drawing/2014/main" id="{CF3AE7EE-DEDD-C135-4B23-3CB790C873A1}"/>
              </a:ext>
            </a:extLst>
          </p:cNvPr>
          <p:cNvSpPr/>
          <p:nvPr/>
        </p:nvSpPr>
        <p:spPr>
          <a:xfrm>
            <a:off x="4799856" y="4075410"/>
            <a:ext cx="720080" cy="4544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407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3C92B2-5330-696A-4C62-EFAF93D47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732" y="2492896"/>
            <a:ext cx="4424536" cy="44179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FFEF05-F742-BF57-8406-584932332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br>
              <a:rPr lang="da-DK" b="1" dirty="0">
                <a:solidFill>
                  <a:srgbClr val="C00000"/>
                </a:solidFill>
              </a:rPr>
            </a:br>
            <a:endParaRPr lang="da-DK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2A21E66-8FD2-D5F2-AE74-6E005CD7C0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80728"/>
                <a:ext cx="10972800" cy="4525963"/>
              </a:xfrm>
            </p:spPr>
            <p:txBody>
              <a:bodyPr/>
              <a:lstStyle/>
              <a:p>
                <a:r>
                  <a:rPr lang="da-DK" sz="2000" dirty="0"/>
                  <a:t>Choose </a:t>
                </a:r>
                <a14:m>
                  <m:oMath xmlns:m="http://schemas.openxmlformats.org/officeDocument/2006/math">
                    <m:r>
                      <a:rPr lang="da-DK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a-DK" sz="2000" dirty="0"/>
                  <a:t>, </a:t>
                </a:r>
                <a:r>
                  <a:rPr lang="da-DK" sz="2000" dirty="0" err="1"/>
                  <a:t>equal</a:t>
                </a:r>
                <a:r>
                  <a:rPr lang="da-DK" sz="2000" dirty="0"/>
                  <a:t> </a:t>
                </a:r>
                <a:r>
                  <a:rPr lang="da-DK" sz="2000" dirty="0" err="1"/>
                  <a:t>loss</a:t>
                </a:r>
                <a:endParaRPr lang="da-DK" sz="2000" dirty="0"/>
              </a:p>
              <a:p>
                <a:pPr marL="0" indent="0">
                  <a:buNone/>
                </a:pPr>
                <a:endParaRPr lang="da-DK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+10</m:t>
                      </m:r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−6</m:t>
                      </m:r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18≥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a-DK" sz="2000" dirty="0"/>
              </a:p>
              <a:p>
                <a:pPr marL="0" indent="0">
                  <a:buNone/>
                </a:pPr>
                <a:endParaRPr lang="da-DK" sz="2000" dirty="0"/>
              </a:p>
              <a:p>
                <a:r>
                  <a:rPr lang="da-DK" sz="2400" dirty="0"/>
                  <a:t>The separation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da-DK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sz="2400" dirty="0"/>
                  <a:t> </a:t>
                </a:r>
                <a:r>
                  <a:rPr lang="da-DK" sz="2400" dirty="0" err="1"/>
                  <a:t>into</a:t>
                </a:r>
                <a:r>
                  <a:rPr lang="da-DK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a-DK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sz="2400" dirty="0"/>
                  <a:t> is no longer a </a:t>
                </a:r>
                <a:r>
                  <a:rPr lang="da-DK" sz="2400" dirty="0" err="1"/>
                  <a:t>hyperplane</a:t>
                </a:r>
                <a:r>
                  <a:rPr lang="da-DK" sz="2400" dirty="0"/>
                  <a:t>, but the </a:t>
                </a:r>
                <a:r>
                  <a:rPr lang="da-DK" sz="2400" dirty="0" err="1"/>
                  <a:t>hyperbola</a:t>
                </a:r>
                <a:r>
                  <a:rPr lang="da-DK" sz="2400" dirty="0"/>
                  <a:t> given </a:t>
                </a:r>
                <a:r>
                  <a:rPr lang="da-DK" sz="2400" dirty="0" err="1"/>
                  <a:t>above</a:t>
                </a:r>
                <a:r>
                  <a:rPr lang="da-DK" sz="2400" dirty="0"/>
                  <a:t>: 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2A21E66-8FD2-D5F2-AE74-6E005CD7C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80728"/>
                <a:ext cx="10972800" cy="4525963"/>
              </a:xfrm>
              <a:blipFill>
                <a:blip r:embed="rId3"/>
                <a:stretch>
                  <a:fillRect l="-722" t="-80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D9EF605-D514-A4E4-BC69-BDE13016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0660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7658-4C51-359B-B2E4-97AB6CDA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260648"/>
            <a:ext cx="11332840" cy="1143000"/>
          </a:xfrm>
        </p:spPr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Working</a:t>
            </a:r>
            <a:r>
              <a:rPr lang="da-DK" b="1" dirty="0">
                <a:solidFill>
                  <a:srgbClr val="C00000"/>
                </a:solidFill>
              </a:rPr>
              <a:t> with parameters </a:t>
            </a:r>
            <a:r>
              <a:rPr lang="da-DK" b="1" dirty="0" err="1">
                <a:solidFill>
                  <a:srgbClr val="C00000"/>
                </a:solidFill>
              </a:rPr>
              <a:t>estimated</a:t>
            </a:r>
            <a:r>
              <a:rPr lang="da-DK" b="1" dirty="0">
                <a:solidFill>
                  <a:srgbClr val="C00000"/>
                </a:solidFill>
              </a:rPr>
              <a:t> from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20E4D8-1F22-8C2D-CC97-13081B5353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2400" dirty="0"/>
                  <a:t>Asumme </a:t>
                </a:r>
                <a:r>
                  <a:rPr lang="da-DK" sz="2400" dirty="0" err="1"/>
                  <a:t>again</a:t>
                </a:r>
                <a:r>
                  <a:rPr lang="da-DK" sz="2400" dirty="0"/>
                  <a:t> </a:t>
                </a:r>
                <a:r>
                  <a:rPr lang="da-DK" sz="2400" dirty="0" err="1"/>
                  <a:t>two</a:t>
                </a:r>
                <a:r>
                  <a:rPr lang="da-DK" sz="2400" dirty="0"/>
                  <a:t> populations,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a-DK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da-DK" sz="2400" dirty="0"/>
                  <a:t> </a:t>
                </a:r>
                <a:r>
                  <a:rPr lang="da-DK" sz="2400" dirty="0" err="1"/>
                  <a:t>regular</a:t>
                </a:r>
                <a:r>
                  <a:rPr lang="da-DK" sz="2400" dirty="0"/>
                  <a:t>.</a:t>
                </a:r>
              </a:p>
              <a:p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The </a:t>
                </a:r>
                <a:r>
                  <a:rPr lang="da-DK" sz="2400" b="1" dirty="0" err="1"/>
                  <a:t>Linear</a:t>
                </a:r>
                <a:r>
                  <a:rPr lang="da-DK" sz="2400" b="1" dirty="0"/>
                  <a:t> </a:t>
                </a:r>
                <a:r>
                  <a:rPr lang="da-DK" sz="2400" b="1" dirty="0" err="1"/>
                  <a:t>Discriminator</a:t>
                </a:r>
                <a:endParaRPr lang="da-DK" sz="2400" b="1" dirty="0"/>
              </a:p>
              <a:p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is </a:t>
                </a:r>
                <a:r>
                  <a:rPr lang="da-DK" sz="2400" dirty="0" err="1"/>
                  <a:t>estimated</a:t>
                </a:r>
                <a:r>
                  <a:rPr lang="da-DK" sz="2400" dirty="0"/>
                  <a:t> by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b="1" dirty="0"/>
              </a:p>
              <a:p>
                <a:pPr marL="0" indent="0">
                  <a:buNone/>
                </a:pPr>
                <a:endParaRPr lang="da-D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20E4D8-1F22-8C2D-CC97-13081B5353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3" t="-107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A7482-DE8E-885B-AEB7-5BBF96A4C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6042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384D-63FB-1294-7AA1-3A172EAD7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More </a:t>
            </a:r>
            <a:r>
              <a:rPr lang="da-DK" b="1" dirty="0" err="1">
                <a:solidFill>
                  <a:srgbClr val="C00000"/>
                </a:solidFill>
              </a:rPr>
              <a:t>than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two</a:t>
            </a:r>
            <a:r>
              <a:rPr lang="da-DK" b="1" dirty="0">
                <a:solidFill>
                  <a:srgbClr val="C00000"/>
                </a:solidFill>
              </a:rPr>
              <a:t> populations:</a:t>
            </a:r>
            <a:br>
              <a:rPr lang="da-DK" b="1" dirty="0">
                <a:solidFill>
                  <a:srgbClr val="C00000"/>
                </a:solidFill>
              </a:rPr>
            </a:br>
            <a:r>
              <a:rPr lang="da-DK" b="1" dirty="0">
                <a:solidFill>
                  <a:srgbClr val="C00000"/>
                </a:solidFill>
              </a:rPr>
              <a:t>Distance </a:t>
            </a:r>
            <a:r>
              <a:rPr lang="da-DK" b="1" dirty="0" err="1">
                <a:solidFill>
                  <a:srgbClr val="C00000"/>
                </a:solidFill>
              </a:rPr>
              <a:t>Between</a:t>
            </a:r>
            <a:r>
              <a:rPr lang="da-DK" b="1" dirty="0">
                <a:solidFill>
                  <a:srgbClr val="C00000"/>
                </a:solidFill>
              </a:rPr>
              <a:t> Populations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63EDA0-FFDE-F68E-307A-141C10F34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2800" dirty="0" err="1"/>
                  <a:t>We</a:t>
                </a:r>
                <a:r>
                  <a:rPr lang="da-DK" sz="2800" dirty="0"/>
                  <a:t> </a:t>
                </a:r>
                <a:r>
                  <a:rPr lang="da-DK" sz="2800" dirty="0" err="1"/>
                  <a:t>introduce</a:t>
                </a:r>
                <a:r>
                  <a:rPr lang="da-DK" sz="2800" dirty="0"/>
                  <a:t> the </a:t>
                </a:r>
                <a:r>
                  <a:rPr lang="da-DK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Mahanalobis</a:t>
                </a:r>
                <a:r>
                  <a:rPr lang="da-DK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distance</a:t>
                </a:r>
                <a:r>
                  <a:rPr lang="da-DK" sz="2800" i="1" dirty="0"/>
                  <a:t> </a:t>
                </a:r>
                <a:r>
                  <a:rPr lang="da-DK" sz="2800" dirty="0" err="1"/>
                  <a:t>between</a:t>
                </a:r>
                <a:r>
                  <a:rPr lang="da-DK" sz="2800" dirty="0"/>
                  <a:t> populations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8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a-DK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sz="2800" dirty="0"/>
                  <a:t> by  </a:t>
                </a:r>
              </a:p>
              <a:p>
                <a:endParaRPr lang="da-DK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28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sSup>
                            <m:sSupPr>
                              <m:ctrlPr>
                                <a:rPr lang="da-D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a-DK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a-DK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a-DK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8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a-DK" sz="2800" dirty="0"/>
              </a:p>
              <a:p>
                <a:pPr marL="0" indent="0">
                  <a:buNone/>
                </a:pPr>
                <a:endParaRPr lang="da-DK" sz="2800" dirty="0"/>
              </a:p>
              <a:p>
                <a:pPr marL="0" indent="0">
                  <a:buNone/>
                </a:pPr>
                <a:r>
                  <a:rPr lang="da-DK" sz="2800" dirty="0"/>
                  <a:t>The </a:t>
                </a:r>
                <a:r>
                  <a:rPr lang="da-DK" sz="2800" dirty="0" err="1"/>
                  <a:t>regularized</a:t>
                </a:r>
                <a:r>
                  <a:rPr lang="da-DK" sz="2800" dirty="0"/>
                  <a:t> deviations of the </a:t>
                </a:r>
                <a:r>
                  <a:rPr lang="da-DK" sz="2800" dirty="0" err="1"/>
                  <a:t>means</a:t>
                </a:r>
                <a:r>
                  <a:rPr lang="da-DK" sz="2800" dirty="0"/>
                  <a:t> in terms of standard deviations.</a:t>
                </a:r>
              </a:p>
              <a:p>
                <a:pPr marL="0" indent="0">
                  <a:buNone/>
                </a:pPr>
                <a:r>
                  <a:rPr lang="da-DK" sz="2800" dirty="0"/>
                  <a:t>The </a:t>
                </a:r>
                <a:r>
                  <a:rPr lang="da-DK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</a:t>
                </a:r>
                <a:r>
                  <a:rPr lang="da-DK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a-DK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Mahanalobis</a:t>
                </a:r>
                <a:r>
                  <a:rPr lang="da-DK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distance</a:t>
                </a:r>
                <a:r>
                  <a:rPr lang="da-DK" sz="2800" dirty="0"/>
                  <a:t> is </a:t>
                </a:r>
                <a:r>
                  <a:rPr lang="da-DK" sz="2800" dirty="0" err="1"/>
                  <a:t>similarly</a:t>
                </a:r>
                <a:endParaRPr lang="da-DK" sz="2800" dirty="0"/>
              </a:p>
              <a:p>
                <a:pPr marL="0" indent="0">
                  <a:buNone/>
                </a:pPr>
                <a:endParaRPr lang="da-DK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Sup>
                            <m:sSupPr>
                              <m:ctrlPr>
                                <a:rPr lang="da-D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8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da-DK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8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a-DK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8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8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da-DK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a-DK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63EDA0-FFDE-F68E-307A-141C10F34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617" r="-17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96EC1-C071-FDF2-BE38-98B18CD8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01132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1EE4-17AC-1E8A-4E3C-38E37041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4E42-7895-156C-D3E2-03AB37D5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The </a:t>
            </a:r>
            <a:r>
              <a:rPr lang="da-DK" b="1" dirty="0" err="1">
                <a:solidFill>
                  <a:srgbClr val="C00000"/>
                </a:solidFill>
              </a:rPr>
              <a:t>Mahanalobis</a:t>
            </a:r>
            <a:r>
              <a:rPr lang="da-DK" b="1" dirty="0">
                <a:solidFill>
                  <a:srgbClr val="C00000"/>
                </a:solidFill>
              </a:rPr>
              <a:t>’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A7F376-B1EE-C331-1E17-862774B1B0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sz="2800" dirty="0"/>
                  <a:t>The </a:t>
                </a:r>
                <a:r>
                  <a:rPr lang="da-DK" sz="2800" dirty="0" err="1"/>
                  <a:t>empirical</a:t>
                </a:r>
                <a:r>
                  <a:rPr lang="da-DK" sz="2800" dirty="0"/>
                  <a:t> </a:t>
                </a:r>
                <a:r>
                  <a:rPr lang="da-DK" sz="2800" dirty="0" err="1"/>
                  <a:t>Mahanalobis</a:t>
                </a:r>
                <a:r>
                  <a:rPr lang="da-DK" sz="2800" dirty="0"/>
                  <a:t>’ distance </a:t>
                </a:r>
              </a:p>
              <a:p>
                <a:pPr marL="0" indent="0">
                  <a:buNone/>
                </a:pPr>
                <a:endParaRPr lang="da-DK" sz="2800" dirty="0"/>
              </a:p>
              <a:p>
                <a:pPr marL="0" indent="0">
                  <a:buNone/>
                </a:pPr>
                <a:endParaRPr lang="da-DK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a-DK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da-DK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8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a-DK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8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8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da-DK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a-DK" sz="2800" dirty="0"/>
              </a:p>
              <a:p>
                <a:pPr marL="0" indent="0">
                  <a:buNone/>
                </a:pPr>
                <a:endParaRPr lang="da-DK" sz="2800" dirty="0"/>
              </a:p>
              <a:p>
                <a:pPr marL="0" indent="0">
                  <a:buNone/>
                </a:pPr>
                <a:endParaRPr lang="da-DK" sz="2800" dirty="0"/>
              </a:p>
              <a:p>
                <a:pPr marL="0" indent="0" algn="ctr">
                  <a:buNone/>
                </a:pPr>
                <a:r>
                  <a:rPr lang="da-DK" sz="2800" dirty="0"/>
                  <a:t>Can </a:t>
                </a:r>
                <a:r>
                  <a:rPr lang="da-DK" sz="2800" dirty="0" err="1"/>
                  <a:t>be</a:t>
                </a:r>
                <a:r>
                  <a:rPr lang="da-DK" sz="2800" dirty="0"/>
                  <a:t> </a:t>
                </a:r>
                <a:r>
                  <a:rPr lang="da-DK" sz="2800" dirty="0" err="1"/>
                  <a:t>used</a:t>
                </a:r>
                <a:r>
                  <a:rPr lang="da-DK" sz="2800" dirty="0"/>
                  <a:t> to test </a:t>
                </a:r>
                <a:r>
                  <a:rPr lang="da-DK" sz="2800" dirty="0" err="1"/>
                  <a:t>if</a:t>
                </a:r>
                <a:r>
                  <a:rPr lang="da-DK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8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a-DK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a-DK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a-DK" sz="2800" dirty="0"/>
              </a:p>
              <a:p>
                <a:pPr marL="0" indent="0">
                  <a:buNone/>
                </a:pPr>
                <a:endParaRPr lang="da-DK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A7F376-B1EE-C331-1E17-862774B1B0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3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A7163-EA53-BD82-8304-F16ADD28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4005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61F5F-08A5-0B37-3C2B-EA3361AE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2-sample Test In One Dimension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ECFDBA-B481-6506-C377-227621EC7D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054" y="1388821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a-DK" sz="2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f>
                            <m:f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 2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a-DK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(1,2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ECFDBA-B481-6506-C377-227621EC7D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054" y="1388821"/>
                <a:ext cx="1097280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E29F0-7AAF-B960-3F99-56E0FED5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3075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358AD-AA5D-B5F3-F794-14504324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4DA1E-E6B3-30AC-0F3E-8DA67BCD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2-sample Test In p Dimensions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C299D-A045-58CB-59B7-8B61F3029E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66018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f>
                            <m:f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da-DK" sz="2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 2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acc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2(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−1),</m:t>
                          </m:r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a-DK" sz="2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2(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−1)−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,2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dirty="0"/>
              </a:p>
              <a:p>
                <a:r>
                  <a:rPr lang="da-DK" sz="2400" dirty="0" err="1"/>
                  <a:t>Follows</a:t>
                </a:r>
                <a:r>
                  <a:rPr lang="da-DK" sz="2400" dirty="0"/>
                  <a:t> from Lemma 4.1</a:t>
                </a:r>
              </a:p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b="0" dirty="0"/>
              </a:p>
              <a:p>
                <a:pPr marL="0" indent="0">
                  <a:buNone/>
                </a:pPr>
                <a:endParaRPr lang="da-DK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C299D-A045-58CB-59B7-8B61F3029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66018"/>
                <a:ext cx="10972800" cy="4525963"/>
              </a:xfrm>
              <a:blipFill>
                <a:blip r:embed="rId3"/>
                <a:stretch>
                  <a:fillRect l="-722" b="-1022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66FB1-9D6E-B3EF-C31A-74CD3FD0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1096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5A38-3F95-B370-754D-089BB83D5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19930-B4C4-6180-B590-FDB5C2FD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2-sample Test In p Dimensions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C5BE01-33E3-42E5-7BB2-D271AF8F84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66018"/>
                <a:ext cx="10972800" cy="4525963"/>
              </a:xfrm>
            </p:spPr>
            <p:txBody>
              <a:bodyPr/>
              <a:lstStyle/>
              <a:p>
                <a:endParaRPr lang="da-DK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a-DK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sz="2400" dirty="0"/>
                  <a:t> </a:t>
                </a:r>
                <a:r>
                  <a:rPr lang="da-DK" sz="2400" dirty="0" err="1"/>
                  <a:t>when</a:t>
                </a:r>
                <a:r>
                  <a:rPr lang="da-DK" sz="2400" dirty="0"/>
                  <a:t> </a:t>
                </a:r>
                <a:r>
                  <a:rPr lang="da-DK" sz="2400" dirty="0" err="1"/>
                  <a:t>numbers</a:t>
                </a:r>
                <a:r>
                  <a:rPr lang="da-DK" sz="2400" dirty="0"/>
                  <a:t> of observations in the </a:t>
                </a:r>
                <a:r>
                  <a:rPr lang="da-DK" sz="2400" dirty="0" err="1"/>
                  <a:t>groups</a:t>
                </a:r>
                <a:r>
                  <a:rPr lang="da-DK" sz="2400" dirty="0"/>
                  <a:t> </a:t>
                </a:r>
                <a:r>
                  <a:rPr lang="da-DK" sz="2400" dirty="0" err="1"/>
                  <a:t>are</a:t>
                </a:r>
                <a:r>
                  <a:rPr lang="da-DK" sz="2400" dirty="0"/>
                  <a:t> </a:t>
                </a:r>
                <a:r>
                  <a:rPr lang="da-DK" sz="2400" dirty="0" err="1"/>
                  <a:t>uneven</a:t>
                </a:r>
                <a:r>
                  <a:rPr lang="da-DK" sz="2400" dirty="0"/>
                  <a:t>: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r>
                  <a:rPr lang="da-DK" sz="2400" dirty="0" err="1"/>
                  <a:t>Follows</a:t>
                </a:r>
                <a:r>
                  <a:rPr lang="da-DK" sz="2400" dirty="0"/>
                  <a:t> from Lemma 4.1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C5BE01-33E3-42E5-7BB2-D271AF8F84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66018"/>
                <a:ext cx="10972800" cy="4525963"/>
              </a:xfrm>
              <a:blipFill>
                <a:blip r:embed="rId3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2ACC1-C6B7-F414-1DC2-3BD8F0D9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7640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4A145-4A00-A533-16FF-5D5C63A4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5F857A-FF14-CEE1-B868-056C0EB64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3068960"/>
            <a:ext cx="8194431" cy="2479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DBA87E-96F2-8F13-A26B-E4446885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2-sample Test In p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68EF5-1841-95AB-F617-C199734DE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018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da-DK" i="1" dirty="0">
                <a:latin typeface="Cambria Math" panose="02040503050406030204" pitchFamily="18" charset="0"/>
              </a:rPr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FDBE1-AC0E-A700-91CF-2B2831E94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15</a:t>
            </a:fld>
            <a:endParaRPr lang="da-DK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4628F4-7360-B197-1551-BC41650906AF}"/>
                  </a:ext>
                </a:extLst>
              </p:cNvPr>
              <p:cNvSpPr txBox="1"/>
              <p:nvPr/>
            </p:nvSpPr>
            <p:spPr>
              <a:xfrm>
                <a:off x="3287688" y="1340768"/>
                <a:ext cx="4896544" cy="1100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a-DK" i="1" dirty="0">
                  <a:latin typeface="Cambria Math" panose="02040503050406030204" pitchFamily="18" charset="0"/>
                </a:endParaRPr>
              </a:p>
              <a:p>
                <a:endParaRPr lang="da-DK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4628F4-7360-B197-1551-BC4165090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688" y="1340768"/>
                <a:ext cx="4896544" cy="11006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8071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6508-9615-9788-A8BB-9F4791D2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Discrimination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Between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Several</a:t>
            </a:r>
            <a:r>
              <a:rPr lang="da-DK" b="1" dirty="0">
                <a:solidFill>
                  <a:srgbClr val="C00000"/>
                </a:solidFill>
              </a:rPr>
              <a:t> Populations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34586-E044-3C86-1808-83355FFE4F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b="1" dirty="0">
                    <a:solidFill>
                      <a:srgbClr val="FF0000"/>
                    </a:solidFill>
                  </a:rPr>
                  <a:t>Bayes Solution:</a:t>
                </a:r>
              </a:p>
              <a:p>
                <a:r>
                  <a:rPr lang="da-DK" dirty="0"/>
                  <a:t>Populations: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da-DK" b="1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da-DK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da-DK" dirty="0"/>
                  <a:t>.</a:t>
                </a:r>
              </a:p>
              <a:p>
                <a:r>
                  <a:rPr lang="da-DK" dirty="0"/>
                  <a:t>Prior distribution: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da-DK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da-DK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da-DK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da-DK" dirty="0"/>
              </a:p>
              <a:p>
                <a:r>
                  <a:rPr lang="da-DK" dirty="0" err="1"/>
                  <a:t>Loss</a:t>
                </a:r>
                <a:r>
                  <a:rPr lang="da-DK" dirty="0"/>
                  <a:t> </a:t>
                </a:r>
                <a:r>
                  <a:rPr lang="da-DK" dirty="0" err="1"/>
                  <a:t>function</a:t>
                </a:r>
                <a:r>
                  <a:rPr lang="da-DK" dirty="0"/>
                  <a:t>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34586-E044-3C86-1808-83355FFE4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06D98-041B-EB1E-AF89-DC223451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16</a:t>
            </a:fld>
            <a:endParaRPr lang="da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0846E4-76FE-BC2A-2236-EEB3135F1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738" y="4068762"/>
            <a:ext cx="4888523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4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70A5D-77B1-8638-295A-36565102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3C25F-5753-7103-3483-15022078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Discrimination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Between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Several</a:t>
            </a:r>
            <a:r>
              <a:rPr lang="da-DK" b="1" dirty="0">
                <a:solidFill>
                  <a:srgbClr val="C00000"/>
                </a:solidFill>
              </a:rPr>
              <a:t> Populations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912C2-8E97-395A-D2C6-FE8FE4382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Posterior distribution of the population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da-DK" dirty="0"/>
                  <a:t>:</a:t>
                </a:r>
              </a:p>
              <a:p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</m:e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</m:e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</m:t>
                      </m:r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e>
                          </m:d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a-DK" sz="2400" b="0" i="0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</m:t>
                      </m:r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912C2-8E97-395A-D2C6-FE8FE4382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617" b="-114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2CACC-E641-2987-3F27-2CD2279B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17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76037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76288-1CE2-E30E-3504-A22DDAA3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C32B-DD37-68B4-9A85-4F599D7D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Discrimination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Between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Several</a:t>
            </a:r>
            <a:r>
              <a:rPr lang="da-DK" b="1" dirty="0">
                <a:solidFill>
                  <a:srgbClr val="C00000"/>
                </a:solidFill>
              </a:rPr>
              <a:t> Populations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19B27-440D-D0E1-912B-9648906416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2400" dirty="0"/>
                  <a:t>Suppose </a:t>
                </a:r>
                <a:r>
                  <a:rPr lang="da-DK" sz="2400" dirty="0" err="1"/>
                  <a:t>that</a:t>
                </a:r>
                <a:r>
                  <a:rPr lang="da-DK" sz="2400" dirty="0"/>
                  <a:t> </a:t>
                </a:r>
                <a:r>
                  <a:rPr lang="da-DK" sz="2400" dirty="0" err="1"/>
                  <a:t>we</a:t>
                </a:r>
                <a:r>
                  <a:rPr lang="da-DK" sz="2400" dirty="0"/>
                  <a:t> </a:t>
                </a:r>
                <a:r>
                  <a:rPr lang="da-DK" sz="2400" dirty="0" err="1"/>
                  <a:t>observe</a:t>
                </a:r>
                <a:r>
                  <a:rPr lang="da-DK" sz="2400" dirty="0"/>
                  <a:t>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a-DK" sz="2400" dirty="0"/>
                  <a:t>. The </a:t>
                </a:r>
                <a:r>
                  <a:rPr lang="da-DK" sz="2400" b="1" dirty="0" err="1"/>
                  <a:t>expected</a:t>
                </a:r>
                <a:r>
                  <a:rPr lang="da-DK" sz="2400" b="1" dirty="0"/>
                  <a:t> </a:t>
                </a:r>
                <a:r>
                  <a:rPr lang="da-DK" sz="2400" b="1" dirty="0" err="1"/>
                  <a:t>loss</a:t>
                </a:r>
                <a:r>
                  <a:rPr lang="da-DK" sz="2400" b="1" dirty="0"/>
                  <a:t> </a:t>
                </a:r>
                <a:r>
                  <a:rPr lang="da-DK" sz="2400" dirty="0"/>
                  <a:t>by </a:t>
                </a:r>
                <a:r>
                  <a:rPr lang="da-DK" sz="2400" dirty="0" err="1"/>
                  <a:t>classifying</a:t>
                </a:r>
                <a:r>
                  <a:rPr lang="da-DK" sz="2400" dirty="0"/>
                  <a:t>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a-DK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a-DK" sz="2400" dirty="0"/>
                  <a:t> is</a:t>
                </a:r>
              </a:p>
              <a:p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a-DK" sz="2400" b="0" i="0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a-DK" sz="2400" b="0" i="0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 </m:t>
                      </m:r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  =</m:t>
                      </m:r>
                      <m:nary>
                        <m:naryPr>
                          <m:chr m:val="∑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nary>
                        <m:naryPr>
                          <m:chr m:val="∑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</m:t>
                      </m:r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19B27-440D-D0E1-912B-9648906416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2" t="-107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A76C3-C8AE-1E91-8283-441A4CA7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18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80580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B7D88-2D25-CCFC-9F1F-B4B28169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99A8-39B9-D599-BC51-38C07C5C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Discrimination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Between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Several</a:t>
            </a:r>
            <a:r>
              <a:rPr lang="da-DK" b="1" dirty="0">
                <a:solidFill>
                  <a:srgbClr val="C00000"/>
                </a:solidFill>
              </a:rPr>
              <a:t> Populations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C118E4-BE63-15BA-5E51-F421B669EF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6646" y="1196752"/>
                <a:ext cx="10972800" cy="4525963"/>
              </a:xfrm>
            </p:spPr>
            <p:txBody>
              <a:bodyPr/>
              <a:lstStyle/>
              <a:p>
                <a:r>
                  <a:rPr lang="da-DK" sz="2400" dirty="0"/>
                  <a:t>Minimizing the </a:t>
                </a:r>
                <a:r>
                  <a:rPr lang="da-DK" sz="2400" dirty="0" err="1"/>
                  <a:t>loss</a:t>
                </a:r>
                <a:r>
                  <a:rPr lang="da-DK" sz="2400" dirty="0"/>
                  <a:t> </a:t>
                </a:r>
                <a:r>
                  <a:rPr lang="da-DK" sz="2400" dirty="0" err="1"/>
                  <a:t>means</a:t>
                </a:r>
                <a:r>
                  <a:rPr lang="da-DK" sz="2400" dirty="0"/>
                  <a:t> </a:t>
                </a:r>
                <a:r>
                  <a:rPr lang="da-DK" sz="2400" b="1" dirty="0" err="1"/>
                  <a:t>maximizing</a:t>
                </a:r>
                <a:r>
                  <a:rPr lang="da-DK" sz="2400" dirty="0"/>
                  <a:t> the </a:t>
                </a:r>
                <a:r>
                  <a:rPr lang="da-DK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discriminant</a:t>
                </a:r>
                <a:r>
                  <a:rPr lang="da-DK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score</a:t>
                </a:r>
              </a:p>
              <a:p>
                <a:endParaRPr lang="da-DK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</m:t>
                      </m:r>
                    </m:oMath>
                  </m:oMathPara>
                </a14:m>
                <a:endParaRPr lang="da-DK" sz="2400" dirty="0"/>
              </a:p>
              <a:p>
                <a:r>
                  <a:rPr lang="da-DK" sz="2400" dirty="0"/>
                  <a:t>Decision </a:t>
                </a:r>
                <a:r>
                  <a:rPr lang="da-DK" sz="2400" dirty="0" err="1"/>
                  <a:t>rule</a:t>
                </a:r>
                <a:r>
                  <a:rPr lang="da-DK" sz="2400" dirty="0"/>
                  <a:t>: </a:t>
                </a:r>
              </a:p>
              <a:p>
                <a:pPr marL="0" indent="0" algn="ctr">
                  <a:buNone/>
                </a:pPr>
                <a:r>
                  <a:rPr lang="da-DK" sz="2400" b="1" dirty="0">
                    <a:solidFill>
                      <a:schemeClr val="tx1"/>
                    </a:solidFill>
                  </a:rPr>
                  <a:t>Select population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da-DK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𝝂</m:t>
                        </m:r>
                      </m:sub>
                    </m:sSub>
                  </m:oMath>
                </a14:m>
                <a:r>
                  <a:rPr lang="da-DK" sz="2400" b="1" dirty="0">
                    <a:solidFill>
                      <a:schemeClr val="tx1"/>
                    </a:solidFill>
                  </a:rPr>
                  <a:t> </a:t>
                </a:r>
                <a:r>
                  <a:rPr lang="da-DK" sz="2400" b="1" dirty="0" err="1">
                    <a:solidFill>
                      <a:schemeClr val="tx1"/>
                    </a:solidFill>
                  </a:rPr>
                  <a:t>if</a:t>
                </a:r>
                <a:r>
                  <a:rPr lang="da-DK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a-DK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da-DK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da-DK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da-DK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da-DK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bSup>
                      <m:sSubSupPr>
                        <m:ctrlP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𝝂</m:t>
                        </m:r>
                      </m:sub>
                      <m:sup>
                        <m:r>
                          <a:rPr lang="da-DK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da-DK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Sup>
                      <m:sSubSupPr>
                        <m:ctrlP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da-DK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          </m:t>
                    </m:r>
                  </m:oMath>
                </a14:m>
                <a:endParaRPr lang="da-DK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da-DK" sz="2400" b="1" dirty="0">
                  <a:solidFill>
                    <a:srgbClr val="FF0000"/>
                  </a:solidFill>
                </a:endParaRPr>
              </a:p>
              <a:p>
                <a:r>
                  <a:rPr lang="da-DK" sz="2400" dirty="0"/>
                  <a:t>If all losses </a:t>
                </a:r>
                <a:r>
                  <a:rPr lang="da-DK" sz="2400" dirty="0" err="1"/>
                  <a:t>are</a:t>
                </a:r>
                <a:r>
                  <a:rPr lang="da-DK" sz="2400" dirty="0"/>
                  <a:t> </a:t>
                </a:r>
                <a:r>
                  <a:rPr lang="da-DK" sz="2400" dirty="0" err="1"/>
                  <a:t>equal</a:t>
                </a:r>
                <a:r>
                  <a:rPr lang="da-DK" sz="2400" dirty="0"/>
                  <a:t>: </a:t>
                </a:r>
                <a:r>
                  <a:rPr lang="da-DK" sz="2400" dirty="0" err="1"/>
                  <a:t>Simplifies</a:t>
                </a:r>
                <a:r>
                  <a:rPr lang="da-DK" sz="2400" dirty="0"/>
                  <a:t> to </a:t>
                </a:r>
              </a:p>
              <a:p>
                <a:pPr marL="0" indent="0" algn="ctr">
                  <a:buNone/>
                </a:pPr>
                <a:r>
                  <a:rPr lang="da-DK" sz="2400" b="1" dirty="0">
                    <a:solidFill>
                      <a:schemeClr val="tx1"/>
                    </a:solidFill>
                  </a:rPr>
                  <a:t>Select population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da-DK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𝝂</m:t>
                        </m:r>
                      </m:sub>
                    </m:sSub>
                  </m:oMath>
                </a14:m>
                <a:r>
                  <a:rPr lang="da-DK" sz="2400" b="1" dirty="0">
                    <a:solidFill>
                      <a:schemeClr val="tx1"/>
                    </a:solidFill>
                  </a:rPr>
                  <a:t> </a:t>
                </a:r>
                <a:r>
                  <a:rPr lang="da-DK" sz="2400" b="1" dirty="0" err="1">
                    <a:solidFill>
                      <a:schemeClr val="tx1"/>
                    </a:solidFill>
                  </a:rPr>
                  <a:t>if</a:t>
                </a:r>
                <a:r>
                  <a:rPr lang="da-DK" sz="2400" b="1" dirty="0">
                    <a:solidFill>
                      <a:schemeClr val="tx1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    </m:t>
                    </m:r>
                    <m:sSub>
                      <m:sSubPr>
                        <m:ctrlP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𝝂</m:t>
                        </m:r>
                      </m:sub>
                    </m:sSub>
                    <m:r>
                      <a:rPr lang="da-DK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da-DK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𝝂</m:t>
                        </m:r>
                      </m:sub>
                    </m:sSub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da-DK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da-DK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da-DK" sz="2400" dirty="0"/>
                  <a:t>If all prior </a:t>
                </a:r>
                <a:r>
                  <a:rPr lang="da-DK" sz="2400" dirty="0" err="1"/>
                  <a:t>probabilities</a:t>
                </a:r>
                <a:r>
                  <a:rPr lang="da-DK" sz="2400" dirty="0"/>
                  <a:t> </a:t>
                </a:r>
                <a:r>
                  <a:rPr lang="da-DK" sz="2400" dirty="0" err="1"/>
                  <a:t>are</a:t>
                </a:r>
                <a:r>
                  <a:rPr lang="da-DK" sz="2400" dirty="0"/>
                  <a:t> </a:t>
                </a:r>
                <a:r>
                  <a:rPr lang="da-DK" sz="2400" dirty="0" err="1"/>
                  <a:t>equal</a:t>
                </a:r>
                <a:r>
                  <a:rPr lang="da-DK" sz="2400" dirty="0"/>
                  <a:t> (uniform prior): </a:t>
                </a:r>
                <a:r>
                  <a:rPr lang="da-DK" sz="2400" dirty="0" err="1"/>
                  <a:t>Simplifies</a:t>
                </a:r>
                <a:r>
                  <a:rPr lang="da-DK" sz="2400" dirty="0"/>
                  <a:t> to</a:t>
                </a:r>
              </a:p>
              <a:p>
                <a:pPr marL="0" indent="0" algn="ctr">
                  <a:buNone/>
                </a:pPr>
                <a:r>
                  <a:rPr lang="da-DK" sz="2400" b="1" dirty="0">
                    <a:solidFill>
                      <a:schemeClr val="tx1"/>
                    </a:solidFill>
                  </a:rPr>
                  <a:t>Select population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da-DK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𝝂</m:t>
                        </m:r>
                      </m:sub>
                    </m:sSub>
                  </m:oMath>
                </a14:m>
                <a:r>
                  <a:rPr lang="da-DK" sz="2400" b="1" dirty="0">
                    <a:solidFill>
                      <a:schemeClr val="tx1"/>
                    </a:solidFill>
                  </a:rPr>
                  <a:t> </a:t>
                </a:r>
                <a:r>
                  <a:rPr lang="da-DK" sz="2400" b="1" dirty="0" err="1">
                    <a:solidFill>
                      <a:schemeClr val="tx1"/>
                    </a:solidFill>
                  </a:rPr>
                  <a:t>if</a:t>
                </a:r>
                <a:r>
                  <a:rPr lang="da-DK" sz="2400" b="1" dirty="0">
                    <a:solidFill>
                      <a:schemeClr val="tx1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    </m:t>
                    </m:r>
                    <m:sSub>
                      <m:sSubPr>
                        <m:ctrlP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𝝂</m:t>
                        </m:r>
                      </m:sub>
                    </m:sSub>
                    <m:d>
                      <m:dPr>
                        <m:ctrlP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da-DK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da-DK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da-DK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C118E4-BE63-15BA-5E51-F421B669E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6646" y="1196752"/>
                <a:ext cx="10972800" cy="4525963"/>
              </a:xfrm>
              <a:blipFill>
                <a:blip r:embed="rId3"/>
                <a:stretch>
                  <a:fillRect l="-889" t="-1346" b="-242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E94BC-4822-93AC-A1F9-C6C385F5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19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24922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8549-2761-4588-59B7-10FAE887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The Case of Normal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70FFF8-6E3C-C23A-53FD-BFC44B8515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sz="2400" dirty="0"/>
                  <a:t>Assume </a:t>
                </a:r>
                <a:r>
                  <a:rPr lang="da-DK" sz="2400" dirty="0" err="1"/>
                  <a:t>that</a:t>
                </a:r>
                <a:r>
                  <a:rPr lang="da-DK" sz="2400" dirty="0"/>
                  <a:t> </a:t>
                </a:r>
                <a:r>
                  <a:rPr lang="da-DK" sz="2400" dirty="0" err="1"/>
                  <a:t>individuals</a:t>
                </a:r>
                <a:r>
                  <a:rPr lang="da-DK" sz="2400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a-DK" sz="2400" dirty="0"/>
                  <a:t> have </a:t>
                </a:r>
                <a:r>
                  <a:rPr lang="da-DK" sz="2400" dirty="0" err="1"/>
                  <a:t>normally</a:t>
                </a:r>
                <a:r>
                  <a:rPr lang="da-DK" sz="2400" dirty="0"/>
                  <a:t> </a:t>
                </a:r>
                <a:r>
                  <a:rPr lang="da-DK" sz="2400" dirty="0" err="1"/>
                  <a:t>distributed</a:t>
                </a:r>
                <a:r>
                  <a:rPr lang="da-DK" sz="2400" dirty="0"/>
                  <a:t> data,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24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da-DK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da-DK" sz="2400" dirty="0"/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240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da-DK" sz="2400" dirty="0"/>
                  <a:t> </a:t>
                </a:r>
                <a:r>
                  <a:rPr lang="da-DK" sz="2400" dirty="0" err="1"/>
                  <a:t>invertible</a:t>
                </a:r>
                <a:r>
                  <a:rPr lang="da-DK" sz="2400" dirty="0"/>
                  <a:t>,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a-DK" sz="2400" dirty="0"/>
                  <a:t>.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Quadratic</a:t>
                </a:r>
                <a:r>
                  <a:rPr lang="da-DK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a-DK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discriminant</a:t>
                </a:r>
                <a:r>
                  <a:rPr lang="da-DK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a-DK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function</a:t>
                </a:r>
                <a:r>
                  <a:rPr lang="da-DK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a-DK" sz="2400" b="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𝑑𝑒𝑡</m:t>
                              </m:r>
                              <m:d>
                                <m:d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a-DK" sz="2400" b="0" i="0" smtClean="0"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bSup>
                            <m:sSub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da-DK" sz="2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a-DK" sz="24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 err="1"/>
                  <a:t>Quadratic</a:t>
                </a:r>
                <a:r>
                  <a:rPr lang="da-DK" sz="2400" dirty="0"/>
                  <a:t> in </a:t>
                </a:r>
                <a14:m>
                  <m:oMath xmlns:m="http://schemas.openxmlformats.org/officeDocument/2006/math">
                    <m:r>
                      <a:rPr lang="da-DK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a-DK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70FFF8-6E3C-C23A-53FD-BFC44B8515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33" t="-943" b="-673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6AD0A-8F58-3CD3-3A48-C017FEAA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6409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9D797-DA1E-4926-C9AD-FC9E772B6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46D20-EDE7-4394-A8C3-C68A6836D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The Case of Normal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B328F7-A15A-63FA-923E-40DF8E48AA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56792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sz="2400" dirty="0"/>
                  <a:t>Suppose </a:t>
                </a:r>
                <a:r>
                  <a:rPr lang="da-DK" sz="2400" dirty="0" err="1"/>
                  <a:t>that</a:t>
                </a:r>
                <a:r>
                  <a:rPr lang="da-DK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=⋯=</m:t>
                    </m:r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a-DK" sz="2400" dirty="0"/>
                  <a:t>. The common factors </a:t>
                </a:r>
                <a:r>
                  <a:rPr lang="da-DK" sz="2400" dirty="0" err="1"/>
                  <a:t>can</a:t>
                </a:r>
                <a:r>
                  <a:rPr lang="da-DK" sz="2400" dirty="0"/>
                  <a:t> </a:t>
                </a:r>
                <a:r>
                  <a:rPr lang="da-DK" sz="2400" dirty="0" err="1"/>
                  <a:t>be</a:t>
                </a:r>
                <a:r>
                  <a:rPr lang="da-DK" sz="2400" dirty="0"/>
                  <a:t> </a:t>
                </a:r>
                <a:r>
                  <a:rPr lang="da-DK" sz="2400" dirty="0" err="1"/>
                  <a:t>incorporated</a:t>
                </a:r>
                <a:r>
                  <a:rPr lang="da-DK" sz="2400" dirty="0"/>
                  <a:t> in the </a:t>
                </a:r>
                <a14:m>
                  <m:oMath xmlns:m="http://schemas.openxmlformats.org/officeDocument/2006/math">
                    <m:r>
                      <a:rPr lang="da-DK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da-DK" sz="2400" dirty="0"/>
                  <a:t> </a:t>
                </a:r>
                <a:r>
                  <a:rPr lang="da-DK" sz="2400" dirty="0" err="1"/>
                  <a:t>value</a:t>
                </a:r>
                <a:r>
                  <a:rPr lang="da-DK" sz="2400" dirty="0"/>
                  <a:t>: 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Linear</a:t>
                </a:r>
                <a:r>
                  <a:rPr lang="da-DK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a-DK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discriminant</a:t>
                </a:r>
                <a:r>
                  <a:rPr lang="da-DK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a-DK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function</a:t>
                </a:r>
                <a:r>
                  <a:rPr lang="da-DK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a-DK" sz="2400" b="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a-DK" sz="2400" dirty="0"/>
                  <a:t>Linear in </a:t>
                </a:r>
                <a14:m>
                  <m:oMath xmlns:m="http://schemas.openxmlformats.org/officeDocument/2006/math">
                    <m:r>
                      <a:rPr lang="da-DK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a-DK" sz="2400" dirty="0"/>
                  <a:t>. </a:t>
                </a:r>
                <a:r>
                  <a:rPr lang="da-DK" sz="2400" dirty="0" err="1"/>
                  <a:t>Similar</a:t>
                </a:r>
                <a:r>
                  <a:rPr lang="da-DK" sz="2400" dirty="0"/>
                  <a:t> to the </a:t>
                </a:r>
                <a:r>
                  <a:rPr lang="da-DK" sz="2400" dirty="0" err="1"/>
                  <a:t>linear</a:t>
                </a:r>
                <a:r>
                  <a:rPr lang="da-DK" sz="2400" dirty="0"/>
                  <a:t> </a:t>
                </a:r>
                <a:r>
                  <a:rPr lang="da-DK" sz="2400" dirty="0" err="1"/>
                  <a:t>discriminant</a:t>
                </a:r>
                <a:r>
                  <a:rPr lang="da-DK" sz="2400" dirty="0"/>
                  <a:t> from </a:t>
                </a:r>
                <a:r>
                  <a:rPr lang="da-DK" sz="2400" dirty="0" err="1"/>
                  <a:t>Lecture</a:t>
                </a:r>
                <a:r>
                  <a:rPr lang="da-DK" sz="2400" dirty="0"/>
                  <a:t> F:</a:t>
                </a:r>
              </a:p>
              <a:p>
                <a:pPr marL="0" indent="0">
                  <a:buNone/>
                </a:pPr>
                <a:endParaRPr lang="da-DK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0" smtClean="0">
                          <a:latin typeface="Cambria Math" panose="02040503050406030204" pitchFamily="18" charset="0"/>
                        </a:rPr>
                        <m:t>=&lt;</m:t>
                      </m:r>
                      <m:r>
                        <m:rPr>
                          <m:sty m:val="p"/>
                        </m:rPr>
                        <a:rPr lang="da-DK" sz="2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da-DK" sz="2400" b="0" i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e>
                        <m:sub>
                          <m:sSubSup>
                            <m:sSub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da-DK" sz="2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a-DK" sz="24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B328F7-A15A-63FA-923E-40DF8E48AA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56792"/>
                <a:ext cx="10972800" cy="4525963"/>
              </a:xfrm>
              <a:blipFill>
                <a:blip r:embed="rId3"/>
                <a:stretch>
                  <a:fillRect l="-833" t="-107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C2D74-F0CC-D854-D1BB-D924AA29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2578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A715-3245-A6F3-D7F1-8FA17C7F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endParaRPr lang="da-DK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328EC-4BC2-6684-6300-A081F1DBB6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368" y="1628800"/>
                <a:ext cx="11521280" cy="4525963"/>
              </a:xfrm>
            </p:spPr>
            <p:txBody>
              <a:bodyPr/>
              <a:lstStyle/>
              <a:p>
                <a:r>
                  <a:rPr lang="da-DK" sz="2400" dirty="0"/>
                  <a:t>Suppose </a:t>
                </a:r>
                <a:r>
                  <a:rPr lang="da-DK" sz="2400" dirty="0" err="1"/>
                  <a:t>that</a:t>
                </a:r>
                <a:r>
                  <a:rPr lang="da-DK" sz="2400" dirty="0"/>
                  <a:t> </a:t>
                </a:r>
                <a14:m>
                  <m:oMath xmlns:m="http://schemas.openxmlformats.org/officeDocument/2006/math">
                    <m:r>
                      <a:rPr lang="da-DK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sz="240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da-DK" sz="2400" dirty="0"/>
                  <a:t> with 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a-DK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a-DK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a-DK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a-DK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a-DK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a-DK" sz="2400" dirty="0"/>
              </a:p>
              <a:p>
                <a:endParaRPr lang="da-DK" sz="2400" dirty="0"/>
              </a:p>
              <a:p>
                <a:r>
                  <a:rPr lang="da-DK" sz="2400" dirty="0"/>
                  <a:t>Note </a:t>
                </a:r>
                <a:r>
                  <a:rPr lang="da-DK" sz="2400" dirty="0" err="1"/>
                  <a:t>that</a:t>
                </a:r>
                <a:r>
                  <a:rPr lang="da-DK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e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   1</m:t>
                              </m:r>
                            </m:e>
                          </m:mr>
                        </m:m>
                      </m:e>
                    </m:d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da-DK" sz="2400" dirty="0"/>
              </a:p>
              <a:p>
                <a:endParaRPr lang="da-DK" sz="2400" dirty="0"/>
              </a:p>
              <a:p>
                <a:r>
                  <a:rPr lang="da-DK" sz="2400" dirty="0" err="1"/>
                  <a:t>Assume</a:t>
                </a:r>
                <a:r>
                  <a:rPr lang="da-DK" sz="2400" dirty="0"/>
                  <a:t> </a:t>
                </a:r>
                <a:r>
                  <a:rPr lang="da-DK" sz="2400" dirty="0" err="1"/>
                  <a:t>equal</a:t>
                </a:r>
                <a:r>
                  <a:rPr lang="da-DK" sz="2400" dirty="0"/>
                  <a:t> losses and uniform prior.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328EC-4BC2-6684-6300-A081F1DBB6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628800"/>
                <a:ext cx="11521280" cy="4525963"/>
              </a:xfrm>
              <a:blipFill>
                <a:blip r:embed="rId2"/>
                <a:stretch>
                  <a:fillRect l="-741" t="-107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EEBF2-20F2-5A88-418A-921A1479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6084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AA6AB-96AB-1D63-CC5C-B94512A91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658AF-D926-33C3-85EE-AC41596E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endParaRPr lang="da-DK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3B9605-E009-9019-82E7-F5D5668A4B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368" y="1628800"/>
                <a:ext cx="11521280" cy="4525963"/>
              </a:xfrm>
            </p:spPr>
            <p:txBody>
              <a:bodyPr/>
              <a:lstStyle/>
              <a:p>
                <a:r>
                  <a:rPr lang="da-DK" sz="2400" dirty="0"/>
                  <a:t>We have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2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2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=6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−10  </m:t>
                      </m:r>
                    </m:oMath>
                  </m:oMathPara>
                </a14:m>
                <a:endParaRPr lang="da-DK" sz="2400" dirty="0"/>
              </a:p>
              <a:p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2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2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</m:oMath>
                  </m:oMathPara>
                </a14:m>
                <a:endParaRPr lang="da-DK" sz="2400" dirty="0"/>
              </a:p>
              <a:p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2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2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3B9605-E009-9019-82E7-F5D5668A4B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628800"/>
                <a:ext cx="11521280" cy="4525963"/>
              </a:xfrm>
              <a:blipFill>
                <a:blip r:embed="rId2"/>
                <a:stretch>
                  <a:fillRect l="-741" t="-107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682CE-CB43-E0F1-7107-8E46018DF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1512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76234-F116-B7E7-841D-347B21325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726F2-E96A-CDE7-187D-42AF91F6A8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40768"/>
                <a:ext cx="10972800" cy="4525963"/>
              </a:xfrm>
            </p:spPr>
            <p:txBody>
              <a:bodyPr/>
              <a:lstStyle/>
              <a:p>
                <a:r>
                  <a:rPr lang="da-DK" sz="2000" dirty="0"/>
                  <a:t>Hyperplane </a:t>
                </a:r>
                <a:r>
                  <a:rPr lang="da-DK" sz="2000" dirty="0" err="1"/>
                  <a:t>that</a:t>
                </a:r>
                <a:r>
                  <a:rPr lang="da-DK" sz="2000" dirty="0"/>
                  <a:t> separates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a-DK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sz="2000" dirty="0"/>
                  <a:t> :</a:t>
                </a:r>
              </a:p>
              <a:p>
                <a:endParaRPr lang="da-DK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𝑖𝑒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sz="2000" dirty="0"/>
              </a:p>
              <a:p>
                <a:pPr marL="0" indent="0">
                  <a:buNone/>
                </a:pPr>
                <a:endParaRPr lang="da-DK" sz="2000" dirty="0"/>
              </a:p>
              <a:p>
                <a:r>
                  <a:rPr lang="da-DK" sz="2000" dirty="0"/>
                  <a:t>Hyperplane </a:t>
                </a:r>
                <a:r>
                  <a:rPr lang="da-DK" sz="2000" dirty="0" err="1"/>
                  <a:t>that</a:t>
                </a:r>
                <a:r>
                  <a:rPr lang="da-DK" sz="2000" dirty="0"/>
                  <a:t> separates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a-DK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a-DK" sz="2000" dirty="0"/>
                  <a:t> :</a:t>
                </a:r>
              </a:p>
              <a:p>
                <a:endParaRPr lang="da-DK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=8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−6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0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𝑖𝑒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a-DK" sz="2000" dirty="0"/>
              </a:p>
              <a:p>
                <a:endParaRPr lang="da-DK" sz="2000" dirty="0"/>
              </a:p>
              <a:p>
                <a:r>
                  <a:rPr lang="da-DK" sz="2000" dirty="0" err="1"/>
                  <a:t>Hyperplane</a:t>
                </a:r>
                <a:r>
                  <a:rPr lang="da-DK" sz="2000" dirty="0"/>
                  <a:t> </a:t>
                </a:r>
                <a:r>
                  <a:rPr lang="da-DK" sz="2000" dirty="0" err="1"/>
                  <a:t>that</a:t>
                </a:r>
                <a:r>
                  <a:rPr lang="da-DK" sz="2000" dirty="0"/>
                  <a:t> separates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a-DK" sz="2000" dirty="0"/>
                  <a:t> :</a:t>
                </a:r>
              </a:p>
              <a:p>
                <a:endParaRPr lang="da-DK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=3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sz="20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𝑖𝑒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da-DK" sz="2000" dirty="0"/>
              </a:p>
              <a:p>
                <a:pPr marL="0" indent="0">
                  <a:buNone/>
                </a:pPr>
                <a:endParaRPr lang="da-DK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726F2-E96A-CDE7-187D-42AF91F6A8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40768"/>
                <a:ext cx="10972800" cy="4525963"/>
              </a:xfrm>
              <a:blipFill>
                <a:blip r:embed="rId2"/>
                <a:stretch>
                  <a:fillRect l="-500" t="-809" b="-24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515B6-1CE6-BA2A-BB75-CAC6D839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24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41886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2F81-AEB6-E9D4-34D7-B474470E1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F703-F482-61CF-9494-2F9E183DA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024F7-B0C4-243F-969E-00B78C043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da-DK" sz="20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FF408-D1B4-C87B-4831-51B1B0E6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25</a:t>
            </a:fld>
            <a:endParaRPr lang="da-D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94D584-0792-8A9D-874E-DC93CF82E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600" y="1234800"/>
            <a:ext cx="5632704" cy="562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38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1176-DD70-AD8E-BF80-2E65615B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995A-6EB6-BAC1-0880-B3F91D9B0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40F56-1E5C-D3A0-821A-0C77D1AD1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da-DK" sz="20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25A01-663B-5D5C-52A8-9F05F059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26</a:t>
            </a:fld>
            <a:endParaRPr lang="da-DK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994DA5-95F2-AA0B-C3A5-18EEB98DF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600" y="1234800"/>
            <a:ext cx="5632704" cy="562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21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962FC-11B2-BD63-AC5C-ED2DD519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The Case of Normal Distributions,</a:t>
            </a:r>
            <a:br>
              <a:rPr lang="da-DK" b="1" dirty="0">
                <a:solidFill>
                  <a:srgbClr val="C00000"/>
                </a:solidFill>
              </a:rPr>
            </a:br>
            <a:r>
              <a:rPr lang="da-DK" b="1" dirty="0" err="1">
                <a:solidFill>
                  <a:srgbClr val="C00000"/>
                </a:solidFill>
              </a:rPr>
              <a:t>Unknown</a:t>
            </a:r>
            <a:r>
              <a:rPr lang="da-DK" b="1" dirty="0">
                <a:solidFill>
                  <a:srgbClr val="C00000"/>
                </a:solidFill>
              </a:rPr>
              <a:t>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CE5A92-92F1-9F9F-BC1F-F85CB2141E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Assume </a:t>
                </a:r>
                <a:r>
                  <a:rPr lang="da-DK" dirty="0" err="1"/>
                  <a:t>that</a:t>
                </a:r>
                <a:r>
                  <a:rPr lang="da-DK" dirty="0"/>
                  <a:t> </a:t>
                </a:r>
                <a:r>
                  <a:rPr lang="da-DK" dirty="0" err="1"/>
                  <a:t>individuals</a:t>
                </a:r>
                <a:r>
                  <a:rPr lang="da-DK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a-DK" dirty="0"/>
                  <a:t> have </a:t>
                </a:r>
                <a:r>
                  <a:rPr lang="da-DK" dirty="0" err="1"/>
                  <a:t>normally</a:t>
                </a:r>
                <a:r>
                  <a:rPr lang="da-DK" dirty="0"/>
                  <a:t> </a:t>
                </a:r>
                <a:r>
                  <a:rPr lang="da-DK" dirty="0" err="1"/>
                  <a:t>distributed</a:t>
                </a:r>
                <a:r>
                  <a:rPr lang="da-DK" dirty="0"/>
                  <a:t> data,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da-DK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da-DK" dirty="0"/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invertible</a:t>
                </a:r>
                <a:r>
                  <a:rPr lang="da-DK" dirty="0"/>
                  <a:t>,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a-DK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are</a:t>
                </a:r>
                <a:r>
                  <a:rPr lang="da-DK" dirty="0"/>
                  <a:t> </a:t>
                </a:r>
                <a:r>
                  <a:rPr lang="da-DK" b="1" dirty="0"/>
                  <a:t>not </a:t>
                </a:r>
                <a:r>
                  <a:rPr lang="da-DK" b="1" dirty="0" err="1"/>
                  <a:t>known</a:t>
                </a:r>
                <a:r>
                  <a:rPr lang="da-DK" dirty="0"/>
                  <a:t>. </a:t>
                </a:r>
              </a:p>
              <a:p>
                <a:r>
                  <a:rPr lang="da-DK" dirty="0"/>
                  <a:t>Prior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da-DK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m:rPr>
                        <m:lit/>
                      </m:rP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…,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a-DK" dirty="0"/>
                  <a:t>.</a:t>
                </a:r>
              </a:p>
              <a:p>
                <a:r>
                  <a:rPr lang="da-DK" dirty="0"/>
                  <a:t>Observations </a:t>
                </a:r>
                <a:endParaRPr lang="da-DK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a-DK" dirty="0"/>
                  <a:t> </a:t>
                </a: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CE5A92-92F1-9F9F-BC1F-F85CB2141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6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FF0D-2D52-0220-3391-A24B22DE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36271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95868-1159-6475-6311-642B31DE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0CB0-EC8F-68DD-B423-4E592C62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The Case of Normal Distributions,</a:t>
            </a:r>
            <a:br>
              <a:rPr lang="da-DK" b="1" dirty="0">
                <a:solidFill>
                  <a:srgbClr val="C00000"/>
                </a:solidFill>
              </a:rPr>
            </a:br>
            <a:r>
              <a:rPr lang="da-DK" b="1" dirty="0" err="1">
                <a:solidFill>
                  <a:srgbClr val="C00000"/>
                </a:solidFill>
              </a:rPr>
              <a:t>Unknown</a:t>
            </a:r>
            <a:r>
              <a:rPr lang="da-DK" b="1" dirty="0">
                <a:solidFill>
                  <a:srgbClr val="C00000"/>
                </a:solidFill>
              </a:rPr>
              <a:t>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05D878-7961-4832-4D7F-C313B6E218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Define the </a:t>
                </a:r>
                <a:r>
                  <a:rPr lang="da-DK" b="1" dirty="0" err="1"/>
                  <a:t>W</a:t>
                </a:r>
                <a:r>
                  <a:rPr lang="da-DK" dirty="0" err="1"/>
                  <a:t>ithin</a:t>
                </a:r>
                <a:r>
                  <a:rPr lang="da-DK" dirty="0"/>
                  <a:t> Group, </a:t>
                </a:r>
                <a:r>
                  <a:rPr lang="da-DK" b="1" dirty="0" err="1"/>
                  <a:t>B</a:t>
                </a:r>
                <a:r>
                  <a:rPr lang="da-DK" dirty="0" err="1"/>
                  <a:t>etween</a:t>
                </a:r>
                <a:r>
                  <a:rPr lang="da-DK" dirty="0"/>
                  <a:t> Groups and </a:t>
                </a:r>
                <a:r>
                  <a:rPr lang="da-DK" b="1" dirty="0"/>
                  <a:t>T</a:t>
                </a:r>
                <a:r>
                  <a:rPr lang="da-DK" dirty="0"/>
                  <a:t>otal sums of </a:t>
                </a:r>
                <a:r>
                  <a:rPr lang="da-DK" dirty="0" err="1"/>
                  <a:t>square</a:t>
                </a:r>
                <a:r>
                  <a:rPr lang="da-DK" dirty="0"/>
                  <a:t> matrices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da-DK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  <m:e>
                                    <m:d>
                                      <m:dPr>
                                        <m:ctrlP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  <m: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da-DK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a-DK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da-DK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da-DK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nary>
                          </m:e>
                        </m:mr>
                        <m:m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d>
                                <m:sSup>
                                  <m:sSupPr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</m:mr>
                        <m:m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lang="da-DK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da-DK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a-DK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da-DK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lang="da-DK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a-DK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a-DK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  <m:e>
                                    <m:d>
                                      <m:d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  <m: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da-DK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da-DK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da-DK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Note: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05D878-7961-4832-4D7F-C313B6E218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89" t="-1752" b="-48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0ADE2-3356-A7EF-F9B7-EE990A39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8847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4B3E4-6881-F1A7-C4B5-A5AA605E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09B9-3521-DD13-C028-EB0F015C7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The Case of Normal Distributions,</a:t>
            </a:r>
            <a:br>
              <a:rPr lang="da-DK" b="1" dirty="0">
                <a:solidFill>
                  <a:srgbClr val="C00000"/>
                </a:solidFill>
              </a:rPr>
            </a:br>
            <a:r>
              <a:rPr lang="da-DK" b="1" dirty="0" err="1">
                <a:solidFill>
                  <a:srgbClr val="C00000"/>
                </a:solidFill>
              </a:rPr>
              <a:t>Unknown</a:t>
            </a:r>
            <a:r>
              <a:rPr lang="da-DK" b="1" dirty="0">
                <a:solidFill>
                  <a:srgbClr val="C00000"/>
                </a:solidFill>
              </a:rPr>
              <a:t>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C18EC-7648-93FA-F96E-002923907F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Define the </a:t>
                </a:r>
                <a:r>
                  <a:rPr lang="da-DK" b="1" dirty="0" err="1"/>
                  <a:t>W</a:t>
                </a:r>
                <a:r>
                  <a:rPr lang="da-DK" dirty="0" err="1"/>
                  <a:t>ithin</a:t>
                </a:r>
                <a:r>
                  <a:rPr lang="da-DK" dirty="0"/>
                  <a:t> Group, </a:t>
                </a:r>
                <a:r>
                  <a:rPr lang="da-DK" b="1" dirty="0" err="1"/>
                  <a:t>B</a:t>
                </a:r>
                <a:r>
                  <a:rPr lang="da-DK" dirty="0" err="1"/>
                  <a:t>etween</a:t>
                </a:r>
                <a:r>
                  <a:rPr lang="da-DK" dirty="0"/>
                  <a:t> Groups and </a:t>
                </a:r>
                <a:r>
                  <a:rPr lang="da-DK" b="1" dirty="0"/>
                  <a:t>T</a:t>
                </a:r>
                <a:r>
                  <a:rPr lang="da-DK" dirty="0"/>
                  <a:t>otal sums of </a:t>
                </a:r>
                <a:r>
                  <a:rPr lang="da-DK" dirty="0" err="1"/>
                  <a:t>square</a:t>
                </a:r>
                <a:r>
                  <a:rPr lang="da-DK" dirty="0"/>
                  <a:t> matrices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da-DK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  <m:e>
                                    <m:d>
                                      <m:dPr>
                                        <m:ctrlP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  <m: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da-DK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a-DK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da-DK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da-DK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nary>
                          </m:e>
                        </m:mr>
                        <m:m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a-DK" sz="20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d>
                                <m:sSup>
                                  <m:sSupPr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</m:mr>
                        <m:m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lang="da-DK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da-DK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a-DK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da-DK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lang="da-DK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a-DK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a-DK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  <m:e>
                                    <m:d>
                                      <m:d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  <m: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da-DK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da-DK" sz="20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da-DK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da-DK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da-DK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da-DK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da-DK" sz="20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Note: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C18EC-7648-93FA-F96E-002923907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89" t="-1752" b="-48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BE44-20D0-461D-C1E4-81D130D5F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4092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113EE-7E77-0CFD-0B12-207FB33D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E25E-1DC8-6A31-1EEE-1E8D7855A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Parameter </a:t>
            </a:r>
            <a:r>
              <a:rPr lang="da-DK" b="1" dirty="0" err="1">
                <a:solidFill>
                  <a:srgbClr val="C00000"/>
                </a:solidFill>
              </a:rPr>
              <a:t>Estimation</a:t>
            </a:r>
            <a:endParaRPr lang="da-DK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EC357-CA3D-1FCF-D6A8-33021CDC36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a-DK" b="0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Under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=⋯=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dirty="0"/>
                  <a:t>,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estimate</a:t>
                </a:r>
                <a:r>
                  <a:rPr lang="da-DK" dirty="0"/>
                  <a:t> (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da-DK" dirty="0"/>
                  <a:t>):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acc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EC357-CA3D-1FCF-D6A8-33021CDC36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89" b="-21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E6A49-01F9-F549-F39C-C92C55B4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6704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79D3D-974A-AF84-FC9D-F650F8E7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Distance </a:t>
            </a:r>
            <a:r>
              <a:rPr lang="da-DK" b="1" dirty="0" err="1">
                <a:solidFill>
                  <a:srgbClr val="C00000"/>
                </a:solidFill>
              </a:rPr>
              <a:t>Between</a:t>
            </a:r>
            <a:r>
              <a:rPr lang="da-DK" b="1" dirty="0">
                <a:solidFill>
                  <a:srgbClr val="C00000"/>
                </a:solidFill>
              </a:rPr>
              <a:t> Populations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553B4-756E-97ED-55FA-A6E2B31F0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B394D-0CDB-4873-5714-2504D7F8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31</a:t>
            </a:fld>
            <a:endParaRPr lang="da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624014-E93B-4C99-E298-90732F638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784" y="1679973"/>
            <a:ext cx="8194431" cy="421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528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23DE-0BB8-7656-97D6-E841BBD7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Distance </a:t>
            </a:r>
            <a:r>
              <a:rPr lang="da-DK" b="1" dirty="0" err="1">
                <a:solidFill>
                  <a:srgbClr val="C00000"/>
                </a:solidFill>
              </a:rPr>
              <a:t>Between</a:t>
            </a:r>
            <a:r>
              <a:rPr lang="da-DK" b="1" dirty="0">
                <a:solidFill>
                  <a:srgbClr val="C00000"/>
                </a:solidFill>
              </a:rPr>
              <a:t> Populations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039A01-9A58-1577-B9CA-1C7DF036C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4747" y="1340768"/>
                <a:ext cx="11247040" cy="4525963"/>
              </a:xfrm>
            </p:spPr>
            <p:txBody>
              <a:bodyPr/>
              <a:lstStyle/>
              <a:p>
                <a:r>
                  <a:rPr lang="da-DK" sz="2000" dirty="0"/>
                  <a:t>Note </a:t>
                </a:r>
                <a:r>
                  <a:rPr lang="da-DK" sz="2000" dirty="0" err="1"/>
                  <a:t>that</a:t>
                </a:r>
                <a:r>
                  <a:rPr lang="da-DK" sz="2000" dirty="0"/>
                  <a:t>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a-DK" sz="2000" dirty="0"/>
                  <a:t> and </a:t>
                </a:r>
                <a:r>
                  <a:rPr lang="da-DK" sz="2000" dirty="0" err="1"/>
                  <a:t>equal</a:t>
                </a:r>
                <a:r>
                  <a:rPr lang="da-DK" sz="2000" dirty="0"/>
                  <a:t> priors,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da-DK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a-DK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sz="2000" dirty="0"/>
                  <a:t> is the (</a:t>
                </a:r>
                <a:r>
                  <a:rPr lang="da-DK" sz="2000" dirty="0" err="1"/>
                  <a:t>empirical</a:t>
                </a:r>
                <a:r>
                  <a:rPr lang="da-DK" sz="2000" dirty="0"/>
                  <a:t>) </a:t>
                </a:r>
                <a:r>
                  <a:rPr lang="da-DK" sz="2000" dirty="0" err="1"/>
                  <a:t>Mahanalobis</a:t>
                </a:r>
                <a:r>
                  <a:rPr lang="da-DK" sz="2000" dirty="0"/>
                  <a:t> distance </a:t>
                </a:r>
                <a:r>
                  <a:rPr lang="da-DK" sz="2000" dirty="0" err="1"/>
                  <a:t>between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da-DK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 sz="2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a-DK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da-DK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 sz="2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da-DK" sz="2000" dirty="0"/>
                  <a:t>.</a:t>
                </a:r>
              </a:p>
              <a:p>
                <a:r>
                  <a:rPr lang="da-DK" sz="2000" dirty="0" err="1"/>
                  <a:t>Since</a:t>
                </a:r>
                <a:endParaRPr lang="da-DK" sz="2000" dirty="0"/>
              </a:p>
              <a:p>
                <a:endParaRPr lang="da-DK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a-DK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d>
                            <m:dPr>
                              <m:ctrlPr>
                                <a:rPr lang="da-DK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da-DK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da-DK" sz="2000" dirty="0"/>
              </a:p>
              <a:p>
                <a:pPr marL="0" indent="0">
                  <a:buNone/>
                </a:pPr>
                <a:endParaRPr lang="da-DK" sz="2000" dirty="0"/>
              </a:p>
              <a:p>
                <a:pPr marL="0" indent="0">
                  <a:buNone/>
                </a:pPr>
                <a:r>
                  <a:rPr lang="da-DK" sz="2000" dirty="0" err="1"/>
                  <a:t>if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a-DK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sz="2000" dirty="0"/>
                  <a:t>. </a:t>
                </a:r>
                <a:r>
                  <a:rPr lang="da-DK" sz="2000" dirty="0" err="1"/>
                  <a:t>We</a:t>
                </a:r>
                <a:r>
                  <a:rPr lang="da-DK" sz="2000" dirty="0"/>
                  <a:t> </a:t>
                </a:r>
                <a:r>
                  <a:rPr lang="da-DK" sz="2000" dirty="0" err="1"/>
                  <a:t>can</a:t>
                </a:r>
                <a:r>
                  <a:rPr lang="da-DK" sz="2000" dirty="0"/>
                  <a:t> </a:t>
                </a:r>
                <a:r>
                  <a:rPr lang="da-DK" sz="2000" dirty="0" err="1"/>
                  <a:t>thus</a:t>
                </a:r>
                <a:r>
                  <a:rPr lang="da-DK" sz="2000" dirty="0"/>
                  <a:t> </a:t>
                </a:r>
                <a:r>
                  <a:rPr lang="da-DK" sz="2000" dirty="0" err="1"/>
                  <a:t>use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da-DK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a-DK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da-DK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sz="2000" dirty="0"/>
                  <a:t> as a </a:t>
                </a:r>
                <a:r>
                  <a:rPr lang="da-DK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test </a:t>
                </a:r>
                <a:r>
                  <a:rPr lang="da-DK" sz="20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statistic</a:t>
                </a:r>
                <a:r>
                  <a:rPr lang="da-DK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a-DK" sz="2000" dirty="0"/>
                  <a:t>for the </a:t>
                </a:r>
                <a:r>
                  <a:rPr lang="da-DK" sz="2000" dirty="0" err="1"/>
                  <a:t>hypothesis</a:t>
                </a:r>
                <a:endParaRPr lang="da-DK" sz="2000" dirty="0"/>
              </a:p>
              <a:p>
                <a:pPr marL="0" indent="0">
                  <a:buNone/>
                </a:pPr>
                <a:endParaRPr lang="da-DK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da-DK" sz="2000" dirty="0"/>
              </a:p>
              <a:p>
                <a:pPr marL="0" indent="0">
                  <a:buNone/>
                </a:pPr>
                <a:endParaRPr lang="da-DK" sz="2000" dirty="0"/>
              </a:p>
              <a:p>
                <a:r>
                  <a:rPr lang="da-DK" sz="2000" dirty="0"/>
                  <a:t>(This test </a:t>
                </a:r>
                <a:r>
                  <a:rPr lang="da-DK" sz="2000" dirty="0" err="1"/>
                  <a:t>can</a:t>
                </a:r>
                <a:r>
                  <a:rPr lang="da-DK" sz="2000" dirty="0"/>
                  <a:t> </a:t>
                </a:r>
                <a:r>
                  <a:rPr lang="da-DK" sz="2000" dirty="0" err="1"/>
                  <a:t>also</a:t>
                </a:r>
                <a:r>
                  <a:rPr lang="da-DK" sz="2000" dirty="0"/>
                  <a:t> </a:t>
                </a:r>
                <a:r>
                  <a:rPr lang="da-DK" sz="2000" dirty="0" err="1"/>
                  <a:t>be</a:t>
                </a:r>
                <a:r>
                  <a:rPr lang="da-DK" sz="2000" dirty="0"/>
                  <a:t> </a:t>
                </a:r>
                <a:r>
                  <a:rPr lang="da-DK" sz="2000" dirty="0" err="1"/>
                  <a:t>obtained</a:t>
                </a:r>
                <a:r>
                  <a:rPr lang="da-DK" sz="2000" dirty="0"/>
                  <a:t> in the General </a:t>
                </a:r>
                <a:r>
                  <a:rPr lang="da-DK" sz="2000" dirty="0" err="1"/>
                  <a:t>Linear</a:t>
                </a:r>
                <a:r>
                  <a:rPr lang="da-DK" sz="2000" dirty="0"/>
                  <a:t> Model as a MANOVA </a:t>
                </a:r>
                <a:r>
                  <a:rPr lang="da-DK" sz="2000" dirty="0" err="1"/>
                  <a:t>hypothesis</a:t>
                </a:r>
                <a:r>
                  <a:rPr lang="da-DK" sz="2000" dirty="0"/>
                  <a:t>)</a:t>
                </a:r>
              </a:p>
              <a:p>
                <a:endParaRPr lang="da-DK" sz="2000" dirty="0"/>
              </a:p>
              <a:p>
                <a:r>
                  <a:rPr lang="da-DK" sz="2000" dirty="0" err="1"/>
                  <a:t>Which</a:t>
                </a:r>
                <a:r>
                  <a:rPr lang="da-DK" sz="2000" dirty="0"/>
                  <a:t> problems </a:t>
                </a:r>
                <a:r>
                  <a:rPr lang="da-DK" sz="2000" dirty="0" err="1"/>
                  <a:t>occur</a:t>
                </a:r>
                <a:r>
                  <a:rPr lang="da-DK" sz="2000" dirty="0"/>
                  <a:t> </a:t>
                </a:r>
                <a:r>
                  <a:rPr lang="da-DK" sz="2000" dirty="0" err="1"/>
                  <a:t>if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a-DK" sz="2000" dirty="0"/>
                  <a:t> is not true?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039A01-9A58-1577-B9CA-1C7DF036C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4747" y="1340768"/>
                <a:ext cx="11247040" cy="4525963"/>
              </a:xfrm>
              <a:blipFill>
                <a:blip r:embed="rId3"/>
                <a:stretch>
                  <a:fillRect l="-542" t="-270" b="-1576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850F1-D7A5-85B3-9F34-71EAEF1A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67642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CC207-CF9B-F76C-A0C0-18328F65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Test for </a:t>
            </a:r>
            <a:r>
              <a:rPr lang="da-DK" b="1" dirty="0" err="1">
                <a:solidFill>
                  <a:srgbClr val="C00000"/>
                </a:solidFill>
              </a:rPr>
              <a:t>Additional</a:t>
            </a:r>
            <a:r>
              <a:rPr lang="da-DK" b="1" dirty="0">
                <a:solidFill>
                  <a:srgbClr val="C00000"/>
                </a:solidFill>
              </a:rPr>
              <a:t>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62CBE-0EE7-3D6E-50AB-CFC659D77C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</p:spPr>
            <p:txBody>
              <a:bodyPr/>
              <a:lstStyle/>
              <a:p>
                <a:r>
                  <a:rPr lang="da-DK" sz="1800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a-DK" sz="1800" dirty="0"/>
                  <a:t>, and </a:t>
                </a:r>
                <a:r>
                  <a:rPr lang="da-DK" sz="1800" dirty="0" err="1"/>
                  <a:t>subdivide</a:t>
                </a:r>
                <a:r>
                  <a:rPr lang="da-DK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da-DK" sz="1800" dirty="0" err="1"/>
                  <a:t>into</a:t>
                </a:r>
                <a:r>
                  <a:rPr lang="da-DK" sz="1800" dirty="0"/>
                  <a:t> the </a:t>
                </a:r>
                <a:r>
                  <a:rPr lang="da-DK" sz="1800" dirty="0" err="1"/>
                  <a:t>first</a:t>
                </a:r>
                <a:r>
                  <a:rPr lang="da-DK" sz="1800" dirty="0"/>
                  <a:t> </a:t>
                </a:r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da-DK" sz="1800" dirty="0"/>
                  <a:t> and the last </a:t>
                </a:r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da-DK" sz="1800" dirty="0"/>
                  <a:t> variables, </a:t>
                </a:r>
                <a:r>
                  <a:rPr lang="da-DK" sz="1800" dirty="0" err="1"/>
                  <a:t>ie</a:t>
                </a:r>
                <a:r>
                  <a:rPr lang="da-DK" sz="1800" dirty="0"/>
                  <a:t>.</a:t>
                </a:r>
              </a:p>
              <a:p>
                <a:endParaRPr lang="da-DK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𝑖𝑞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da-DK" sz="18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da-DK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𝑖𝑝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a-DK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1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a-DK" sz="1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da-DK" sz="18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a-DK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da-DK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da-DK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da-DK" sz="18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a-DK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da-DK" sz="1800" b="0" i="0" smtClean="0"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da-DK" sz="1800" b="0" i="0" smtClean="0"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da-DK" sz="1800" b="0" i="0" smtClean="0"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da-DK" sz="1800" b="0" i="0" smtClean="0"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da-DK" sz="1800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r>
                  <a:rPr lang="da-DK" sz="1800" dirty="0" err="1"/>
                  <a:t>We</a:t>
                </a:r>
                <a:r>
                  <a:rPr lang="da-DK" sz="1800" dirty="0"/>
                  <a:t> </a:t>
                </a:r>
                <a:r>
                  <a:rPr lang="da-DK" sz="1800" dirty="0" err="1"/>
                  <a:t>want</a:t>
                </a:r>
                <a:r>
                  <a:rPr lang="da-DK" sz="1800" dirty="0"/>
                  <a:t> to </a:t>
                </a:r>
                <a:r>
                  <a:rPr lang="da-DK" sz="1800" dirty="0" err="1"/>
                  <a:t>investigate</a:t>
                </a:r>
                <a:r>
                  <a:rPr lang="da-DK" sz="1800" dirty="0"/>
                  <a:t> the </a:t>
                </a:r>
                <a:r>
                  <a:rPr lang="da-DK" sz="1800" dirty="0" err="1"/>
                  <a:t>hypothesis</a:t>
                </a: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𝑇h𝑒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𝑑𝑒𝑣𝑖𝑎𝑡𝑖𝑜𝑛𝑠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𝑚𝑎𝑦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𝑑𝑒𝑡𝑒𝑟𝑚𝑖𝑛𝑒𝑑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𝑓𝑖𝑟𝑠𝑡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𝑣𝑎𝑟𝑖𝑎𝑏𝑙𝑒𝑠</m:t>
                      </m:r>
                    </m:oMath>
                  </m:oMathPara>
                </a14:m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r>
                  <a:rPr lang="da-DK" sz="1800" dirty="0"/>
                  <a:t>Translation: If </a:t>
                </a:r>
                <a:r>
                  <a:rPr lang="da-DK" sz="1800" dirty="0" err="1"/>
                  <a:t>we</a:t>
                </a:r>
                <a:r>
                  <a:rPr lang="da-DK" sz="1800" dirty="0"/>
                  <a:t> </a:t>
                </a:r>
                <a:r>
                  <a:rPr lang="da-DK" sz="1800" dirty="0" err="1"/>
                  <a:t>know</a:t>
                </a:r>
                <a:r>
                  <a:rPr lang="da-DK" sz="1800" dirty="0"/>
                  <a:t> the </a:t>
                </a:r>
                <a:r>
                  <a:rPr lang="da-DK" sz="1800" dirty="0" err="1"/>
                  <a:t>first</a:t>
                </a:r>
                <a:r>
                  <a:rPr lang="da-DK" sz="1800" dirty="0"/>
                  <a:t> </a:t>
                </a:r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da-DK" sz="1800" dirty="0"/>
                  <a:t> variables, </a:t>
                </a:r>
                <a:r>
                  <a:rPr lang="da-DK" sz="1800" dirty="0" err="1"/>
                  <a:t>there</a:t>
                </a:r>
                <a:r>
                  <a:rPr lang="da-DK" sz="1800" dirty="0"/>
                  <a:t> is no difference </a:t>
                </a:r>
                <a:r>
                  <a:rPr lang="da-DK" sz="1800" dirty="0" err="1"/>
                  <a:t>between</a:t>
                </a:r>
                <a:r>
                  <a:rPr lang="da-DK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180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da-DK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a-DK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da-DK" sz="1800" dirty="0"/>
                  <a:t> for the last </a:t>
                </a:r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da-DK" sz="1800" dirty="0"/>
                  <a:t> variables.</a:t>
                </a:r>
              </a:p>
              <a:p>
                <a:r>
                  <a:rPr lang="da-DK" sz="1800" dirty="0" err="1"/>
                  <a:t>Consequence</a:t>
                </a:r>
                <a:r>
                  <a:rPr lang="da-DK" sz="1800" dirty="0"/>
                  <a:t> </a:t>
                </a:r>
                <a:r>
                  <a:rPr lang="da-DK" sz="1800" dirty="0" err="1"/>
                  <a:t>if</a:t>
                </a:r>
                <a:r>
                  <a:rPr lang="da-DK" sz="1800" dirty="0"/>
                  <a:t> true: The last </a:t>
                </a:r>
                <a14:m>
                  <m:oMath xmlns:m="http://schemas.openxmlformats.org/officeDocument/2006/math">
                    <m:r>
                      <a:rPr lang="da-DK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sz="1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da-DK" sz="1800" dirty="0"/>
                  <a:t> variables do not </a:t>
                </a:r>
                <a:r>
                  <a:rPr lang="da-DK" sz="1800" dirty="0" err="1"/>
                  <a:t>contribute</a:t>
                </a:r>
                <a:r>
                  <a:rPr lang="da-DK" sz="1800" dirty="0"/>
                  <a:t> to the separation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180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da-DK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a-DK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da-DK" sz="1800" dirty="0"/>
                  <a:t>, and </a:t>
                </a:r>
                <a:r>
                  <a:rPr lang="da-DK" sz="1800" dirty="0" err="1"/>
                  <a:t>may</a:t>
                </a:r>
                <a:r>
                  <a:rPr lang="da-DK" sz="1800" dirty="0"/>
                  <a:t> </a:t>
                </a:r>
                <a:r>
                  <a:rPr lang="da-DK" sz="1800" dirty="0" err="1"/>
                  <a:t>be</a:t>
                </a:r>
                <a:r>
                  <a:rPr lang="da-DK" sz="1800" dirty="0"/>
                  <a:t> </a:t>
                </a:r>
                <a:r>
                  <a:rPr lang="da-DK" sz="1800" dirty="0" err="1"/>
                  <a:t>omitted</a:t>
                </a:r>
                <a:r>
                  <a:rPr lang="da-DK" sz="1800" dirty="0"/>
                  <a:t> from the </a:t>
                </a:r>
                <a:r>
                  <a:rPr lang="da-DK" sz="1800" dirty="0" err="1"/>
                  <a:t>analysis</a:t>
                </a:r>
                <a:r>
                  <a:rPr lang="da-DK" sz="1800" dirty="0"/>
                  <a:t>!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62CBE-0EE7-3D6E-50AB-CFC659D77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  <a:blipFill>
                <a:blip r:embed="rId2"/>
                <a:stretch>
                  <a:fillRect l="-333" t="-538" b="-1830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5C071-B7DA-2B90-A2C7-66E7E638A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45879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8D51-ADC2-C63A-C588-27C09204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5B3C-C5C2-4FA5-3968-425DDEA2D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Test for </a:t>
            </a:r>
            <a:r>
              <a:rPr lang="da-DK" b="1" dirty="0" err="1">
                <a:solidFill>
                  <a:srgbClr val="C00000"/>
                </a:solidFill>
              </a:rPr>
              <a:t>Additional</a:t>
            </a:r>
            <a:r>
              <a:rPr lang="da-DK" b="1" dirty="0">
                <a:solidFill>
                  <a:srgbClr val="C00000"/>
                </a:solidFill>
              </a:rPr>
              <a:t>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16D80-72F4-B7EF-2BD2-B707663641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  <m:e>
                          <m:sSubSup>
                            <m:sSubSup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(2|1)</m:t>
                          </m:r>
                        </m:sup>
                      </m:sSubSup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1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da-DK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da-DK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da-DK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 =</m:t>
                      </m:r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da-DK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da-DK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p>
                        <m:s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r>
                  <a:rPr lang="da-DK" sz="1800" dirty="0" err="1"/>
                  <a:t>Conditional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contrasts</a:t>
                </a:r>
                <a:r>
                  <a:rPr lang="da-DK" sz="1800" dirty="0"/>
                  <a:t>: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(2|1)</m:t>
                          </m:r>
                        </m:sup>
                      </m:sSubSup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da-DK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da-DK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da-DK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da-DK" sz="18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da-DK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r>
                  <a:rPr lang="da-DK" sz="1800" dirty="0"/>
                  <a:t>is </a:t>
                </a:r>
                <a:r>
                  <a:rPr lang="da-DK" sz="1800" dirty="0" err="1"/>
                  <a:t>parametric</a:t>
                </a:r>
                <a:r>
                  <a:rPr lang="da-DK" sz="1800" dirty="0"/>
                  <a:t>, </a:t>
                </a:r>
                <a:r>
                  <a:rPr lang="da-DK" sz="1800" dirty="0" err="1"/>
                  <a:t>does</a:t>
                </a:r>
                <a:r>
                  <a:rPr lang="da-DK" sz="1800" dirty="0"/>
                  <a:t> not </a:t>
                </a:r>
                <a:r>
                  <a:rPr lang="da-DK" sz="1800" dirty="0" err="1"/>
                  <a:t>depend</a:t>
                </a:r>
                <a:r>
                  <a:rPr lang="da-DK" sz="1800" dirty="0"/>
                  <a:t> on the </a:t>
                </a:r>
                <a:r>
                  <a:rPr lang="da-DK" sz="1800" dirty="0" err="1"/>
                  <a:t>actual</a:t>
                </a:r>
                <a:r>
                  <a:rPr lang="da-DK" sz="1800" dirty="0"/>
                  <a:t> observation!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14:m>
                  <m:oMath xmlns:m="http://schemas.openxmlformats.org/officeDocument/2006/math">
                    <m:r>
                      <a:rPr lang="da-DK" sz="18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da-DK" sz="1800" dirty="0"/>
                  <a:t> </a:t>
                </a:r>
                <a:r>
                  <a:rPr lang="da-DK" sz="1800" dirty="0" err="1"/>
                  <a:t>translates</a:t>
                </a:r>
                <a:r>
                  <a:rPr lang="da-DK" sz="1800" dirty="0"/>
                  <a:t> </a:t>
                </a:r>
                <a:r>
                  <a:rPr lang="da-DK" sz="1800" dirty="0" err="1"/>
                  <a:t>into</a:t>
                </a: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(2|1)</m:t>
                          </m:r>
                        </m:sup>
                      </m:sSubSup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=⋯</m:t>
                      </m:r>
                      <m:sSubSup>
                        <m:sSub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da-DK" sz="1800" i="1">
                              <a:latin typeface="Cambria Math" panose="02040503050406030204" pitchFamily="18" charset="0"/>
                            </a:rPr>
                            <m:t>(2|1)</m:t>
                          </m:r>
                        </m:sup>
                      </m:sSubSup>
                    </m:oMath>
                  </m:oMathPara>
                </a14:m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r>
                  <a:rPr lang="da-DK" sz="1800" dirty="0"/>
                  <a:t>A </a:t>
                </a:r>
                <a:r>
                  <a:rPr lang="da-DK" sz="1800" dirty="0" err="1"/>
                  <a:t>multivariate</a:t>
                </a:r>
                <a:r>
                  <a:rPr lang="da-DK" sz="1800" dirty="0"/>
                  <a:t> </a:t>
                </a:r>
                <a:r>
                  <a:rPr lang="da-DK" sz="1800" dirty="0" err="1"/>
                  <a:t>one-sided</a:t>
                </a:r>
                <a:r>
                  <a:rPr lang="da-DK" sz="1800" dirty="0"/>
                  <a:t> </a:t>
                </a:r>
                <a:r>
                  <a:rPr lang="da-DK" sz="1800" dirty="0" err="1"/>
                  <a:t>analysis</a:t>
                </a:r>
                <a:r>
                  <a:rPr lang="da-DK" sz="1800" dirty="0"/>
                  <a:t> of </a:t>
                </a:r>
                <a:r>
                  <a:rPr lang="da-DK" sz="1800" dirty="0" err="1"/>
                  <a:t>variance</a:t>
                </a:r>
                <a:r>
                  <a:rPr lang="da-DK" sz="1800" dirty="0"/>
                  <a:t> </a:t>
                </a:r>
                <a:r>
                  <a:rPr lang="da-DK" sz="1800" dirty="0" err="1"/>
                  <a:t>hypothesis</a:t>
                </a:r>
                <a:r>
                  <a:rPr lang="da-DK" sz="1800" dirty="0"/>
                  <a:t>!</a:t>
                </a:r>
              </a:p>
              <a:p>
                <a:pPr marL="0" indent="0">
                  <a:buNone/>
                </a:pPr>
                <a:endParaRPr lang="da-DK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16D80-72F4-B7EF-2BD2-B707663641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  <a:blipFill>
                <a:blip r:embed="rId2"/>
                <a:stretch>
                  <a:fillRect l="-444" b="-2032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F14F9-CBF2-B651-201C-7654C357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85747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0A63-BC8B-BC4D-463C-9F11A8C0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6CA02-B612-0835-4488-67676E294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Test for </a:t>
            </a:r>
            <a:r>
              <a:rPr lang="da-DK" b="1" dirty="0" err="1">
                <a:solidFill>
                  <a:srgbClr val="C00000"/>
                </a:solidFill>
              </a:rPr>
              <a:t>Additional</a:t>
            </a:r>
            <a:r>
              <a:rPr lang="da-DK" b="1" dirty="0">
                <a:solidFill>
                  <a:srgbClr val="C00000"/>
                </a:solidFill>
              </a:rPr>
              <a:t>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AC13F-7472-13BA-766E-1860F42904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</p:spPr>
            <p:txBody>
              <a:bodyPr/>
              <a:lstStyle/>
              <a:p>
                <a:r>
                  <a:rPr lang="da-DK" sz="2400" dirty="0"/>
                  <a:t>Subdivide </a:t>
                </a:r>
              </a:p>
              <a:p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400" b="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And </a:t>
                </a:r>
                <a:r>
                  <a:rPr lang="da-DK" sz="2400" dirty="0" err="1"/>
                  <a:t>construct</a:t>
                </a:r>
                <a:r>
                  <a:rPr lang="da-DK" sz="2400" dirty="0"/>
                  <a:t> 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2|1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2|1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AC13F-7472-13BA-766E-1860F42904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  <a:blipFill>
                <a:blip r:embed="rId2"/>
                <a:stretch>
                  <a:fillRect l="-833" t="-107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E872E-A3D3-14CD-37ED-E77C2621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47790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F0971-DE9F-7EC9-F3F1-27399493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A2DE-8D5A-98BF-9EB7-7A21D6B6C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Test for </a:t>
            </a:r>
            <a:r>
              <a:rPr lang="da-DK" b="1" dirty="0" err="1">
                <a:solidFill>
                  <a:srgbClr val="C00000"/>
                </a:solidFill>
              </a:rPr>
              <a:t>Additional</a:t>
            </a:r>
            <a:r>
              <a:rPr lang="da-DK" b="1" dirty="0">
                <a:solidFill>
                  <a:srgbClr val="C00000"/>
                </a:solidFill>
              </a:rPr>
              <a:t>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61A14-18FF-D246-7A00-44A775943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da-DK" sz="1800" dirty="0"/>
                  <a:t> is the </a:t>
                </a:r>
                <a:r>
                  <a:rPr lang="da-DK" sz="1800" dirty="0" err="1"/>
                  <a:t>Wilks</a:t>
                </a:r>
                <a:r>
                  <a:rPr lang="da-DK" sz="1800" dirty="0"/>
                  <a:t>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800" b="0" i="0" smtClean="0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da-DK" sz="1800" dirty="0"/>
                  <a:t>. 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:r>
                  <a:rPr lang="da-DK" sz="1800" dirty="0"/>
                  <a:t>Note </a:t>
                </a:r>
                <a:r>
                  <a:rPr lang="da-DK" sz="1800" dirty="0" err="1"/>
                  <a:t>that</a:t>
                </a:r>
                <a:r>
                  <a:rPr lang="da-DK" sz="1800" dirty="0"/>
                  <a:t> the test is </a:t>
                </a:r>
                <a:r>
                  <a:rPr lang="da-DK" sz="1800" dirty="0" err="1"/>
                  <a:t>essentially</a:t>
                </a:r>
                <a:r>
                  <a:rPr lang="da-DK" sz="1800" dirty="0"/>
                  <a:t> the ratio </a:t>
                </a:r>
                <a:r>
                  <a:rPr lang="da-DK" sz="1800" dirty="0" err="1"/>
                  <a:t>between</a:t>
                </a:r>
                <a:r>
                  <a:rPr lang="da-DK" sz="1800" dirty="0"/>
                  <a:t> the variation </a:t>
                </a:r>
                <a:r>
                  <a:rPr lang="da-DK" sz="1800" b="1" dirty="0" err="1"/>
                  <a:t>W</a:t>
                </a:r>
                <a:r>
                  <a:rPr lang="da-DK" sz="1800" dirty="0" err="1"/>
                  <a:t>ithin</a:t>
                </a:r>
                <a:r>
                  <a:rPr lang="da-DK" sz="1800" dirty="0"/>
                  <a:t> </a:t>
                </a:r>
                <a:r>
                  <a:rPr lang="da-DK" sz="1800" dirty="0" err="1"/>
                  <a:t>groups</a:t>
                </a:r>
                <a:r>
                  <a:rPr lang="da-DK" sz="1800" dirty="0"/>
                  <a:t> and the </a:t>
                </a:r>
                <a:r>
                  <a:rPr lang="da-DK" sz="1800" b="1" dirty="0"/>
                  <a:t>T</a:t>
                </a:r>
                <a:r>
                  <a:rPr lang="da-DK" sz="1800" dirty="0"/>
                  <a:t>otal variation, given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da-DK" sz="1800" dirty="0"/>
                  <a:t>, with small </a:t>
                </a:r>
                <a:r>
                  <a:rPr lang="da-DK" sz="1800" dirty="0" err="1"/>
                  <a:t>values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critical</a:t>
                </a:r>
                <a:r>
                  <a:rPr lang="da-DK" sz="1800" dirty="0"/>
                  <a:t>.</a:t>
                </a:r>
              </a:p>
              <a:p>
                <a:endParaRPr lang="da-DK" sz="1800" dirty="0"/>
              </a:p>
              <a:p>
                <a:r>
                  <a:rPr lang="da-DK" sz="1800" dirty="0" err="1"/>
                  <a:t>Essentially</a:t>
                </a:r>
                <a:r>
                  <a:rPr lang="da-DK" sz="1800" dirty="0"/>
                  <a:t> a </a:t>
                </a:r>
                <a:r>
                  <a:rPr lang="da-DK" sz="1800" dirty="0" err="1"/>
                  <a:t>consequence</a:t>
                </a:r>
                <a:r>
                  <a:rPr lang="da-DK" sz="1800" dirty="0"/>
                  <a:t> of </a:t>
                </a:r>
                <a:r>
                  <a:rPr lang="da-DK" sz="1800" dirty="0" err="1"/>
                  <a:t>Theorem</a:t>
                </a:r>
                <a:r>
                  <a:rPr lang="da-DK" sz="1800" dirty="0"/>
                  <a:t> 4.25, page 304, </a:t>
                </a:r>
                <a:r>
                  <a:rPr lang="da-DK" sz="1800" dirty="0" err="1"/>
                  <a:t>applied</a:t>
                </a:r>
                <a:r>
                  <a:rPr lang="da-DK" sz="1800" dirty="0"/>
                  <a:t> to the </a:t>
                </a:r>
                <a:r>
                  <a:rPr lang="da-DK" sz="1800" dirty="0" err="1"/>
                  <a:t>conditional</a:t>
                </a:r>
                <a:r>
                  <a:rPr lang="da-DK" sz="1800" dirty="0"/>
                  <a:t> distribution given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endParaRPr lang="da-DK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61A14-18FF-D246-7A00-44A775943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  <a:blipFill>
                <a:blip r:embed="rId2"/>
                <a:stretch>
                  <a:fillRect l="-333" b="-2072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44F07-0C1E-E33F-0E57-8193A383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36</a:t>
            </a:fld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60121-9AA4-2E4B-FB78-CCB393B54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448" y="1138363"/>
            <a:ext cx="6851104" cy="325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769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275E-8304-72C7-F3EA-19ED94C0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91DB-C1E6-BB51-253A-6E8C4DDF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Test for </a:t>
            </a:r>
            <a:r>
              <a:rPr lang="da-DK" b="1" dirty="0" err="1">
                <a:solidFill>
                  <a:srgbClr val="C00000"/>
                </a:solidFill>
              </a:rPr>
              <a:t>Additional</a:t>
            </a:r>
            <a:r>
              <a:rPr lang="da-DK" b="1" dirty="0">
                <a:solidFill>
                  <a:srgbClr val="C00000"/>
                </a:solidFill>
              </a:rPr>
              <a:t>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5C101-9C54-F66D-63F6-68C4B4ADBB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F distributions, </a:t>
                </a:r>
                <a:r>
                  <a:rPr lang="da-DK" sz="2400" dirty="0" err="1"/>
                  <a:t>exact</a:t>
                </a:r>
                <a:r>
                  <a:rPr lang="da-DK" sz="2400" dirty="0"/>
                  <a:t> for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da-DK" sz="2400" dirty="0"/>
                  <a:t> and </a:t>
                </a:r>
                <a:r>
                  <a:rPr lang="da-DK" sz="2400" dirty="0" err="1"/>
                  <a:t>approximative</a:t>
                </a:r>
                <a:r>
                  <a:rPr lang="da-DK" sz="2400" dirty="0"/>
                  <a:t> for </a:t>
                </a:r>
                <a14:m>
                  <m:oMath xmlns:m="http://schemas.openxmlformats.org/officeDocument/2006/math">
                    <m:r>
                      <a:rPr lang="da-DK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da-DK" sz="24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a-DK" sz="2400" dirty="0"/>
                  <a:t>, </a:t>
                </a:r>
                <a:r>
                  <a:rPr lang="da-DK" sz="2400" dirty="0" err="1"/>
                  <a:t>may</a:t>
                </a:r>
                <a:r>
                  <a:rPr lang="da-DK" sz="2400" dirty="0"/>
                  <a:t> </a:t>
                </a:r>
                <a:r>
                  <a:rPr lang="da-DK" sz="2400" dirty="0" err="1"/>
                  <a:t>be</a:t>
                </a:r>
                <a:r>
                  <a:rPr lang="da-DK" sz="2400" dirty="0"/>
                  <a:t> </a:t>
                </a:r>
                <a:r>
                  <a:rPr lang="da-DK" sz="2400" dirty="0" err="1"/>
                  <a:t>obtained</a:t>
                </a:r>
                <a:r>
                  <a:rPr lang="da-DK" sz="2400" dirty="0"/>
                  <a:t> as in </a:t>
                </a:r>
                <a:r>
                  <a:rPr lang="da-DK" sz="2400" dirty="0" err="1"/>
                  <a:t>Lecture</a:t>
                </a:r>
                <a:r>
                  <a:rPr lang="da-DK" sz="2400" dirty="0"/>
                  <a:t> F, slide 19.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5C101-9C54-F66D-63F6-68C4B4ADB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  <a:blipFill>
                <a:blip r:embed="rId2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C8B62-910E-7A05-AF36-EA18543F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37</a:t>
            </a:fld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CEA04A-D3AE-5571-2E7B-C0A2BF468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161" y="1484784"/>
            <a:ext cx="8159262" cy="207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52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146CC-FCDB-9B76-2BD5-1EDA7E210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551BD-5B4F-2582-6721-54A599AD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Test for </a:t>
            </a:r>
            <a:r>
              <a:rPr lang="da-DK" b="1" dirty="0" err="1">
                <a:solidFill>
                  <a:srgbClr val="C00000"/>
                </a:solidFill>
              </a:rPr>
              <a:t>Additional</a:t>
            </a:r>
            <a:r>
              <a:rPr lang="da-DK" b="1" dirty="0">
                <a:solidFill>
                  <a:srgbClr val="C00000"/>
                </a:solidFill>
              </a:rPr>
              <a:t>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10B85-0F5C-BAD2-32E3-93E6E3FE8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a-DK" sz="2400" b="1" dirty="0"/>
              </a:p>
              <a:p>
                <a:pPr marL="0" indent="0">
                  <a:buNone/>
                </a:pPr>
                <a:r>
                  <a:rPr lang="da-DK" sz="2400" b="1" dirty="0"/>
                  <a:t>The simple case: </a:t>
                </a:r>
                <a14:m>
                  <m:oMath xmlns:m="http://schemas.openxmlformats.org/officeDocument/2006/math">
                    <m:r>
                      <a:rPr lang="da-DK" sz="24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da-DK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24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da-DK" sz="2400" b="1" dirty="0"/>
                  <a:t>. 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Take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(2|1)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da-DK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brk m:alnAt="7"/>
                                      </m:r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a-DK" sz="2400" b="0" i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|1)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|1)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|1)</m:t>
                                    </m:r>
                                  </m:sup>
                                </m:sSubSup>
                              </m:e>
                            </m:d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da-DK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a-DK" sz="240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da-DK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a-DK" sz="240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mr>
                      </m:m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and note </a:t>
                </a:r>
                <a:r>
                  <a:rPr lang="da-DK" sz="2400" dirty="0" err="1"/>
                  <a:t>that</a:t>
                </a: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(2|1)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da-DK" sz="2400" dirty="0"/>
                  <a:t> is the </a:t>
                </a:r>
                <a:r>
                  <a:rPr lang="da-DK" sz="2400" dirty="0" err="1"/>
                  <a:t>Wilks</a:t>
                </a:r>
                <a:r>
                  <a:rPr lang="da-DK" sz="2400" dirty="0"/>
                  <a:t>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2400" b="0" i="0" smtClean="0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da-DK" sz="2400" dirty="0"/>
                  <a:t>. 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r>
                  <a:rPr lang="da-DK" sz="2400" dirty="0"/>
                  <a:t>Note </a:t>
                </a:r>
                <a:r>
                  <a:rPr lang="da-DK" sz="2400" dirty="0" err="1"/>
                  <a:t>that</a:t>
                </a:r>
                <a:r>
                  <a:rPr lang="da-DK" sz="2400" dirty="0"/>
                  <a:t> the test is </a:t>
                </a:r>
                <a:r>
                  <a:rPr lang="da-DK" sz="2400" dirty="0" err="1"/>
                  <a:t>essentially</a:t>
                </a:r>
                <a:r>
                  <a:rPr lang="da-DK" sz="2400" dirty="0"/>
                  <a:t> the ratio </a:t>
                </a:r>
                <a:r>
                  <a:rPr lang="da-DK" sz="2400" dirty="0" err="1"/>
                  <a:t>between</a:t>
                </a:r>
                <a:r>
                  <a:rPr lang="da-DK" sz="2400" dirty="0"/>
                  <a:t> the variation </a:t>
                </a:r>
                <a:r>
                  <a:rPr lang="da-DK" sz="2400" dirty="0" err="1"/>
                  <a:t>Within</a:t>
                </a:r>
                <a:r>
                  <a:rPr lang="da-DK" sz="2400" dirty="0"/>
                  <a:t> </a:t>
                </a:r>
                <a:r>
                  <a:rPr lang="da-DK" sz="2400" dirty="0" err="1"/>
                  <a:t>groups</a:t>
                </a:r>
                <a:r>
                  <a:rPr lang="da-DK" sz="2400" dirty="0"/>
                  <a:t> and the Total variation, given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da-DK" sz="2400" dirty="0"/>
                  <a:t>, with small </a:t>
                </a:r>
                <a:r>
                  <a:rPr lang="da-DK" sz="2400" dirty="0" err="1"/>
                  <a:t>values</a:t>
                </a:r>
                <a:r>
                  <a:rPr lang="da-DK" sz="2400" dirty="0"/>
                  <a:t> </a:t>
                </a:r>
                <a:r>
                  <a:rPr lang="da-DK" sz="2400" dirty="0" err="1"/>
                  <a:t>critical</a:t>
                </a:r>
                <a:r>
                  <a:rPr lang="da-DK" sz="2400" dirty="0"/>
                  <a:t>.</a:t>
                </a:r>
              </a:p>
              <a:p>
                <a:pPr marL="0" indent="0">
                  <a:buNone/>
                </a:pPr>
                <a:r>
                  <a:rPr lang="da-DK" sz="2400" dirty="0"/>
                  <a:t>xxx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10B85-0F5C-BAD2-32E3-93E6E3FE8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  <a:blipFill>
                <a:blip r:embed="rId2"/>
                <a:stretch>
                  <a:fillRect l="-833" b="-1071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ACC10-43A9-F86B-256A-EADDEFE3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35236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CC9A7-2E79-5061-1824-96ED7BE95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14C9-73E7-84C0-4008-6DF75041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Test for </a:t>
            </a:r>
            <a:r>
              <a:rPr lang="da-DK" b="1" dirty="0" err="1">
                <a:solidFill>
                  <a:srgbClr val="C00000"/>
                </a:solidFill>
              </a:rPr>
              <a:t>Additional</a:t>
            </a:r>
            <a:r>
              <a:rPr lang="da-DK" b="1" dirty="0">
                <a:solidFill>
                  <a:srgbClr val="C00000"/>
                </a:solidFill>
              </a:rPr>
              <a:t>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E30DC8-D1D0-EE44-CBEE-EF9F27A091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sz="2400" dirty="0"/>
                  <a:t>The simple case: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da-DK" sz="2400" dirty="0"/>
                  <a:t>. 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Take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(2|1)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da-DK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brk m:alnAt="7"/>
                                      </m:r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a-DK" sz="2400" b="0" i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|1)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|1)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|1)</m:t>
                                    </m:r>
                                  </m:sup>
                                </m:sSubSup>
                              </m:e>
                            </m:d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da-DK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a-DK" sz="240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da-DK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da-DK" sz="2400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da-DK" sz="2400" b="0" i="1" smtClean="0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a-DK" sz="240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a-DK" sz="2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a-DK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</m:e>
                        </m:mr>
                      </m:m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and note </a:t>
                </a:r>
                <a:r>
                  <a:rPr lang="da-DK" sz="2400" dirty="0" err="1"/>
                  <a:t>that</a:t>
                </a: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(2|1)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da-DK" sz="2400" dirty="0"/>
                  <a:t> is the </a:t>
                </a:r>
                <a:r>
                  <a:rPr lang="da-DK" sz="2400" dirty="0" err="1"/>
                  <a:t>Wilks</a:t>
                </a:r>
                <a:r>
                  <a:rPr lang="da-DK" sz="2400" dirty="0"/>
                  <a:t>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2400" b="0" i="0" smtClean="0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da-DK" sz="2400" dirty="0"/>
                  <a:t>. 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r>
                  <a:rPr lang="da-DK" sz="2400" dirty="0"/>
                  <a:t>Note </a:t>
                </a:r>
                <a:r>
                  <a:rPr lang="da-DK" sz="2400" dirty="0" err="1"/>
                  <a:t>that</a:t>
                </a:r>
                <a:r>
                  <a:rPr lang="da-DK" sz="2400" dirty="0"/>
                  <a:t> the test is </a:t>
                </a:r>
                <a:r>
                  <a:rPr lang="da-DK" sz="2400" dirty="0" err="1"/>
                  <a:t>essentially</a:t>
                </a:r>
                <a:r>
                  <a:rPr lang="da-DK" sz="2400" dirty="0"/>
                  <a:t> the ratio </a:t>
                </a:r>
                <a:r>
                  <a:rPr lang="da-DK" sz="2400" dirty="0" err="1"/>
                  <a:t>between</a:t>
                </a:r>
                <a:r>
                  <a:rPr lang="da-DK" sz="2400" dirty="0"/>
                  <a:t> the variation </a:t>
                </a:r>
                <a:r>
                  <a:rPr lang="da-DK" sz="2400" dirty="0" err="1"/>
                  <a:t>Within</a:t>
                </a:r>
                <a:r>
                  <a:rPr lang="da-DK" sz="2400" dirty="0"/>
                  <a:t> </a:t>
                </a:r>
                <a:r>
                  <a:rPr lang="da-DK" sz="2400" dirty="0" err="1"/>
                  <a:t>groups</a:t>
                </a:r>
                <a:r>
                  <a:rPr lang="da-DK" sz="2400" dirty="0"/>
                  <a:t> and the Total variation, given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da-DK" sz="2400" dirty="0"/>
                  <a:t>, with small </a:t>
                </a:r>
                <a:r>
                  <a:rPr lang="da-DK" sz="2400" dirty="0" err="1"/>
                  <a:t>values</a:t>
                </a:r>
                <a:r>
                  <a:rPr lang="da-DK" sz="2400" dirty="0"/>
                  <a:t> </a:t>
                </a:r>
                <a:r>
                  <a:rPr lang="da-DK" sz="2400" dirty="0" err="1"/>
                  <a:t>critical</a:t>
                </a:r>
                <a:r>
                  <a:rPr lang="da-DK" sz="2400" dirty="0"/>
                  <a:t>.</a:t>
                </a:r>
              </a:p>
              <a:p>
                <a:pPr marL="0" indent="0">
                  <a:buNone/>
                </a:pPr>
                <a:r>
                  <a:rPr lang="da-DK" sz="2400" dirty="0"/>
                  <a:t>xxx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E30DC8-D1D0-EE44-CBEE-EF9F27A091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  <a:blipFill>
                <a:blip r:embed="rId2"/>
                <a:stretch>
                  <a:fillRect l="-833" t="-1077" b="-974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7154E-47E4-F824-9295-A8411A76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39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104279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96E5-B846-BE94-F622-2554145E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C5BB-E6C6-1408-3626-9A414AA84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Test for </a:t>
            </a:r>
            <a:r>
              <a:rPr lang="da-DK" b="1" dirty="0" err="1">
                <a:solidFill>
                  <a:srgbClr val="C00000"/>
                </a:solidFill>
              </a:rPr>
              <a:t>Additional</a:t>
            </a:r>
            <a:r>
              <a:rPr lang="da-DK" b="1" dirty="0">
                <a:solidFill>
                  <a:srgbClr val="C00000"/>
                </a:solidFill>
              </a:rPr>
              <a:t>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331A78-2BDC-4096-7A09-8A41AAE7C0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sz="2400" dirty="0"/>
                  <a:t>The simple case: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da-DK" sz="2400" dirty="0"/>
                  <a:t>: 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331A78-2BDC-4096-7A09-8A41AAE7C0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66018"/>
                <a:ext cx="10972800" cy="4525963"/>
              </a:xfrm>
              <a:blipFill>
                <a:blip r:embed="rId2"/>
                <a:stretch>
                  <a:fillRect l="-833" t="-107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20BC-69D5-0549-EB36-766FE786D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40</a:t>
            </a:fld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83A59-2932-00ED-0CC4-795727372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954" y="2013438"/>
            <a:ext cx="8124092" cy="283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59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571F-80D6-531A-60E1-899499A4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Canonical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Discriminant</a:t>
            </a:r>
            <a:r>
              <a:rPr lang="da-DK" b="1" dirty="0">
                <a:solidFill>
                  <a:srgbClr val="C00000"/>
                </a:solidFill>
              </a:rPr>
              <a:t> 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05EA66-1680-CE14-4F25-16EDFF8779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2000" dirty="0"/>
                  <a:t>We </a:t>
                </a:r>
                <a:r>
                  <a:rPr lang="da-DK" sz="2000" dirty="0" err="1"/>
                  <a:t>maintain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da-DK" sz="2000" b="0" dirty="0"/>
              </a:p>
              <a:p>
                <a:endParaRPr lang="da-DK" sz="2000" dirty="0"/>
              </a:p>
              <a:p>
                <a:r>
                  <a:rPr lang="da-DK" sz="2000" dirty="0" err="1"/>
                  <a:t>Selecting</a:t>
                </a:r>
                <a:r>
                  <a:rPr lang="da-DK" sz="2000" dirty="0"/>
                  <a:t> an optimal </a:t>
                </a:r>
                <a:r>
                  <a:rPr lang="da-DK" sz="2000" dirty="0" err="1"/>
                  <a:t>discriminator</a:t>
                </a:r>
                <a:r>
                  <a:rPr lang="da-DK" sz="2000" dirty="0"/>
                  <a:t>:</a:t>
                </a:r>
              </a:p>
              <a:p>
                <a:r>
                  <a:rPr lang="da-DK" sz="2000" dirty="0" err="1"/>
                  <a:t>Should</a:t>
                </a:r>
                <a:r>
                  <a:rPr lang="da-DK" sz="2000" dirty="0"/>
                  <a:t> </a:t>
                </a:r>
                <a:r>
                  <a:rPr lang="da-DK" sz="2000" dirty="0" err="1"/>
                  <a:t>maximize</a:t>
                </a:r>
                <a:r>
                  <a:rPr lang="da-DK" sz="2000" dirty="0"/>
                  <a:t> the variation </a:t>
                </a:r>
                <a:r>
                  <a:rPr lang="da-DK" sz="2000" dirty="0" err="1"/>
                  <a:t>between</a:t>
                </a:r>
                <a:r>
                  <a:rPr lang="da-DK" sz="2000" dirty="0"/>
                  <a:t> </a:t>
                </a:r>
                <a:r>
                  <a:rPr lang="da-DK" sz="2000" dirty="0" err="1"/>
                  <a:t>groups</a:t>
                </a:r>
                <a:r>
                  <a:rPr lang="da-DK" sz="2000" dirty="0"/>
                  <a:t>, relative to the variation </a:t>
                </a:r>
                <a:r>
                  <a:rPr lang="da-DK" sz="2000" dirty="0" err="1"/>
                  <a:t>within</a:t>
                </a:r>
                <a:r>
                  <a:rPr lang="da-DK" sz="2000" dirty="0"/>
                  <a:t> </a:t>
                </a:r>
                <a:r>
                  <a:rPr lang="da-DK" sz="2000" dirty="0" err="1"/>
                  <a:t>groups</a:t>
                </a:r>
                <a:r>
                  <a:rPr lang="da-DK" sz="2000" dirty="0"/>
                  <a:t>.</a:t>
                </a:r>
              </a:p>
              <a:p>
                <a:endParaRPr lang="da-DK" sz="2000" dirty="0"/>
              </a:p>
              <a:p>
                <a14:m>
                  <m:oMath xmlns:m="http://schemas.openxmlformats.org/officeDocument/2006/math"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=2:                </m:t>
                    </m:r>
                    <m:r>
                      <a:rPr lang="da-DK" sz="2000" b="0" i="1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da-DK" sz="2000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da-DK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sz="2000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da-DK" sz="20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da-DK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a-DK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a-DK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a-DK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a-DK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sz="2000" dirty="0"/>
                  <a:t>  </a:t>
                </a:r>
              </a:p>
              <a:p>
                <a:endParaRPr lang="da-DK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05EA66-1680-CE14-4F25-16EDFF8779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00" t="-80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03A86-30AD-E1D2-B2B1-E3AF0F3A2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41</a:t>
            </a:fld>
            <a:endParaRPr lang="da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907A7D-118F-5B2A-0CA8-6A25F806E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908" y="4261705"/>
            <a:ext cx="8124092" cy="227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165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D9CA-0F03-6142-BCB1-248D4784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D705A-7C11-7C6F-47D3-FE3FF7C4A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Canonical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Discriminant</a:t>
            </a:r>
            <a:r>
              <a:rPr lang="da-DK" b="1" dirty="0">
                <a:solidFill>
                  <a:srgbClr val="C00000"/>
                </a:solidFill>
              </a:rPr>
              <a:t> 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30B3EB-6067-4574-08D3-2804139F66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a-DK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da-DK" i="1" dirty="0" smtClean="0">
                        <a:latin typeface="Cambria Math" panose="02040503050406030204" pitchFamily="18" charset="0"/>
                      </a:rPr>
                      <m:t>2:</m:t>
                    </m:r>
                  </m:oMath>
                </a14:m>
                <a:r>
                  <a:rPr lang="da-DK" dirty="0"/>
                  <a:t> </a:t>
                </a:r>
              </a:p>
              <a:p>
                <a:r>
                  <a:rPr lang="da-DK" dirty="0"/>
                  <a:t>Variation </a:t>
                </a:r>
                <a:r>
                  <a:rPr lang="da-DK" dirty="0" err="1"/>
                  <a:t>Between</a:t>
                </a:r>
                <a:r>
                  <a:rPr lang="da-DK" dirty="0"/>
                  <a:t> </a:t>
                </a:r>
                <a:r>
                  <a:rPr lang="da-DK" dirty="0" err="1"/>
                  <a:t>groups</a:t>
                </a:r>
                <a:r>
                  <a:rPr lang="da-DK" dirty="0"/>
                  <a:t> </a:t>
                </a:r>
                <a:r>
                  <a:rPr lang="da-DK" dirty="0" err="1"/>
                  <a:t>estimated</a:t>
                </a:r>
                <a:r>
                  <a:rPr lang="da-DK" dirty="0"/>
                  <a:t> by B;</a:t>
                </a:r>
              </a:p>
              <a:p>
                <a:r>
                  <a:rPr lang="da-DK" dirty="0"/>
                  <a:t>Variation </a:t>
                </a:r>
                <a:r>
                  <a:rPr lang="da-DK" dirty="0" err="1"/>
                  <a:t>Within</a:t>
                </a:r>
                <a:r>
                  <a:rPr lang="da-DK" dirty="0"/>
                  <a:t> </a:t>
                </a:r>
                <a:r>
                  <a:rPr lang="da-DK" dirty="0" err="1"/>
                  <a:t>groups</a:t>
                </a:r>
                <a:r>
                  <a:rPr lang="da-DK" dirty="0"/>
                  <a:t> </a:t>
                </a:r>
                <a:r>
                  <a:rPr lang="da-DK" dirty="0" err="1"/>
                  <a:t>estimated</a:t>
                </a:r>
                <a:r>
                  <a:rPr lang="da-DK" dirty="0"/>
                  <a:t> by W;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seek</a:t>
                </a:r>
                <a:r>
                  <a:rPr lang="da-DK" dirty="0"/>
                  <a:t> a (</a:t>
                </a:r>
                <a:r>
                  <a:rPr lang="da-DK" dirty="0" err="1"/>
                  <a:t>linear</a:t>
                </a:r>
                <a:r>
                  <a:rPr lang="da-DK" dirty="0"/>
                  <a:t>) </a:t>
                </a:r>
                <a:r>
                  <a:rPr lang="da-DK" dirty="0" err="1"/>
                  <a:t>function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a-DK" dirty="0"/>
                  <a:t> so </a:t>
                </a:r>
                <a:r>
                  <a:rPr lang="da-DK" dirty="0" err="1"/>
                  <a:t>that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a-DK" dirty="0"/>
                  <a:t> maximizes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𝐵𝑑</m:t>
                          </m:r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𝑊𝑑</m:t>
                          </m:r>
                        </m:den>
                      </m:f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30B3EB-6067-4574-08D3-2804139F66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5238F-FFB8-4C79-FECB-6DFEC156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8345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3C8B7-ACDB-49A3-23B2-5DB4A7F5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5176-5F31-EFD9-3ADD-B063CFF8F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Canonical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Discriminant</a:t>
            </a:r>
            <a:r>
              <a:rPr lang="da-DK" b="1" dirty="0">
                <a:solidFill>
                  <a:srgbClr val="C00000"/>
                </a:solidFill>
              </a:rPr>
              <a:t> 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888E6-81A8-B05C-3989-F44EF8D72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𝐵𝑑</m:t>
                          </m:r>
                        </m:num>
                        <m:den>
                          <m:sSup>
                            <m:sSup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𝑊𝑑</m:t>
                          </m:r>
                        </m:den>
                      </m:f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000" dirty="0"/>
              </a:p>
              <a:p>
                <a:r>
                  <a:rPr lang="da-DK" sz="2000" b="1" dirty="0"/>
                  <a:t>Solution: </a:t>
                </a:r>
                <a:r>
                  <a:rPr lang="da-DK" sz="2000" dirty="0"/>
                  <a:t>The </a:t>
                </a:r>
                <a:r>
                  <a:rPr lang="da-DK" sz="2000" dirty="0" err="1"/>
                  <a:t>eigenvector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a-DK" sz="2000" dirty="0"/>
                  <a:t> for the </a:t>
                </a:r>
                <a:r>
                  <a:rPr lang="da-DK" sz="2000" dirty="0" err="1"/>
                  <a:t>largest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eigenvalue</a:t>
                </a:r>
                <a:r>
                  <a:rPr lang="da-DK" sz="2000" dirty="0"/>
                  <a:t> for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a-DK" sz="2000" dirty="0"/>
                  <a:t>, </a:t>
                </a:r>
                <a:r>
                  <a:rPr lang="da-DK" sz="2000" dirty="0" err="1"/>
                  <a:t>subject</a:t>
                </a:r>
                <a:r>
                  <a:rPr lang="da-DK" sz="2000" dirty="0"/>
                  <a:t> to </a:t>
                </a:r>
                <a:r>
                  <a:rPr lang="da-DK" sz="2000" dirty="0" err="1"/>
                  <a:t>that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a-DK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000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da-DK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sSubSup>
                      <m:sSubSup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da-DK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a-DK" sz="2000" dirty="0"/>
                  <a:t>=1.</a:t>
                </a:r>
              </a:p>
              <a:p>
                <a:pPr marL="0" indent="0">
                  <a:buNone/>
                </a:pPr>
                <a:endParaRPr lang="da-DK" sz="2000" dirty="0"/>
              </a:p>
              <a:p>
                <a:r>
                  <a:rPr lang="da-DK" sz="2000" dirty="0" err="1"/>
                  <a:t>Next</a:t>
                </a:r>
                <a:r>
                  <a:rPr lang="da-DK" sz="2000" dirty="0"/>
                  <a:t> step: Search for solutions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da-DK" sz="2000" dirty="0"/>
                  <a:t>-</a:t>
                </a:r>
                <a:r>
                  <a:rPr lang="da-DK" sz="2000" dirty="0" err="1"/>
                  <a:t>perpendicular</a:t>
                </a:r>
                <a:r>
                  <a:rPr lang="da-DK" sz="20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a-DK" sz="2000" dirty="0"/>
                  <a:t>, </a:t>
                </a:r>
                <a:r>
                  <a:rPr lang="da-DK" sz="2000" dirty="0" err="1"/>
                  <a:t>ie</a:t>
                </a:r>
                <a:r>
                  <a:rPr lang="da-DK" sz="2000" dirty="0"/>
                  <a:t>.</a:t>
                </a:r>
              </a:p>
              <a:p>
                <a:pPr marL="0" indent="0">
                  <a:buNone/>
                </a:pPr>
                <a:endParaRPr lang="da-DK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da-DK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da-DK" sz="2000" b="0" i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a-DK" sz="20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da-DK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a-DK" sz="20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da-DK" sz="2000" b="0" i="0" smtClean="0">
                          <a:latin typeface="Cambria Math" panose="02040503050406030204" pitchFamily="18" charset="0"/>
                        </a:rPr>
                        <m:t>W</m:t>
                      </m:r>
                      <m:sSub>
                        <m:sSubPr>
                          <m:ctrlPr>
                            <a:rPr lang="da-DK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a-DK" sz="20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sz="2000" dirty="0"/>
              </a:p>
              <a:p>
                <a:pPr marL="0" indent="0">
                  <a:buNone/>
                </a:pPr>
                <a:endParaRPr lang="da-DK" sz="2000" b="1" dirty="0"/>
              </a:p>
              <a:p>
                <a:r>
                  <a:rPr lang="da-DK" sz="2000" b="1" dirty="0"/>
                  <a:t>Solution: </a:t>
                </a:r>
                <a:r>
                  <a:rPr lang="da-DK" sz="2000" dirty="0"/>
                  <a:t>The </a:t>
                </a:r>
                <a:r>
                  <a:rPr lang="da-DK" sz="2000" dirty="0" err="1"/>
                  <a:t>eigenvector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da-DK" sz="2000" dirty="0"/>
                  <a:t> for the </a:t>
                </a:r>
                <a:r>
                  <a:rPr lang="da-DK" sz="2000" dirty="0" err="1"/>
                  <a:t>second</a:t>
                </a:r>
                <a:r>
                  <a:rPr lang="da-DK" sz="2000" dirty="0"/>
                  <a:t> </a:t>
                </a:r>
                <a:r>
                  <a:rPr lang="da-DK" sz="2000" dirty="0" err="1"/>
                  <a:t>largest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eigenvalue</a:t>
                </a:r>
                <a:r>
                  <a:rPr lang="da-DK" sz="2000" dirty="0"/>
                  <a:t> for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a-DK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a-DK" sz="2000" dirty="0"/>
                  <a:t>, </a:t>
                </a:r>
                <a:r>
                  <a:rPr lang="da-DK" sz="2000" dirty="0" err="1"/>
                  <a:t>subject</a:t>
                </a:r>
                <a:r>
                  <a:rPr lang="da-DK" sz="2000" dirty="0"/>
                  <a:t> to </a:t>
                </a:r>
                <a:r>
                  <a:rPr lang="da-DK" sz="2000" dirty="0" err="1"/>
                  <a:t>that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da-DK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da-DK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a-DK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000" b="1" i="1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da-DK" sz="20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da-DK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da-DK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p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sSubSup>
                      <m:sSubSup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da-DK" sz="2000" i="1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da-DK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da-DK" sz="2000" dirty="0"/>
                  <a:t>=1.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888E6-81A8-B05C-3989-F44EF8D72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EA22E-B3A1-D4EA-23EF-BD413681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92889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5B58-06E7-4542-3056-DF667FF58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1DB5-B4D3-268A-8617-83B18486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Canonical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Discriminant</a:t>
            </a:r>
            <a:r>
              <a:rPr lang="da-DK" b="1" dirty="0">
                <a:solidFill>
                  <a:srgbClr val="C00000"/>
                </a:solidFill>
              </a:rPr>
              <a:t> 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617447-288A-BE00-8869-D1DA405283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da-DK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𝐵𝑑</m:t>
                          </m:r>
                        </m:num>
                        <m:den>
                          <m:sSup>
                            <m:sSupPr>
                              <m:ctrlP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da-DK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a-DK" sz="1800" b="0" i="1" smtClean="0">
                              <a:latin typeface="Cambria Math" panose="02040503050406030204" pitchFamily="18" charset="0"/>
                            </a:rPr>
                            <m:t>𝑊𝑑</m:t>
                          </m:r>
                        </m:den>
                      </m:f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000" dirty="0"/>
              </a:p>
              <a:p>
                <a:r>
                  <a:rPr lang="da-DK" sz="2000" b="1" dirty="0"/>
                  <a:t>Solution: </a:t>
                </a:r>
                <a:r>
                  <a:rPr lang="da-DK" sz="2000" dirty="0"/>
                  <a:t>The </a:t>
                </a:r>
                <a:r>
                  <a:rPr lang="da-DK" sz="2000" dirty="0" err="1"/>
                  <a:t>eigenvector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a-DK" sz="2000" dirty="0"/>
                  <a:t> for the </a:t>
                </a:r>
                <a:r>
                  <a:rPr lang="da-DK" sz="2000" dirty="0" err="1"/>
                  <a:t>largest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eigenvalue</a:t>
                </a:r>
                <a:r>
                  <a:rPr lang="da-DK" sz="2000" dirty="0"/>
                  <a:t> for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a-DK" sz="2000" dirty="0"/>
                  <a:t>, </a:t>
                </a:r>
                <a:r>
                  <a:rPr lang="da-DK" sz="2000" dirty="0" err="1"/>
                  <a:t>subject</a:t>
                </a:r>
                <a:r>
                  <a:rPr lang="da-DK" sz="2000" dirty="0"/>
                  <a:t> to </a:t>
                </a:r>
                <a:r>
                  <a:rPr lang="da-DK" sz="2000" dirty="0" err="1"/>
                  <a:t>that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a-DK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000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da-DK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sSubSup>
                      <m:sSubSup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da-DK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a-DK" sz="2000" dirty="0"/>
                  <a:t>=1.</a:t>
                </a:r>
              </a:p>
              <a:p>
                <a:pPr marL="0" indent="0">
                  <a:buNone/>
                </a:pPr>
                <a:endParaRPr lang="da-DK" sz="2000" dirty="0"/>
              </a:p>
              <a:p>
                <a:r>
                  <a:rPr lang="da-DK" sz="2000" dirty="0" err="1"/>
                  <a:t>Next</a:t>
                </a:r>
                <a:r>
                  <a:rPr lang="da-DK" sz="2000" dirty="0"/>
                  <a:t> step: Search for solutions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da-DK" sz="2000" dirty="0"/>
                  <a:t>-</a:t>
                </a:r>
                <a:r>
                  <a:rPr lang="da-DK" sz="2000" dirty="0" err="1"/>
                  <a:t>perpendicular</a:t>
                </a:r>
                <a:r>
                  <a:rPr lang="da-DK" sz="20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a-DK" sz="2000" dirty="0"/>
                  <a:t>, </a:t>
                </a:r>
                <a:r>
                  <a:rPr lang="da-DK" sz="2000" dirty="0" err="1"/>
                  <a:t>ie</a:t>
                </a:r>
                <a:r>
                  <a:rPr lang="da-DK" sz="2000" dirty="0"/>
                  <a:t>.</a:t>
                </a:r>
              </a:p>
              <a:p>
                <a:pPr marL="0" indent="0">
                  <a:buNone/>
                </a:pPr>
                <a:endParaRPr lang="da-DK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da-DK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da-DK" sz="2000" b="0" i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a-DK" sz="20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da-DK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a-DK" sz="20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da-DK" sz="2000" b="0" i="0" smtClean="0">
                          <a:latin typeface="Cambria Math" panose="02040503050406030204" pitchFamily="18" charset="0"/>
                        </a:rPr>
                        <m:t>W</m:t>
                      </m:r>
                      <m:sSub>
                        <m:sSubPr>
                          <m:ctrlPr>
                            <a:rPr lang="da-DK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da-DK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a-DK" sz="20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sz="2000" dirty="0"/>
              </a:p>
              <a:p>
                <a:pPr marL="0" indent="0">
                  <a:buNone/>
                </a:pPr>
                <a:endParaRPr lang="da-DK" sz="2000" b="1" dirty="0"/>
              </a:p>
              <a:p>
                <a:r>
                  <a:rPr lang="da-DK" sz="2000" b="1" dirty="0"/>
                  <a:t>Solution: </a:t>
                </a:r>
                <a:r>
                  <a:rPr lang="da-DK" sz="2000" dirty="0"/>
                  <a:t>The </a:t>
                </a:r>
                <a:r>
                  <a:rPr lang="da-DK" sz="2000" dirty="0" err="1"/>
                  <a:t>eigenvector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da-DK" sz="2000" dirty="0"/>
                  <a:t> for the </a:t>
                </a:r>
                <a:r>
                  <a:rPr lang="da-DK" sz="2000" dirty="0" err="1"/>
                  <a:t>second</a:t>
                </a:r>
                <a:r>
                  <a:rPr lang="da-DK" sz="2000" dirty="0"/>
                  <a:t> </a:t>
                </a:r>
                <a:r>
                  <a:rPr lang="da-DK" sz="2000" dirty="0" err="1"/>
                  <a:t>largest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eigenvalue</a:t>
                </a:r>
                <a:r>
                  <a:rPr lang="da-DK" sz="2000" dirty="0"/>
                  <a:t> for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a-DK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a-DK" sz="2000" dirty="0"/>
                  <a:t>, </a:t>
                </a:r>
                <a:r>
                  <a:rPr lang="da-DK" sz="2000" dirty="0" err="1"/>
                  <a:t>subject</a:t>
                </a:r>
                <a:r>
                  <a:rPr lang="da-DK" sz="2000" dirty="0"/>
                  <a:t> to </a:t>
                </a:r>
                <a:r>
                  <a:rPr lang="da-DK" sz="2000" dirty="0" err="1"/>
                  <a:t>that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da-DK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da-DK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a-DK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000" b="1" i="1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da-DK" sz="20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da-DK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da-DK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p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sSubSup>
                      <m:sSubSup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da-DK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da-DK" sz="2000" i="1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da-DK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da-DK" sz="2000" dirty="0"/>
                  <a:t>=1. </a:t>
                </a:r>
              </a:p>
              <a:p>
                <a:pPr marL="0" indent="0">
                  <a:buNone/>
                </a:pPr>
                <a:endParaRPr lang="da-DK" sz="2000" dirty="0"/>
              </a:p>
              <a:p>
                <a:r>
                  <a:rPr lang="da-DK" sz="2000" dirty="0" err="1"/>
                  <a:t>Etc</a:t>
                </a:r>
                <a:r>
                  <a:rPr lang="da-DK" sz="2000" dirty="0"/>
                  <a:t>, </a:t>
                </a:r>
                <a:r>
                  <a:rPr lang="da-DK" sz="2000" dirty="0" err="1"/>
                  <a:t>etc</a:t>
                </a:r>
                <a:r>
                  <a:rPr lang="da-DK" sz="2000" dirty="0"/>
                  <a:t>… </a:t>
                </a:r>
                <a:r>
                  <a:rPr lang="da-DK" sz="2000" dirty="0" err="1"/>
                  <a:t>We</a:t>
                </a:r>
                <a:r>
                  <a:rPr lang="da-DK" sz="2000" dirty="0"/>
                  <a:t> find at most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a-DK" sz="2000" dirty="0"/>
                  <a:t> non-</a:t>
                </a:r>
                <a:r>
                  <a:rPr lang="da-DK" sz="2000" dirty="0" err="1"/>
                  <a:t>zero</a:t>
                </a:r>
                <a:r>
                  <a:rPr lang="da-DK" sz="2000" dirty="0"/>
                  <a:t> </a:t>
                </a:r>
                <a:r>
                  <a:rPr lang="da-DK" sz="2000" dirty="0" err="1"/>
                  <a:t>eigenvalues</a:t>
                </a:r>
                <a:r>
                  <a:rPr lang="da-DK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617447-288A-BE00-8869-D1DA405283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00" b="-1037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0D24E-381F-544C-ED02-1134305C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60885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EB6B-6850-90FB-11AE-32CD05108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F5B5-FC5B-353C-8986-D497D9107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Canonical</a:t>
            </a:r>
            <a:r>
              <a:rPr lang="da-DK" b="1" dirty="0">
                <a:solidFill>
                  <a:srgbClr val="C00000"/>
                </a:solidFill>
              </a:rPr>
              <a:t> </a:t>
            </a:r>
            <a:r>
              <a:rPr lang="da-DK" b="1" dirty="0" err="1">
                <a:solidFill>
                  <a:srgbClr val="C00000"/>
                </a:solidFill>
              </a:rPr>
              <a:t>Discriminant</a:t>
            </a:r>
            <a:r>
              <a:rPr lang="da-DK" b="1" dirty="0">
                <a:solidFill>
                  <a:srgbClr val="C00000"/>
                </a:solidFill>
              </a:rPr>
              <a:t> 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DC39E-2DC0-F60C-18DC-3B83690678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66018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sz="1600" dirty="0"/>
                  <a:t>The </a:t>
                </a:r>
                <a:r>
                  <a:rPr lang="da-DK" sz="1600" dirty="0" err="1"/>
                  <a:t>functions</a:t>
                </a:r>
                <a:r>
                  <a:rPr lang="da-DK" sz="16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a-DK" sz="16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16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da-DK" sz="1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16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da-DK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da-DK" sz="1600" dirty="0"/>
                  <a:t> Are </a:t>
                </a:r>
                <a:r>
                  <a:rPr lang="da-DK" sz="1600" dirty="0" err="1"/>
                  <a:t>called</a:t>
                </a:r>
                <a:r>
                  <a:rPr lang="da-DK" sz="1600" dirty="0"/>
                  <a:t> the </a:t>
                </a:r>
                <a:r>
                  <a:rPr lang="da-DK" sz="1600" b="1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canonical</a:t>
                </a:r>
                <a:r>
                  <a:rPr lang="da-DK" sz="16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a-DK" sz="1600" b="1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discriminant</a:t>
                </a:r>
                <a:r>
                  <a:rPr lang="da-DK" sz="16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a-DK" sz="1600" b="1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functions</a:t>
                </a:r>
                <a:r>
                  <a:rPr lang="da-DK" sz="1600" dirty="0"/>
                  <a:t>, and </a:t>
                </a:r>
                <a:r>
                  <a:rPr lang="da-DK" sz="1600" dirty="0" err="1"/>
                  <a:t>deriving</a:t>
                </a:r>
                <a:r>
                  <a:rPr lang="da-DK" sz="1600" dirty="0"/>
                  <a:t> </a:t>
                </a:r>
                <a:r>
                  <a:rPr lang="da-DK" sz="1600" dirty="0" err="1"/>
                  <a:t>them</a:t>
                </a:r>
                <a:r>
                  <a:rPr lang="da-DK" sz="1600" dirty="0"/>
                  <a:t> forms the basis of </a:t>
                </a:r>
                <a:r>
                  <a:rPr lang="da-DK" sz="1600" dirty="0" err="1"/>
                  <a:t>Canonical</a:t>
                </a:r>
                <a:r>
                  <a:rPr lang="da-DK" sz="1600" dirty="0"/>
                  <a:t> </a:t>
                </a:r>
                <a:r>
                  <a:rPr lang="da-DK" sz="1600" dirty="0" err="1"/>
                  <a:t>Discriminant</a:t>
                </a:r>
                <a:r>
                  <a:rPr lang="da-DK" sz="1600" dirty="0"/>
                  <a:t> Analysis.</a:t>
                </a:r>
              </a:p>
              <a:p>
                <a:pPr marL="0" indent="0">
                  <a:buNone/>
                </a:pPr>
                <a:endParaRPr lang="da-DK" sz="1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da-DK" sz="1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16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da-DK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a-DK" sz="1600" dirty="0"/>
                  <a:t> is the </a:t>
                </a:r>
                <a:r>
                  <a:rPr lang="da-DK" sz="1600" dirty="0" err="1"/>
                  <a:t>discriminator</a:t>
                </a:r>
                <a:r>
                  <a:rPr lang="da-DK" sz="1600" dirty="0"/>
                  <a:t> </a:t>
                </a:r>
                <a:r>
                  <a:rPr lang="da-DK" sz="1600" dirty="0" err="1"/>
                  <a:t>function</a:t>
                </a:r>
                <a:r>
                  <a:rPr lang="da-DK" sz="1600" dirty="0"/>
                  <a:t> </a:t>
                </a:r>
                <a:r>
                  <a:rPr lang="da-DK" sz="1600" dirty="0" err="1"/>
                  <a:t>that</a:t>
                </a:r>
                <a:r>
                  <a:rPr lang="da-DK" sz="1600" dirty="0"/>
                  <a:t> is optimal for </a:t>
                </a:r>
                <a:r>
                  <a:rPr lang="da-DK" sz="1600" dirty="0" err="1"/>
                  <a:t>separating</a:t>
                </a:r>
                <a:r>
                  <a:rPr lang="da-DK" sz="1600" dirty="0"/>
                  <a:t> the data </a:t>
                </a:r>
                <a:r>
                  <a:rPr lang="da-DK" sz="1600" dirty="0" err="1"/>
                  <a:t>into</a:t>
                </a:r>
                <a:r>
                  <a:rPr lang="da-DK" sz="1600" dirty="0"/>
                  <a:t> </a:t>
                </a:r>
                <a:r>
                  <a:rPr lang="da-DK" sz="1600" b="1" dirty="0" err="1"/>
                  <a:t>two</a:t>
                </a:r>
                <a:r>
                  <a:rPr lang="da-DK" sz="1600" b="1" dirty="0"/>
                  <a:t> subsets </a:t>
                </a:r>
                <a:r>
                  <a:rPr lang="da-DK" sz="1600" dirty="0" err="1"/>
                  <a:t>through</a:t>
                </a:r>
                <a:r>
                  <a:rPr lang="da-DK" sz="1600" dirty="0"/>
                  <a:t> a </a:t>
                </a:r>
                <a:r>
                  <a:rPr lang="da-DK" sz="1600" dirty="0" err="1"/>
                  <a:t>separating</a:t>
                </a:r>
                <a:r>
                  <a:rPr lang="da-DK" sz="1600" dirty="0"/>
                  <a:t> </a:t>
                </a:r>
                <a:r>
                  <a:rPr lang="da-DK" sz="1600" dirty="0" err="1"/>
                  <a:t>hyperplane</a:t>
                </a:r>
                <a:r>
                  <a:rPr lang="da-DK" sz="1600" dirty="0"/>
                  <a:t>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a-DK" sz="1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sz="16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da-DK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da-DK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a-DK" sz="1600" dirty="0"/>
                  <a:t> is the optimal </a:t>
                </a:r>
                <a:r>
                  <a:rPr lang="da-DK" sz="1600" dirty="0" err="1"/>
                  <a:t>discriminator</a:t>
                </a:r>
                <a:r>
                  <a:rPr lang="da-DK" sz="1600" dirty="0"/>
                  <a:t> </a:t>
                </a:r>
                <a:r>
                  <a:rPr lang="da-DK" sz="1600" dirty="0" err="1"/>
                  <a:t>function</a:t>
                </a:r>
                <a:r>
                  <a:rPr lang="da-DK" sz="1600" dirty="0"/>
                  <a:t> for </a:t>
                </a:r>
                <a:r>
                  <a:rPr lang="da-DK" sz="1600" dirty="0" err="1"/>
                  <a:t>further</a:t>
                </a:r>
                <a:r>
                  <a:rPr lang="da-DK" sz="1600" dirty="0"/>
                  <a:t> subdivisions, etc.</a:t>
                </a:r>
              </a:p>
              <a:p>
                <a:pPr marL="0" indent="0">
                  <a:buNone/>
                </a:pPr>
                <a:endParaRPr lang="da-DK" sz="1600" dirty="0"/>
              </a:p>
              <a:p>
                <a:r>
                  <a:rPr lang="da-DK" sz="1600" b="1" dirty="0"/>
                  <a:t>‘Score’ plots</a:t>
                </a:r>
                <a:r>
                  <a:rPr lang="da-DK" sz="1600" dirty="0"/>
                  <a:t>: </a:t>
                </a:r>
                <a:r>
                  <a:rPr lang="da-DK" sz="1600" dirty="0" err="1"/>
                  <a:t>Visualize</a:t>
                </a:r>
                <a:r>
                  <a:rPr lang="da-DK" sz="16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6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da-DK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da-DK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da-DK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𝑣𝑠</m:t>
                      </m:r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sSubSup>
                        <m:sSubSupPr>
                          <m:ctrlPr>
                            <a:rPr lang="da-DK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16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da-DK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da-DK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da-DK" sz="1600" dirty="0"/>
              </a:p>
              <a:p>
                <a:pPr marL="0" indent="0">
                  <a:buNone/>
                </a:pPr>
                <a:endParaRPr lang="da-DK" sz="1600" dirty="0"/>
              </a:p>
              <a:p>
                <a:pPr marL="0" indent="0">
                  <a:buNone/>
                </a:pPr>
                <a:r>
                  <a:rPr lang="da-DK" sz="1600" dirty="0"/>
                  <a:t>       </a:t>
                </a:r>
                <a:r>
                  <a:rPr lang="da-DK" sz="1600" dirty="0" err="1"/>
                  <a:t>Color</a:t>
                </a:r>
                <a:r>
                  <a:rPr lang="da-DK" sz="1600" dirty="0"/>
                  <a:t> </a:t>
                </a:r>
                <a:r>
                  <a:rPr lang="da-DK" sz="1600" dirty="0" err="1"/>
                  <a:t>according</a:t>
                </a:r>
                <a:r>
                  <a:rPr lang="da-DK" sz="1600" dirty="0"/>
                  <a:t> to </a:t>
                </a:r>
                <a14:m>
                  <m:oMath xmlns:m="http://schemas.openxmlformats.org/officeDocument/2006/math">
                    <m:r>
                      <a:rPr lang="da-DK" sz="16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a-DK" sz="1600" dirty="0"/>
                  <a:t>, and </a:t>
                </a:r>
                <a:r>
                  <a:rPr lang="da-DK" sz="1600" dirty="0" err="1"/>
                  <a:t>consider</a:t>
                </a:r>
                <a:r>
                  <a:rPr lang="da-DK" sz="1600" dirty="0"/>
                  <a:t> </a:t>
                </a:r>
                <a:r>
                  <a:rPr lang="da-DK" sz="1600" dirty="0" err="1"/>
                  <a:t>higher</a:t>
                </a:r>
                <a:r>
                  <a:rPr lang="da-DK" sz="1600" dirty="0"/>
                  <a:t> </a:t>
                </a:r>
                <a:r>
                  <a:rPr lang="da-DK" sz="1600" dirty="0" err="1"/>
                  <a:t>order</a:t>
                </a:r>
                <a:r>
                  <a:rPr lang="da-DK" sz="1600" dirty="0"/>
                  <a:t> plots as </a:t>
                </a:r>
                <a:r>
                  <a:rPr lang="da-DK" sz="1600" dirty="0" err="1"/>
                  <a:t>well</a:t>
                </a:r>
                <a:r>
                  <a:rPr lang="da-DK" sz="1600" dirty="0"/>
                  <a:t>. </a:t>
                </a:r>
              </a:p>
              <a:p>
                <a:pPr marL="0" indent="0">
                  <a:buNone/>
                </a:pPr>
                <a:endParaRPr lang="da-DK" sz="1600" dirty="0"/>
              </a:p>
              <a:p>
                <a:r>
                  <a:rPr lang="da-DK" sz="1600" b="1" dirty="0"/>
                  <a:t>‘</a:t>
                </a:r>
                <a:r>
                  <a:rPr lang="da-DK" sz="1600" b="1" dirty="0" err="1"/>
                  <a:t>Loadings</a:t>
                </a:r>
                <a:r>
                  <a:rPr lang="da-DK" sz="1600" b="1" dirty="0"/>
                  <a:t>’ plots</a:t>
                </a:r>
                <a:r>
                  <a:rPr lang="da-DK" sz="1600" dirty="0"/>
                  <a:t>: </a:t>
                </a:r>
                <a:r>
                  <a:rPr lang="da-DK" sz="1600" dirty="0" err="1"/>
                  <a:t>Vizualize</a:t>
                </a:r>
                <a:r>
                  <a:rPr lang="da-DK" sz="16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𝑣𝑠</m:t>
                      </m:r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da-DK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a-DK" sz="1600" b="0" dirty="0"/>
              </a:p>
              <a:p>
                <a:pPr marL="0" indent="0">
                  <a:buNone/>
                </a:pPr>
                <a:r>
                  <a:rPr lang="da-DK" sz="1600" dirty="0"/>
                  <a:t>       </a:t>
                </a:r>
                <a:r>
                  <a:rPr lang="da-DK" sz="1600" dirty="0" err="1"/>
                  <a:t>Corresponding</a:t>
                </a:r>
                <a:r>
                  <a:rPr lang="da-DK" sz="1600" dirty="0"/>
                  <a:t> to the </a:t>
                </a:r>
                <a:r>
                  <a:rPr lang="da-DK" sz="1600" dirty="0" err="1"/>
                  <a:t>vectors</a:t>
                </a:r>
                <a:endParaRPr lang="da-DK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1600" b="0" dirty="0"/>
              </a:p>
              <a:p>
                <a:pPr marL="0" indent="0">
                  <a:buNone/>
                </a:pPr>
                <a:r>
                  <a:rPr lang="da-DK" sz="1600" dirty="0"/>
                  <a:t>       Label points </a:t>
                </a:r>
                <a14:m>
                  <m:oMath xmlns:m="http://schemas.openxmlformats.org/officeDocument/2006/math"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da-DK" sz="1600" dirty="0"/>
                  <a:t> and </a:t>
                </a:r>
                <a:r>
                  <a:rPr lang="da-DK" sz="1600" dirty="0" err="1"/>
                  <a:t>consider</a:t>
                </a:r>
                <a:r>
                  <a:rPr lang="da-DK" sz="1600" dirty="0"/>
                  <a:t> </a:t>
                </a:r>
                <a:r>
                  <a:rPr lang="da-DK" sz="1600" dirty="0" err="1"/>
                  <a:t>higher</a:t>
                </a:r>
                <a:r>
                  <a:rPr lang="da-DK" sz="1600" dirty="0"/>
                  <a:t> </a:t>
                </a:r>
                <a:r>
                  <a:rPr lang="da-DK" sz="1600" dirty="0" err="1"/>
                  <a:t>order</a:t>
                </a:r>
                <a:r>
                  <a:rPr lang="da-DK" sz="1600" dirty="0"/>
                  <a:t> plots.</a:t>
                </a:r>
              </a:p>
              <a:p>
                <a:pPr marL="0" indent="0">
                  <a:buNone/>
                </a:pPr>
                <a:endParaRPr lang="da-DK" sz="1600" dirty="0"/>
              </a:p>
              <a:p>
                <a:r>
                  <a:rPr lang="da-DK" sz="1600" b="1" dirty="0" err="1"/>
                  <a:t>Apply</a:t>
                </a:r>
                <a:r>
                  <a:rPr lang="da-DK" sz="1600" dirty="0"/>
                  <a:t> the </a:t>
                </a:r>
                <a:r>
                  <a:rPr lang="da-DK" sz="1600" dirty="0" err="1">
                    <a:ea typeface="Cambria Math" panose="02040503050406030204" pitchFamily="18" charset="0"/>
                  </a:rPr>
                  <a:t>canonical</a:t>
                </a:r>
                <a:r>
                  <a:rPr lang="da-DK" sz="1600" dirty="0">
                    <a:ea typeface="Cambria Math" panose="02040503050406030204" pitchFamily="18" charset="0"/>
                  </a:rPr>
                  <a:t> </a:t>
                </a:r>
                <a:r>
                  <a:rPr lang="da-DK" sz="1600" dirty="0" err="1">
                    <a:ea typeface="Cambria Math" panose="02040503050406030204" pitchFamily="18" charset="0"/>
                  </a:rPr>
                  <a:t>discriminant</a:t>
                </a:r>
                <a:r>
                  <a:rPr lang="da-DK" sz="1600" dirty="0">
                    <a:ea typeface="Cambria Math" panose="02040503050406030204" pitchFamily="18" charset="0"/>
                  </a:rPr>
                  <a:t> </a:t>
                </a:r>
                <a:r>
                  <a:rPr lang="da-DK" sz="1600" dirty="0" err="1">
                    <a:ea typeface="Cambria Math" panose="02040503050406030204" pitchFamily="18" charset="0"/>
                  </a:rPr>
                  <a:t>functions</a:t>
                </a:r>
                <a:r>
                  <a:rPr lang="da-DK" sz="1600" dirty="0">
                    <a:ea typeface="Cambria Math" panose="02040503050406030204" pitchFamily="18" charset="0"/>
                  </a:rPr>
                  <a:t> to </a:t>
                </a:r>
                <a:r>
                  <a:rPr lang="da-DK" sz="1600" dirty="0" err="1">
                    <a:ea typeface="Cambria Math" panose="02040503050406030204" pitchFamily="18" charset="0"/>
                  </a:rPr>
                  <a:t>discriminate</a:t>
                </a:r>
                <a:r>
                  <a:rPr lang="da-DK" sz="1600" dirty="0">
                    <a:ea typeface="Cambria Math" panose="02040503050406030204" pitchFamily="18" charset="0"/>
                  </a:rPr>
                  <a:t> the data.</a:t>
                </a:r>
                <a:endParaRPr lang="da-DK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DC39E-2DC0-F60C-18DC-3B83690678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66018"/>
                <a:ext cx="10972800" cy="4525963"/>
              </a:xfrm>
              <a:blipFill>
                <a:blip r:embed="rId3"/>
                <a:stretch>
                  <a:fillRect l="-278" t="-404" b="-2153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26774-B3E3-6FDB-66B5-E114A1F36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49604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3E5FC6-CB4E-E04B-C466-25784466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C65A57C-5D1E-AE60-2D16-2BA9E1618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group of 25 NORMAL and 25 PSYCHOTIC individuals were given certain tests.</a:t>
            </a:r>
          </a:p>
          <a:p>
            <a:endParaRPr lang="en-US" sz="2400" dirty="0"/>
          </a:p>
          <a:p>
            <a:r>
              <a:rPr lang="en-US" sz="2400" dirty="0"/>
              <a:t>Two variables SIZE and SHAPE were calculated as proxies.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psychotic&lt;-read.csv2("Data/psychotic.csv")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psychotic$group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as.factor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psychotic$group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summary(psychotic)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group         size          shape   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normal   :25   Min.   : 3.0   Min.   : 1.0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psychotic:25   1st Qu.:12.2   1st Qu.: 9.5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Median :19.5   Median :17.0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Mean   :16.8   Mean   :24.4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3rd Qu.:21.8   3rd Qu.:37.5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Max.   :25.0   Max.   :62.0  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6DF48BA-8998-C92C-39E4-0A4C5BE5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445667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6AEF7-70F2-AD28-5DB7-20D6EFAC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7456FB94-060F-FB9F-C475-7EF784D65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726" y="1199159"/>
            <a:ext cx="5530547" cy="552231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AD277E7-B72F-A357-F4AB-4F3B24B4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45FC12-82D6-E90F-98CD-6158C4122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D078CD2-D522-D50B-67F6-481B9C29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64981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3A050-C9E3-4946-8148-DAD60B03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8FAC5-0361-1B05-BDA5-71B4D4A6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95D8FA9-C6DF-55F6-6AFF-E1C7717EF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 want to construct a decision rule that </a:t>
            </a:r>
            <a:r>
              <a:rPr lang="en-US" sz="2400" b="1" dirty="0"/>
              <a:t>separates psychotic individuals from normal individuals</a:t>
            </a:r>
            <a:r>
              <a:rPr lang="en-US" sz="2400" dirty="0"/>
              <a:t>. Method: canonical discriminant analysis.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cs typeface="Courier New" panose="02070309020205020404" pitchFamily="49" charset="0"/>
              </a:rPr>
              <a:t>Need to construct the fundamental matrices W, B, T.</a:t>
            </a:r>
            <a:endParaRPr lang="en-US" sz="16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cs typeface="Courier New" panose="02070309020205020404" pitchFamily="49" charset="0"/>
              </a:rPr>
              <a:t>Data management:</a:t>
            </a:r>
          </a:p>
          <a:p>
            <a:pPr marL="0" indent="0">
              <a:buNone/>
            </a:pP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data.all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psychotic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[,2:3])</a:t>
            </a:r>
          </a:p>
          <a:p>
            <a:pPr marL="0" indent="0">
              <a:buNone/>
            </a:pP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data.normal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psychotic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psychotic$group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=="normal",2:3])</a:t>
            </a:r>
          </a:p>
          <a:p>
            <a:pPr marL="0" indent="0">
              <a:buNone/>
            </a:pP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data.psychotic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psychotic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psychotic$group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=="psychotic",2:3])</a:t>
            </a:r>
          </a:p>
          <a:p>
            <a:pPr marL="0" indent="0">
              <a:buNone/>
            </a:pPr>
            <a:endParaRPr lang="da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xbar.all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&lt;-matrix(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(1,100),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=2)%*%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data.all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xbar.normal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&lt;-matrix(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(1,50),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=2)%*%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data.normal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xbar.psychotic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&lt;-matrix(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(1,50),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=2)%*%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data.psychotic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56151ED-E9EB-F3B5-09B9-3EFEC470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08776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6D4F-B5A9-3D55-3659-8AD02A0E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lede 19">
            <a:extLst>
              <a:ext uri="{FF2B5EF4-FFF2-40B4-BE49-F238E27FC236}">
                <a16:creationId xmlns:a16="http://schemas.microsoft.com/office/drawing/2014/main" id="{4745BAB3-4F45-A8B1-E92F-4FA4DD42F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104" y="1864841"/>
            <a:ext cx="5000600" cy="49931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03023F-DA18-9D07-4DE8-4366AF579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E7356A-C5CF-00A7-A31B-0E5CC413F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Constructing the canonical discriminators:</a:t>
            </a: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d1&lt;-eigen(solve(W)%*%B)$vectors[,1]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d1&lt;-(1/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(sqrt(t(d1)%*%W%*%d1)))*d1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d2&lt;-eigen(solve(W)%*%B)$vectors[,2]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d2&lt;-(1/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(sqrt(t(d2)%*%W%*%d2)))*d2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d1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  0.021749 -0.008586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d2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 -0.022049 -0.007325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0117189-6B6A-4484-A9DA-529CD1FC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49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793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06FA6-9EC0-A18B-5A2F-70E2195C0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CED18F4F-630C-4B54-03BF-58B635D50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00" y="620688"/>
            <a:ext cx="6400800" cy="63912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DBD9180-F98F-F437-4325-29140D07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  <a:br>
              <a:rPr lang="da-DK" b="1" dirty="0">
                <a:solidFill>
                  <a:srgbClr val="C00000"/>
                </a:solidFill>
              </a:rPr>
            </a:br>
            <a:endParaRPr lang="da-DK" b="1" dirty="0">
              <a:solidFill>
                <a:srgbClr val="C00000"/>
              </a:solidFill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8ECC7F9-F8FF-D07D-0782-7CAFF3FCE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The score plot:</a:t>
            </a: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5D95A2F-A88B-77D1-3926-8820F4505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02836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5BA83-0D28-F71A-9177-D918219A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C9198CEF-3189-8273-289D-3E611686A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620688"/>
            <a:ext cx="6400800" cy="63912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CE19DB9-0F90-FFF8-42BA-96AFC3224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  <a:br>
              <a:rPr lang="da-DK" b="1" dirty="0">
                <a:solidFill>
                  <a:srgbClr val="C00000"/>
                </a:solidFill>
              </a:rPr>
            </a:br>
            <a:endParaRPr lang="da-DK" b="1" dirty="0">
              <a:solidFill>
                <a:srgbClr val="C00000"/>
              </a:solidFill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E74FA22-8143-5C73-16B0-B097A63D0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The canonical </a:t>
            </a:r>
          </a:p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discrimination:</a:t>
            </a: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2734EAC-8F46-D756-5728-6F401F9E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11514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9BB42-38F7-CE27-CDFD-3D3BD040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6F9172-D849-A7F6-CC50-9955201E3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EEA295F-4399-AF4B-F4EB-20286A704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Constructing W, B, T:</a:t>
            </a:r>
            <a:endParaRPr lang="en-US" sz="16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W_normal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&lt;-t(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data.normal-xbar.normal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)%*%(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data.normal-xbar.normal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W_psychotic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&lt;-t(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data.psychotic-xbar.psychotic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)%*%(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data.psychotic-xbar.psychotic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W&lt;-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W_normal+W_psychotic</a:t>
            </a: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B&lt;-25*(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data.normal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)-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data.all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))%*%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       t(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data.normal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)-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data.all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))+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   25*(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data.psychotic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)-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data.all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))%*%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       t(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data.psychotic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)-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data.all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T&lt;-W+B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W; B; T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1048.0  207.6</a:t>
            </a: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207.6 7891.4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[1,]   800 -2408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[2,] -2408  7248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1848 -2200</a:t>
            </a: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-2200 15140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C974319-1647-4CA9-EC2E-B47088A8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52</a:t>
            </a:fld>
            <a:endParaRPr lang="da-DK"/>
          </a:p>
        </p:txBody>
      </p:sp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3C1D56B3-922B-30F7-C7A4-B93B70DC837C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2783632" y="4566436"/>
            <a:ext cx="1728192" cy="3698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A9C80C55-62A3-37D6-3D9B-F9F23BB32C2D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783632" y="5517232"/>
            <a:ext cx="1728192" cy="2081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24F6214C-BEA3-A0A7-D979-67AA713CAAD7}"/>
              </a:ext>
            </a:extLst>
          </p:cNvPr>
          <p:cNvCxnSpPr>
            <a:cxnSpLocks/>
          </p:cNvCxnSpPr>
          <p:nvPr/>
        </p:nvCxnSpPr>
        <p:spPr>
          <a:xfrm flipH="1" flipV="1">
            <a:off x="2786460" y="6237313"/>
            <a:ext cx="1703412" cy="16138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felt 11">
            <a:extLst>
              <a:ext uri="{FF2B5EF4-FFF2-40B4-BE49-F238E27FC236}">
                <a16:creationId xmlns:a16="http://schemas.microsoft.com/office/drawing/2014/main" id="{68F2AB32-2032-BF6E-7908-013A0926E76D}"/>
              </a:ext>
            </a:extLst>
          </p:cNvPr>
          <p:cNvSpPr txBox="1"/>
          <p:nvPr/>
        </p:nvSpPr>
        <p:spPr>
          <a:xfrm>
            <a:off x="4511824" y="438177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1EC1C6E3-BA76-C6EC-B0BE-F21DE3674762}"/>
              </a:ext>
            </a:extLst>
          </p:cNvPr>
          <p:cNvSpPr txBox="1"/>
          <p:nvPr/>
        </p:nvSpPr>
        <p:spPr>
          <a:xfrm>
            <a:off x="4511824" y="535338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870E53E0-636E-6E75-8455-99B3ABFE00BF}"/>
              </a:ext>
            </a:extLst>
          </p:cNvPr>
          <p:cNvSpPr txBox="1"/>
          <p:nvPr/>
        </p:nvSpPr>
        <p:spPr>
          <a:xfrm>
            <a:off x="4489872" y="621403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0070C0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2574102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D24A-D8AE-1176-C912-0772B6F53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8E098-BADF-8727-E8AF-00F50FEE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  <a:br>
              <a:rPr lang="da-DK" b="1" dirty="0">
                <a:solidFill>
                  <a:srgbClr val="C00000"/>
                </a:solidFill>
              </a:rPr>
            </a:br>
            <a:endParaRPr lang="da-DK" b="1" dirty="0">
              <a:solidFill>
                <a:srgbClr val="C00000"/>
              </a:solidFill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A858CEA-0096-4B2B-00BE-433266CDA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Same analysis using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lda</a:t>
            </a:r>
            <a:r>
              <a:rPr lang="en-US" sz="2400" dirty="0">
                <a:cs typeface="Courier New" panose="02070309020205020404" pitchFamily="49" charset="0"/>
              </a:rPr>
              <a:t> function: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my.lda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(group ~ size + shape, prior=c(1/2,1/2), data=psychotic) )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(group ~ size + shape, data = psychotic, prior = c(1/2, 1/2))</a:t>
            </a: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Prior probabilities of groups: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normal psychotic 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0.5       0.5 </a:t>
            </a: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Group means: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size shape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normal    20.8 12.32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psychotic 12.8 36.40</a:t>
            </a: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 of linear discriminants: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LD1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size  -0.15068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shape  0.05949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d1/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my.lda$scaling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LD1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size  -0.1443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shape -0.1443</a:t>
            </a: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C1D1708-26E1-CD43-51D3-3F69A7C61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53</a:t>
            </a:fld>
            <a:endParaRPr lang="da-DK"/>
          </a:p>
        </p:txBody>
      </p:sp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A3A351E6-F5ED-48DE-B93E-4DBF8133A158}"/>
              </a:ext>
            </a:extLst>
          </p:cNvPr>
          <p:cNvCxnSpPr/>
          <p:nvPr/>
        </p:nvCxnSpPr>
        <p:spPr>
          <a:xfrm flipH="1">
            <a:off x="2135560" y="5877272"/>
            <a:ext cx="1296144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felt 7">
            <a:extLst>
              <a:ext uri="{FF2B5EF4-FFF2-40B4-BE49-F238E27FC236}">
                <a16:creationId xmlns:a16="http://schemas.microsoft.com/office/drawing/2014/main" id="{6EBAFEEC-2FDF-CD52-9A7E-B466CECCE50B}"/>
              </a:ext>
            </a:extLst>
          </p:cNvPr>
          <p:cNvSpPr txBox="1"/>
          <p:nvPr/>
        </p:nvSpPr>
        <p:spPr>
          <a:xfrm>
            <a:off x="3423618" y="5608432"/>
            <a:ext cx="5442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FF0000"/>
                </a:solidFill>
              </a:rPr>
              <a:t>Constant: parallel </a:t>
            </a:r>
            <a:r>
              <a:rPr lang="da-DK" b="1" dirty="0" err="1">
                <a:solidFill>
                  <a:srgbClr val="FF0000"/>
                </a:solidFill>
              </a:rPr>
              <a:t>vectors</a:t>
            </a:r>
            <a:r>
              <a:rPr lang="da-DK" b="1" dirty="0">
                <a:solidFill>
                  <a:srgbClr val="FF0000"/>
                </a:solidFill>
              </a:rPr>
              <a:t>. </a:t>
            </a:r>
          </a:p>
          <a:p>
            <a:r>
              <a:rPr lang="da-DK" b="1" dirty="0">
                <a:solidFill>
                  <a:srgbClr val="FF0000"/>
                </a:solidFill>
              </a:rPr>
              <a:t>The </a:t>
            </a:r>
            <a:r>
              <a:rPr lang="da-DK" b="1" dirty="0" err="1">
                <a:solidFill>
                  <a:srgbClr val="FF0000"/>
                </a:solidFill>
              </a:rPr>
              <a:t>slope</a:t>
            </a:r>
            <a:r>
              <a:rPr lang="da-DK" b="1" dirty="0">
                <a:solidFill>
                  <a:srgbClr val="FF0000"/>
                </a:solidFill>
              </a:rPr>
              <a:t> of the </a:t>
            </a:r>
            <a:r>
              <a:rPr lang="da-DK" b="1" dirty="0" err="1">
                <a:solidFill>
                  <a:srgbClr val="FF0000"/>
                </a:solidFill>
              </a:rPr>
              <a:t>discrimination</a:t>
            </a:r>
            <a:r>
              <a:rPr lang="da-DK" b="1" dirty="0">
                <a:solidFill>
                  <a:srgbClr val="FF0000"/>
                </a:solidFill>
              </a:rPr>
              <a:t> line is the same.</a:t>
            </a:r>
          </a:p>
        </p:txBody>
      </p:sp>
    </p:spTree>
    <p:extLst>
      <p:ext uri="{BB962C8B-B14F-4D97-AF65-F5344CB8AC3E}">
        <p14:creationId xmlns:p14="http://schemas.microsoft.com/office/powerpoint/2010/main" val="352861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D4578-7843-9A1A-2677-A0190463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C512C6-24E8-6719-3534-C9DA9782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FC093D5-EB0B-A603-6725-26766E9A7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Discrimination plot using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lda</a:t>
            </a:r>
            <a:r>
              <a:rPr lang="en-US" sz="2000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partimat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(group ~ shape + size, prior=c(1/2,1/2), data=psychotic, method="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=1000)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94E465D-602A-E981-0FB8-EFDD716BE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54</a:t>
            </a:fld>
            <a:endParaRPr lang="da-DK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5DE886EB-CFEF-C1B0-8F96-4A8FADB0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850" y="2292617"/>
            <a:ext cx="4586300" cy="4579475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424B6462-8C6E-BD94-C7F2-7460F48BE271}"/>
              </a:ext>
            </a:extLst>
          </p:cNvPr>
          <p:cNvSpPr txBox="1"/>
          <p:nvPr/>
        </p:nvSpPr>
        <p:spPr>
          <a:xfrm>
            <a:off x="9048328" y="321297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 err="1">
                <a:solidFill>
                  <a:srgbClr val="FF0000"/>
                </a:solidFill>
              </a:rPr>
              <a:t>Similar</a:t>
            </a:r>
            <a:r>
              <a:rPr lang="da-DK" b="1" dirty="0">
                <a:solidFill>
                  <a:srgbClr val="FF0000"/>
                </a:solidFill>
              </a:rPr>
              <a:t> to slide 51! </a:t>
            </a:r>
          </a:p>
        </p:txBody>
      </p:sp>
    </p:spTree>
    <p:extLst>
      <p:ext uri="{BB962C8B-B14F-4D97-AF65-F5344CB8AC3E}">
        <p14:creationId xmlns:p14="http://schemas.microsoft.com/office/powerpoint/2010/main" val="12960704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7B14-739B-F259-35F3-64B08FB0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95B4D-2483-7976-4288-2B7789BD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BC3A063-1430-2AF9-2DBC-32AECFBDF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cs typeface="Courier New" panose="02070309020205020404" pitchFamily="49" charset="0"/>
              </a:rPr>
              <a:t>Confusion matrix: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psychotic$group,predict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my.lda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)[[1]],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=c("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Nature","Classification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Classification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Nature      normal psychotic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normal        25         0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psychotic      4        21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Error rate: (0+4)/(25+0+4+21)=0.08.</a:t>
            </a:r>
          </a:p>
          <a:p>
            <a:pPr marL="0" indent="0">
              <a:buNone/>
            </a:pP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Sensitivity: 21/(21+4)=0.84.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B3DAEAC-0572-FD5C-568F-345D63C7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48196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5128A-18A3-9886-45D1-8A4BC347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DD8290CB-814E-9469-DF8A-0490E82AD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360" y="692696"/>
            <a:ext cx="2646912" cy="264297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6B4A5B1-F202-3A38-031B-93F13085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B188A074-D174-7B7F-6D88-313AF1B14A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400" y="1196752"/>
                <a:ext cx="10972800" cy="4525963"/>
              </a:xfrm>
            </p:spPr>
            <p:txBody>
              <a:bodyPr/>
              <a:lstStyle/>
              <a:p>
                <a:r>
                  <a:rPr lang="en-US" sz="2000" dirty="0">
                    <a:cs typeface="Courier New" panose="02070309020205020404" pitchFamily="49" charset="0"/>
                  </a:rPr>
                  <a:t>Test for additional information – does Shape contribute?</a:t>
                </a:r>
              </a:p>
              <a:p>
                <a:endParaRPr lang="en-US" sz="2000" dirty="0">
                  <a:cs typeface="Courier New" panose="02070309020205020404" pitchFamily="49" charset="0"/>
                </a:endParaRPr>
              </a:p>
              <a:p>
                <a:r>
                  <a:rPr lang="en-US" sz="2000" dirty="0">
                    <a:cs typeface="Courier New" panose="02070309020205020404" pitchFamily="49" charset="0"/>
                  </a:rPr>
                  <a:t>Testing in the conditional distribution of Shape given Size.</a:t>
                </a:r>
              </a:p>
              <a:p>
                <a:pPr marL="0" indent="0">
                  <a:buNone/>
                </a:pPr>
                <a:r>
                  <a:rPr lang="en-US" sz="2000" dirty="0">
                    <a:cs typeface="Courier New" panose="02070309020205020404" pitchFamily="49" charset="0"/>
                  </a:rPr>
                  <a:t>     Test statistic (Theorem 20):</a:t>
                </a:r>
              </a:p>
              <a:p>
                <a:pPr marL="0" indent="0">
                  <a:buNone/>
                </a:pPr>
                <a:endParaRPr lang="en-US" sz="2000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2000" b="0" i="0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Λ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𝑠h𝑎𝑝𝑒</m:t>
                          </m:r>
                          <m:r>
                            <a:rPr lang="da-DK" sz="20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|</m:t>
                          </m:r>
                          <m:r>
                            <a:rPr lang="da-DK" sz="20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𝑠𝑖𝑧𝑒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𝑇</m:t>
                              </m:r>
                            </m:e>
                          </m:d>
                        </m:den>
                      </m:f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⋅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d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1848</m:t>
                          </m:r>
                        </m:num>
                        <m:den>
                          <m:r>
                            <a:rPr lang="da-DK" sz="20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23136073</m:t>
                          </m:r>
                        </m:den>
                      </m:f>
                      <m:r>
                        <a:rPr lang="da-DK" sz="2000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⋅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r>
                            <a:rPr lang="da-DK" sz="20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8227131</m:t>
                          </m:r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1048</m:t>
                          </m:r>
                        </m:den>
                      </m:f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=0.627</m:t>
                      </m:r>
                    </m:oMath>
                  </m:oMathPara>
                </a14:m>
                <a:endParaRPr lang="da-DK" sz="2000" b="0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sz="2000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𝑁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−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𝑘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−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𝑝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+1</m:t>
                          </m:r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𝑘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−1</m:t>
                          </m:r>
                        </m:den>
                      </m:f>
                      <m:r>
                        <a:rPr lang="da-DK" sz="2000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⋅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da-DK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a-DK" sz="200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da-DK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𝑠h𝑎𝑝𝑒</m:t>
                              </m:r>
                              <m:r>
                                <a:rPr lang="da-DK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|</m:t>
                              </m:r>
                              <m:r>
                                <a:rPr lang="da-DK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𝑠𝑖𝑧𝑒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a-DK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a-DK" sz="200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da-DK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𝑠h𝑎𝑝𝑒</m:t>
                              </m:r>
                              <m:r>
                                <a:rPr lang="da-DK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|</m:t>
                              </m:r>
                              <m:r>
                                <a:rPr lang="da-DK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𝑠𝑖𝑧𝑒</m:t>
                              </m:r>
                            </m:sub>
                          </m:sSub>
                        </m:den>
                      </m:f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50−2−2+1</m:t>
                          </m:r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2−1</m:t>
                          </m:r>
                        </m:den>
                      </m:f>
                      <m:r>
                        <a:rPr lang="da-DK" sz="2000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⋅</m:t>
                      </m:r>
                      <m:f>
                        <m:fPr>
                          <m:ctrlPr>
                            <a:rPr lang="da-DK" sz="200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1−0.627</m:t>
                          </m:r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0.627</m:t>
                          </m:r>
                        </m:den>
                      </m:f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=27.95~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𝐹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(1,47)</m:t>
                      </m:r>
                    </m:oMath>
                  </m:oMathPara>
                </a14:m>
                <a:endParaRPr lang="en-US" sz="2000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da-DK" sz="2000" b="0" i="1" dirty="0">
                  <a:latin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𝑝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𝑃</m:t>
                      </m:r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𝐹</m:t>
                          </m:r>
                          <m:r>
                            <a:rPr lang="da-DK" sz="20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(1,47)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cs typeface="Courier New" panose="020703090202050204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a-DK" sz="2000" b="0" i="0" dirty="0" smtClean="0">
                              <a:cs typeface="Courier New" panose="02070309020205020404" pitchFamily="49" charset="0"/>
                            </a:rPr>
                            <m:t>&gt;27.95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=0.000003</m:t>
                      </m:r>
                    </m:oMath>
                  </m:oMathPara>
                </a14:m>
                <a:endParaRPr lang="en-US" sz="2000" dirty="0">
                  <a:cs typeface="Courier New" panose="02070309020205020404" pitchFamily="49" charset="0"/>
                </a:endParaRPr>
              </a:p>
              <a:p>
                <a:endParaRPr lang="en-US" sz="2000" b="1" dirty="0">
                  <a:solidFill>
                    <a:srgbClr val="FF0000"/>
                  </a:solidFill>
                  <a:cs typeface="Courier New" panose="02070309020205020404" pitchFamily="49" charset="0"/>
                </a:endParaRPr>
              </a:p>
              <a:p>
                <a:r>
                  <a:rPr lang="en-US" sz="2000" b="1" dirty="0">
                    <a:solidFill>
                      <a:srgbClr val="FF0000"/>
                    </a:solidFill>
                    <a:cs typeface="Courier New" panose="02070309020205020404" pitchFamily="49" charset="0"/>
                  </a:rPr>
                  <a:t>Shape contributes significantly (p=3e-6).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B188A074-D174-7B7F-6D88-313AF1B14A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400" y="1196752"/>
                <a:ext cx="10972800" cy="4525963"/>
              </a:xfrm>
              <a:blipFill>
                <a:blip r:embed="rId3"/>
                <a:stretch>
                  <a:fillRect l="-500" t="-673" b="-1144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0126750-A408-FDA1-DA03-5B54637A2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683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13672-7C5E-8869-AD3E-DB87F8A2E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1DA9DF-CA4E-EE49-7F29-ECBAEACB7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A4B3F7A-7F24-A4C5-9B15-B58FBE534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Is LDA a good idea?</a:t>
            </a:r>
            <a:endParaRPr lang="da-DK" sz="4800" dirty="0"/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W_normal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/24;W_psychotic/24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size  shape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size   6.917 -5.267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shape -5.267 40.893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size  shape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size  36.75  13.92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shape 13.92 287.92</a:t>
            </a:r>
          </a:p>
          <a:p>
            <a:pPr marL="0" indent="0">
              <a:buNone/>
            </a:pPr>
            <a:endParaRPr lang="da-DK" sz="2400" dirty="0"/>
          </a:p>
          <a:p>
            <a:r>
              <a:rPr lang="da-DK" sz="2400" dirty="0" err="1"/>
              <a:t>Vastly</a:t>
            </a:r>
            <a:r>
              <a:rPr lang="da-DK" sz="2400" dirty="0"/>
              <a:t> </a:t>
            </a:r>
            <a:r>
              <a:rPr lang="da-DK" sz="2400" dirty="0" err="1"/>
              <a:t>different</a:t>
            </a:r>
            <a:r>
              <a:rPr lang="da-DK" sz="2400" dirty="0"/>
              <a:t> </a:t>
            </a:r>
            <a:r>
              <a:rPr lang="da-DK" sz="2400" dirty="0" err="1"/>
              <a:t>variances</a:t>
            </a:r>
            <a:r>
              <a:rPr lang="da-DK" sz="2400" dirty="0"/>
              <a:t>! </a:t>
            </a:r>
            <a:r>
              <a:rPr lang="da-DK" sz="2400" dirty="0" err="1"/>
              <a:t>Psychotic</a:t>
            </a:r>
            <a:r>
              <a:rPr lang="da-DK" sz="2400" dirty="0"/>
              <a:t> </a:t>
            </a:r>
            <a:r>
              <a:rPr lang="da-DK" sz="2400" dirty="0" err="1"/>
              <a:t>individuals</a:t>
            </a:r>
            <a:r>
              <a:rPr lang="da-DK" sz="2400" dirty="0"/>
              <a:t> </a:t>
            </a:r>
            <a:r>
              <a:rPr lang="da-DK" sz="2400" dirty="0" err="1"/>
              <a:t>are</a:t>
            </a:r>
            <a:r>
              <a:rPr lang="da-DK" sz="2400" dirty="0"/>
              <a:t> </a:t>
            </a:r>
            <a:r>
              <a:rPr lang="da-DK" sz="2400" dirty="0" err="1"/>
              <a:t>much</a:t>
            </a:r>
            <a:r>
              <a:rPr lang="da-DK" sz="2400" dirty="0"/>
              <a:t> more variable!</a:t>
            </a:r>
          </a:p>
          <a:p>
            <a:pPr marL="0" indent="0">
              <a:buNone/>
            </a:pPr>
            <a:endParaRPr lang="da-DK" sz="2400" dirty="0"/>
          </a:p>
          <a:p>
            <a:pPr marL="0" indent="0" algn="ctr">
              <a:buNone/>
            </a:pPr>
            <a:r>
              <a:rPr lang="da-DK" sz="2400" b="1" dirty="0" err="1">
                <a:solidFill>
                  <a:srgbClr val="FF0000"/>
                </a:solidFill>
              </a:rPr>
              <a:t>Taking</a:t>
            </a:r>
            <a:r>
              <a:rPr lang="da-DK" sz="2400" b="1" dirty="0">
                <a:solidFill>
                  <a:srgbClr val="FF0000"/>
                </a:solidFill>
              </a:rPr>
              <a:t> </a:t>
            </a:r>
            <a:r>
              <a:rPr lang="da-DK" sz="2400" b="1" dirty="0" err="1">
                <a:solidFill>
                  <a:srgbClr val="FF0000"/>
                </a:solidFill>
              </a:rPr>
              <a:t>that</a:t>
            </a:r>
            <a:r>
              <a:rPr lang="da-DK" sz="2400" b="1" dirty="0">
                <a:solidFill>
                  <a:srgbClr val="FF0000"/>
                </a:solidFill>
              </a:rPr>
              <a:t> </a:t>
            </a:r>
            <a:r>
              <a:rPr lang="da-DK" sz="2400" b="1" dirty="0" err="1">
                <a:solidFill>
                  <a:srgbClr val="FF0000"/>
                </a:solidFill>
              </a:rPr>
              <a:t>into</a:t>
            </a:r>
            <a:r>
              <a:rPr lang="da-DK" sz="2400" b="1" dirty="0">
                <a:solidFill>
                  <a:srgbClr val="FF0000"/>
                </a:solidFill>
              </a:rPr>
              <a:t> </a:t>
            </a:r>
            <a:r>
              <a:rPr lang="da-DK" sz="2400" b="1" dirty="0" err="1">
                <a:solidFill>
                  <a:srgbClr val="FF0000"/>
                </a:solidFill>
              </a:rPr>
              <a:t>account</a:t>
            </a:r>
            <a:r>
              <a:rPr lang="da-DK" sz="2400" b="1" dirty="0">
                <a:solidFill>
                  <a:srgbClr val="FF0000"/>
                </a:solidFill>
              </a:rPr>
              <a:t> </a:t>
            </a:r>
            <a:r>
              <a:rPr lang="da-DK" sz="2400" b="1" dirty="0" err="1">
                <a:solidFill>
                  <a:srgbClr val="FF0000"/>
                </a:solidFill>
              </a:rPr>
              <a:t>means</a:t>
            </a:r>
            <a:r>
              <a:rPr lang="da-DK" sz="2400" b="1" dirty="0">
                <a:solidFill>
                  <a:srgbClr val="FF0000"/>
                </a:solidFill>
              </a:rPr>
              <a:t> </a:t>
            </a:r>
            <a:r>
              <a:rPr lang="da-DK" sz="2400" b="1" dirty="0" err="1">
                <a:solidFill>
                  <a:srgbClr val="FF0000"/>
                </a:solidFill>
              </a:rPr>
              <a:t>Quadratic</a:t>
            </a:r>
            <a:r>
              <a:rPr lang="da-DK" sz="2400" b="1" dirty="0">
                <a:solidFill>
                  <a:srgbClr val="FF0000"/>
                </a:solidFill>
              </a:rPr>
              <a:t> </a:t>
            </a:r>
            <a:r>
              <a:rPr lang="da-DK" sz="2400" b="1" dirty="0" err="1">
                <a:solidFill>
                  <a:srgbClr val="FF0000"/>
                </a:solidFill>
              </a:rPr>
              <a:t>Discrimination</a:t>
            </a:r>
            <a:r>
              <a:rPr lang="da-DK" sz="2400" b="1" dirty="0">
                <a:solidFill>
                  <a:srgbClr val="FF0000"/>
                </a:solidFill>
              </a:rPr>
              <a:t> </a:t>
            </a:r>
            <a:r>
              <a:rPr lang="da-DK" sz="2400" b="1" dirty="0" err="1">
                <a:solidFill>
                  <a:srgbClr val="FF0000"/>
                </a:solidFill>
              </a:rPr>
              <a:t>analysis</a:t>
            </a:r>
            <a:r>
              <a:rPr lang="da-DK" sz="2400" b="1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DFDC3E0-CDD9-7535-538B-151A84FF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08214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7690-11FB-7CAF-F5AF-5F621F69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80B823-73D7-C666-F47F-425ABDBD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0C6C2B5-2A14-0917-2753-E9A1EB13D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r>
              <a:rPr lang="en-US" sz="2400" dirty="0">
                <a:cs typeface="Courier New" panose="02070309020205020404" pitchFamily="49" charset="0"/>
              </a:rPr>
              <a:t>Quadratic discrimination analysis using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qda</a:t>
            </a:r>
            <a:r>
              <a:rPr lang="en-US" sz="2400" dirty="0">
                <a:cs typeface="Courier New" panose="02070309020205020404" pitchFamily="49" charset="0"/>
              </a:rPr>
              <a:t> function: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my.qda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(group ~ size + shape, prior=c(1/2,1/2), data=psychotic) 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(group ~ size + shape, data = psychotic, prior = c(1/2, 1/2))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Prior probabilities of groups: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normal psychotic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0.5       0.5 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Group means: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size shape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normal    20.8 12.32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psychotic 12.8 36.40</a:t>
            </a: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4791DB3-485C-C132-609C-686921C7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46354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8B4B7-467B-4515-BD2A-07A518FD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29ADA5FA-FEF2-D82E-06B2-FE7E06071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04" y="1656417"/>
            <a:ext cx="5072608" cy="50650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F88FEA4-8F5F-6017-5852-696478D26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</a:t>
            </a:r>
            <a:r>
              <a:rPr lang="da-DK" b="1" dirty="0" err="1">
                <a:solidFill>
                  <a:srgbClr val="C00000"/>
                </a:solidFill>
              </a:rPr>
              <a:t>Psychology</a:t>
            </a:r>
            <a:r>
              <a:rPr lang="da-DK" b="1" dirty="0">
                <a:solidFill>
                  <a:srgbClr val="C00000"/>
                </a:solidFill>
              </a:rPr>
              <a:t>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29FE72C-0056-BCD4-FD64-7A07FD34D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partimat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(group ~ shape + size, prior=c(1/2,1/2), data=psychotic, method="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=1000)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cs typeface="Courier New" panose="02070309020205020404" pitchFamily="49" charset="0"/>
              </a:rPr>
              <a:t>Confusion matrix, quadratic discrimination: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&gt;table(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psychotic$group,predict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my.qda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)[[1]],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=c("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Nature","Classification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Classification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Nature      normal psychotic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normal        23         2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psychotic      2        23</a:t>
            </a:r>
          </a:p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Error rate: (2+2)/(23+2+2+23) =0.04 (unchanged)</a:t>
            </a:r>
          </a:p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Sensitivity: 23/(2+23)=0.92 (increased).</a:t>
            </a: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1D0AEEA-08A8-6BA5-9DA1-6A5842BF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59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35602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3235-C8D7-1BAB-E18D-A4408E60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Iris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9C06E-3E8C-A1D4-CEDA-B4BC37FDB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err="1"/>
              <a:t>Measumrents</a:t>
            </a:r>
            <a:r>
              <a:rPr lang="en-GB" sz="2400" dirty="0"/>
              <a:t> on 50 Iris </a:t>
            </a:r>
            <a:r>
              <a:rPr lang="en-GB" sz="2400" dirty="0" err="1"/>
              <a:t>Setosa</a:t>
            </a:r>
            <a:r>
              <a:rPr lang="en-GB" sz="2400" dirty="0"/>
              <a:t>, 50 Iris versicolor and 50 Iris virginica plants.</a:t>
            </a:r>
          </a:p>
          <a:p>
            <a:r>
              <a:rPr lang="en-GB" sz="2400" dirty="0"/>
              <a:t>Sepal length, sepal width, petal length and petal width measured in mm. </a:t>
            </a:r>
          </a:p>
          <a:p>
            <a:r>
              <a:rPr lang="en-GB" sz="2400" dirty="0"/>
              <a:t>Original hypothesis: </a:t>
            </a:r>
          </a:p>
          <a:p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Versicolor is a hybrid of the two other species. </a:t>
            </a:r>
            <a:endParaRPr lang="da-DK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99BB-ECBD-3970-8E14-3F8F56245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60</a:t>
            </a:fld>
            <a:endParaRPr lang="da-DK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D66C6D3-88E7-E80F-DAF3-5A2087EA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2599238"/>
            <a:ext cx="3816424" cy="3963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85903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42D50-C27B-F7A9-AAAC-E355710EB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75DB9D66-8B00-122D-69B8-23E5FBFED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003" y="1417638"/>
            <a:ext cx="4654610" cy="46476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F23276-46B4-3306-2C72-0BB81BDD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Iris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F9C85-2C3F-34E9-476E-0B28A9703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Built-in dataset: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&gt; iris&lt;-datasets::iris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&gt; names(iris)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[1] "</a:t>
            </a:r>
            <a:r>
              <a:rPr lang="en-GB" sz="18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Sepal.Length</a:t>
            </a: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" "</a:t>
            </a:r>
            <a:r>
              <a:rPr lang="en-GB" sz="18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Sepal.Width</a:t>
            </a: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"  "</a:t>
            </a:r>
            <a:r>
              <a:rPr lang="en-GB" sz="18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Petal.Length</a:t>
            </a: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"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[2] "</a:t>
            </a:r>
            <a:r>
              <a:rPr lang="en-GB" sz="18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Petal.Width</a:t>
            </a: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"  "Species"    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&gt; pairs(iris[,1:4], col=</a:t>
            </a:r>
            <a:r>
              <a:rPr lang="en-GB" sz="18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iris$Species</a:t>
            </a: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, </a:t>
            </a:r>
            <a:r>
              <a:rPr lang="en-GB" sz="18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pch</a:t>
            </a:r>
            <a:r>
              <a:rPr lang="en-GB" sz="180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=19)</a:t>
            </a:r>
          </a:p>
          <a:p>
            <a:pPr marL="0" indent="0">
              <a:buNone/>
            </a:pPr>
            <a:endParaRPr lang="en-GB" sz="2000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5903-AEFD-2982-B3D4-55A0D4AE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23757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62C0-759E-EA69-09AB-488070FD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19FBE0-BCCD-DD43-A4A3-D343AEC3F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Iris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CE8F694-8A3F-A2C2-739B-0E6E5A456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37" y="1166018"/>
            <a:ext cx="10972800" cy="4525963"/>
          </a:xfrm>
        </p:spPr>
        <p:txBody>
          <a:bodyPr/>
          <a:lstStyle/>
          <a:p>
            <a:r>
              <a:rPr lang="en-US" sz="2400" dirty="0"/>
              <a:t>We want to construct decision rule that </a:t>
            </a:r>
            <a:r>
              <a:rPr lang="en-US" sz="2400" b="1" dirty="0"/>
              <a:t>separates species</a:t>
            </a:r>
            <a:r>
              <a:rPr lang="en-US" sz="2400" dirty="0"/>
              <a:t>. </a:t>
            </a:r>
          </a:p>
          <a:p>
            <a:r>
              <a:rPr lang="en-US" sz="2400" dirty="0"/>
              <a:t>Method: canonical discriminant analysis.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cs typeface="Courier New" panose="02070309020205020404" pitchFamily="49" charset="0"/>
              </a:rPr>
              <a:t>We will start by constructing the W’s.</a:t>
            </a:r>
            <a:endParaRPr lang="en-US" sz="16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cs typeface="Courier New" panose="02070309020205020404" pitchFamily="49" charset="0"/>
              </a:rPr>
              <a:t>Data management:</a:t>
            </a:r>
          </a:p>
          <a:p>
            <a:pPr marL="0" indent="0">
              <a:buNone/>
            </a:pPr>
            <a:endParaRPr lang="da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iris.all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(iris[,1:4])</a:t>
            </a:r>
          </a:p>
          <a:p>
            <a:pPr marL="0" indent="0">
              <a:buNone/>
            </a:pP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iris.setosa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(iris[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iris$Species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=="setosa",1:4])</a:t>
            </a:r>
          </a:p>
          <a:p>
            <a:pPr marL="0" indent="0">
              <a:buNone/>
            </a:pP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iris.versicolor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(iris[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iris$Species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=="versicolor",1:4])</a:t>
            </a:r>
          </a:p>
          <a:p>
            <a:pPr marL="0" indent="0">
              <a:buNone/>
            </a:pP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iris.virginica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(iris[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iris$Species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=="virginica",1:4])</a:t>
            </a:r>
          </a:p>
          <a:p>
            <a:pPr marL="0" indent="0">
              <a:buNone/>
            </a:pPr>
            <a:endParaRPr lang="da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xbar.all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&lt;-matrix(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(1,4*150),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=4)%*%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iris.all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xbar.setosa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&lt;-matrix(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(1,4*50),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=4)%*%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iris.setosa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xbar.versicolor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&lt;-matrix(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(1,4*50),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=4)%*%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iris.versicolor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xbar.virginica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&lt;-matrix(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(1,4*50),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=4)%*%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colMeans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iris.virginica</a:t>
            </a:r>
            <a:r>
              <a:rPr lang="da-D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endParaRPr lang="da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8188FD6-E386-5686-C891-D55C8B0F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35965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3850-AD86-D841-6951-42D904067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5846C7-06DD-C608-C5F7-0EEB3F4D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Iris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D0D39F4-159F-B0BE-CA5E-C65BCBFF2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r>
              <a:rPr lang="en-US" sz="2000" dirty="0">
                <a:cs typeface="Courier New" panose="02070309020205020404" pitchFamily="49" charset="0"/>
              </a:rPr>
              <a:t>Constructing W’s: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W_setosa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&lt;-t(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iris.setosa-xbar.setosa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)%*%(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iris.setosa-xbar.setosa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W_versicolor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&lt;-t(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iris.versicolor-xbar.versicolor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)%*%(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iris.versicolor-xbar.versicolor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W_virginica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&lt;-t(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iris.virginica-xbar.virginica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)%*%(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iris.virginica-xbar.virginica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da-DK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2000" dirty="0" err="1">
                <a:cs typeface="Courier New" panose="02070309020205020404" pitchFamily="49" charset="0"/>
              </a:rPr>
              <a:t>Variance</a:t>
            </a:r>
            <a:r>
              <a:rPr lang="da-DK" sz="2000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W_setosa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/49</a:t>
            </a:r>
          </a:p>
          <a:p>
            <a:pPr marL="0" indent="0">
              <a:buNone/>
            </a:pP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Sepal.Width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Petal.Width</a:t>
            </a:r>
            <a:endParaRPr lang="da-DK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0.12425    0.099216     0.016355    0.010331</a:t>
            </a: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Sepal.Width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0.09922    0.143690     0.011698    0.009298</a:t>
            </a: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0.01636    0.011698     0.030159    0.006069</a:t>
            </a: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Petal.Width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0.01033    0.009298     0.006069    0.011106</a:t>
            </a:r>
          </a:p>
          <a:p>
            <a:pPr marL="0" indent="0">
              <a:buNone/>
            </a:pP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buNone/>
            </a:pP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W_versicolor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/49</a:t>
            </a:r>
          </a:p>
          <a:p>
            <a:pPr marL="0" indent="0">
              <a:buNone/>
            </a:pP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Sepal.Width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Petal.Width</a:t>
            </a:r>
            <a:endParaRPr lang="da-DK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0.26643     0.08518      0.18290     0.05578</a:t>
            </a: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Sepal.Width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0.08518     0.09847      0.08265     0.04120</a:t>
            </a: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0.18290     0.08265      0.22082     0.07310</a:t>
            </a: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Petal.Width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0.05578     0.04120      0.07310     0.03911</a:t>
            </a:r>
          </a:p>
          <a:p>
            <a:pPr marL="0" indent="0">
              <a:buNone/>
            </a:pP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buNone/>
            </a:pP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W_virginica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/49</a:t>
            </a:r>
          </a:p>
          <a:p>
            <a:pPr marL="0" indent="0">
              <a:buNone/>
            </a:pP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Sepal.Width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Petal.Width</a:t>
            </a:r>
            <a:endParaRPr lang="da-DK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0.40434     0.09376      0.30329     0.04909</a:t>
            </a: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Sepal.Width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0.09376     0.10400      0.07138     0.04763</a:t>
            </a: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Petal.Length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0.30329     0.07138      0.30459     0.04882</a:t>
            </a:r>
          </a:p>
          <a:p>
            <a:pPr marL="0" indent="0">
              <a:buNone/>
            </a:pPr>
            <a:r>
              <a:rPr lang="da-DK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Petal.Width</a:t>
            </a:r>
            <a:r>
              <a:rPr lang="da-DK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0.04909     0.04763      0.04882     0.07543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657F4A4-6807-CD4D-12DB-484C957E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63</a:t>
            </a:fld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F60040D2-EC30-E14E-4134-202848D84E13}"/>
              </a:ext>
            </a:extLst>
          </p:cNvPr>
          <p:cNvSpPr txBox="1"/>
          <p:nvPr/>
        </p:nvSpPr>
        <p:spPr>
          <a:xfrm>
            <a:off x="7608168" y="2924944"/>
            <a:ext cx="3528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Again, </a:t>
            </a:r>
            <a:r>
              <a:rPr lang="da-DK" dirty="0" err="1"/>
              <a:t>vastly</a:t>
            </a:r>
            <a:r>
              <a:rPr lang="da-DK" dirty="0"/>
              <a:t>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variances</a:t>
            </a:r>
            <a:r>
              <a:rPr lang="da-DK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QDA.</a:t>
            </a:r>
          </a:p>
        </p:txBody>
      </p:sp>
    </p:spTree>
    <p:extLst>
      <p:ext uri="{BB962C8B-B14F-4D97-AF65-F5344CB8AC3E}">
        <p14:creationId xmlns:p14="http://schemas.microsoft.com/office/powerpoint/2010/main" val="21657261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7503-2EAA-1BC6-D6B9-C89C1AAE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CF677D-2234-BABB-7AD6-7ADC0897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Iris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261844E-CA58-F170-6071-C81EA78C59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336" y="1196752"/>
                <a:ext cx="11809312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sz="2400" i="1" dirty="0">
                    <a:latin typeface="Cambria Math" panose="02040503050406030204" pitchFamily="18" charset="0"/>
                  </a:rPr>
                  <a:t>Quadratic </a:t>
                </a:r>
                <a:r>
                  <a:rPr lang="da-DK" sz="2400" i="1" dirty="0" err="1">
                    <a:latin typeface="Cambria Math" panose="02040503050406030204" pitchFamily="18" charset="0"/>
                  </a:rPr>
                  <a:t>Discrimination</a:t>
                </a:r>
                <a:r>
                  <a:rPr lang="da-DK" sz="2400" i="1" dirty="0">
                    <a:latin typeface="Cambria Math" panose="02040503050406030204" pitchFamily="18" charset="0"/>
                  </a:rPr>
                  <a:t> </a:t>
                </a:r>
                <a:r>
                  <a:rPr lang="da-DK" sz="2400" i="1" dirty="0" err="1">
                    <a:latin typeface="Cambria Math" panose="02040503050406030204" pitchFamily="18" charset="0"/>
                  </a:rPr>
                  <a:t>functions</a:t>
                </a:r>
                <a:r>
                  <a:rPr lang="da-DK" sz="2400" i="1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𝑑𝑒𝑡</m:t>
                              </m:r>
                              <m:d>
                                <m:d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da-DK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a-DK" sz="2400">
                                              <a:latin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+&lt;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e>
                        <m:sub>
                          <m:sSubSup>
                            <m:sSub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bSup>
                            <m:sSub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∈{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𝑠𝑒𝑡𝑜𝑠𝑎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𝑣𝑒𝑟𝑠𝑖𝑐𝑜𝑙𝑜𝑟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𝑣𝑖𝑟𝑔𝑖𝑛𝑖𝑐𝑎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a-DK" sz="1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𝑠𝑒𝑡𝑜𝑠𝑎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da-DK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Sup>
                        <m:sSubSup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𝑠𝑒𝑡𝑜𝑠𝑎</m:t>
                          </m:r>
                        </m:sub>
                        <m:sup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da-DK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𝑣𝑒𝑟𝑠𝑖𝑐𝑜𝑙𝑜𝑟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𝑣𝑖𝑟𝑔𝑖𝑛𝑖𝑐𝑎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𝑣𝑒𝑟𝑠𝑖𝑐𝑜𝑙𝑜𝑟</m:t>
                          </m:r>
                        </m:sub>
                      </m:sSub>
                      <m:r>
                        <a:rPr lang="da-DK" sz="2000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𝑣𝑒𝑟𝑠𝑖𝑐𝑜𝑙𝑜𝑟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da-DK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𝑠𝑒𝑡𝑜𝑠𝑎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𝑣𝑖𝑟𝑔𝑖𝑛𝑖𝑐𝑎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a-DK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𝑣𝑖𝑟𝑔𝑖𝑛𝑖𝑐𝑎</m:t>
                          </m:r>
                        </m:sub>
                      </m:sSub>
                      <m:r>
                        <a:rPr lang="da-DK" sz="2000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𝑣𝑖𝑟𝑔𝑖𝑛𝑖𝑐𝑎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da-DK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𝑠𝑒𝑡𝑜𝑠𝑎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𝑣𝑖𝑟𝑔𝑖𝑛𝑖𝑐𝑎</m:t>
                          </m:r>
                        </m:sub>
                        <m:sup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a-DK" sz="2000" dirty="0"/>
              </a:p>
              <a:p>
                <a:pPr marL="0" indent="0">
                  <a:buNone/>
                </a:pPr>
                <a:endParaRPr lang="da-DK" sz="2000" dirty="0"/>
              </a:p>
              <a:p>
                <a:pPr marL="0" indent="0">
                  <a:buNone/>
                </a:pPr>
                <a:r>
                  <a:rPr lang="da-DK" sz="2000" dirty="0" err="1"/>
                  <a:t>Posterior</a:t>
                </a:r>
                <a:r>
                  <a:rPr lang="da-DK" sz="2000" dirty="0"/>
                  <a:t> </a:t>
                </a:r>
                <a:r>
                  <a:rPr lang="da-DK" sz="2000" dirty="0" err="1"/>
                  <a:t>probabilities</a:t>
                </a:r>
                <a:r>
                  <a:rPr lang="da-DK" sz="2000" dirty="0"/>
                  <a:t>:</a:t>
                </a:r>
              </a:p>
              <a:p>
                <a:pPr marL="0" indent="0">
                  <a:buNone/>
                </a:pPr>
                <a:endParaRPr lang="da-DK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a-DK" sz="20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da-DK" sz="2000" b="0" i="1" smtClean="0">
                                      <a:latin typeface="Cambria Math" panose="02040503050406030204" pitchFamily="18" charset="0"/>
                                    </a:rPr>
                                    <m:t>𝑠𝑒𝑡𝑜𝑠𝑎</m:t>
                                  </m:r>
                                </m:sub>
                                <m:sup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da-DK" sz="2000" b="0" i="1" smtClean="0">
                                      <a:latin typeface="Cambria Math" panose="02040503050406030204" pitchFamily="18" charset="0"/>
                                    </a:rPr>
                                    <m:t>𝑣𝑒𝑟𝑠𝑖𝑐𝑜𝑙𝑜𝑟</m:t>
                                  </m:r>
                                </m:sub>
                                <m:sup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da-DK" sz="2000" b="0" i="1" smtClean="0">
                                      <a:latin typeface="Cambria Math" panose="02040503050406030204" pitchFamily="18" charset="0"/>
                                    </a:rPr>
                                    <m:t>𝑣𝑖𝑟𝑔𝑖𝑛𝑖𝑐𝑎</m:t>
                                  </m:r>
                                </m:sub>
                                <m:sup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da-DK" sz="20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∈{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𝑠𝑒𝑡𝑜𝑠𝑎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𝑣𝑒𝑟𝑠𝑖𝑐𝑜𝑙𝑜𝑟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𝑣𝑖𝑟𝑔𝑖𝑛𝑖𝑐𝑎</m:t>
                      </m:r>
                      <m:r>
                        <a:rPr lang="da-DK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a-DK" sz="2000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261844E-CA58-F170-6071-C81EA78C59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336" y="1196752"/>
                <a:ext cx="11809312" cy="4525963"/>
              </a:xfrm>
              <a:blipFill>
                <a:blip r:embed="rId2"/>
                <a:stretch>
                  <a:fillRect l="-826" t="-1077" b="-2032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541D4EF-F177-DB39-BE11-A170EAAB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703449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3346-53C3-8EB0-D410-2E87462E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448AB-9B38-1B96-8AB9-5EBDDE19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Iris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5DECD55-CCB9-E99E-15D1-8C418D7076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368" y="1196752"/>
                <a:ext cx="11665296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sz="2400" i="1" dirty="0">
                    <a:latin typeface="Cambria Math" panose="02040503050406030204" pitchFamily="18" charset="0"/>
                  </a:rPr>
                  <a:t>Quadratic </a:t>
                </a:r>
                <a:r>
                  <a:rPr lang="da-DK" sz="2400" i="1" dirty="0" err="1">
                    <a:latin typeface="Cambria Math" panose="02040503050406030204" pitchFamily="18" charset="0"/>
                  </a:rPr>
                  <a:t>Discrimination</a:t>
                </a:r>
                <a:r>
                  <a:rPr lang="da-DK" sz="2400" i="1" dirty="0">
                    <a:latin typeface="Cambria Math" panose="02040503050406030204" pitchFamily="18" charset="0"/>
                  </a:rPr>
                  <a:t> </a:t>
                </a:r>
                <a:r>
                  <a:rPr lang="da-DK" sz="2400" i="1" dirty="0" err="1">
                    <a:latin typeface="Cambria Math" panose="02040503050406030204" pitchFamily="18" charset="0"/>
                  </a:rPr>
                  <a:t>functions</a:t>
                </a:r>
                <a:r>
                  <a:rPr lang="da-DK" sz="2400" i="1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𝑠𝑒𝑡𝑜𝑠𝑎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.006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3.428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.462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0.246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a-DK" sz="2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𝑠𝑒𝑡𝑜𝑠𝑎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0.12425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da-DK" sz="2400" b="0" i="0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0.099216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0.0992</m:t>
                                      </m:r>
                                      <m:r>
                                        <a:rPr lang="da-DK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16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0.143690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0.016355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0.010331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0.011698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0.009298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0.0163</m:t>
                                      </m:r>
                                      <m:r>
                                        <a:rPr lang="da-DK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55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0.011698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0.01033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0.009298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0.030159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0.006069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0.006069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0.011106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a-DK" sz="2400" b="0" i="0" smtClean="0">
                                      <a:latin typeface="Cambria Math" panose="02040503050406030204" pitchFamily="18" charset="0"/>
                                    </a:rPr>
                                    <m:t>det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da-DK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da-DK" sz="2400">
                                                  <a:latin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  <m:t>𝑠𝑒𝑡𝑜𝑠𝑎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=−13.07,  </m:t>
                      </m:r>
                      <m:sSubSup>
                        <m:sSub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𝑠𝑒𝑡𝑜𝑠𝑎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18.943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−12.405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−12.405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15.571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−4.500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−4.776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1.111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−2.104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−4.500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1.111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−4.776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−2.104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38.776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−17.935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−17.935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4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106.046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1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5DECD55-CCB9-E99E-15D1-8C418D7076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196752"/>
                <a:ext cx="11665296" cy="4525963"/>
              </a:xfrm>
              <a:blipFill>
                <a:blip r:embed="rId3"/>
                <a:stretch>
                  <a:fillRect l="-836" t="-107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AE45578-2938-997E-63EA-4CFB7CA3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307818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2E94-D942-F0E8-4739-0BD3A705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89491-BF3F-718D-6FDC-3E8CE2630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Iris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C9A089E-2355-2439-D1DA-36765C4266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368" y="1196752"/>
                <a:ext cx="11665296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sz="2400" i="1" dirty="0">
                    <a:latin typeface="Cambria Math" panose="02040503050406030204" pitchFamily="18" charset="0"/>
                  </a:rPr>
                  <a:t>Quadratic </a:t>
                </a:r>
                <a:r>
                  <a:rPr lang="da-DK" sz="2400" i="1" dirty="0" err="1">
                    <a:latin typeface="Cambria Math" panose="02040503050406030204" pitchFamily="18" charset="0"/>
                  </a:rPr>
                  <a:t>Discrimination</a:t>
                </a:r>
                <a:r>
                  <a:rPr lang="da-DK" sz="2400" i="1" dirty="0">
                    <a:latin typeface="Cambria Math" panose="02040503050406030204" pitchFamily="18" charset="0"/>
                  </a:rPr>
                  <a:t> </a:t>
                </a:r>
                <a:r>
                  <a:rPr lang="da-DK" sz="2400" i="1" dirty="0" err="1">
                    <a:latin typeface="Cambria Math" panose="02040503050406030204" pitchFamily="18" charset="0"/>
                  </a:rPr>
                  <a:t>functions</a:t>
                </a:r>
                <a:r>
                  <a:rPr lang="da-DK" sz="2400" i="1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𝑠𝑒𝑡𝑜𝑠𝑎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a-DK" sz="20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</a:rPr>
                                        <m:t>.006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</a:rPr>
                                        <m:t>3.428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a-DK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</a:rPr>
                                        <m:t>.462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</a:rPr>
                                        <m:t>0.246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a-DK" sz="20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𝑠𝑒𝑡𝑜𝑠𝑎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0.12425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da-DK" sz="2000" b="0" i="0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0.099216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0.0992</m:t>
                                      </m:r>
                                      <m:r>
                                        <a:rPr lang="da-DK" sz="20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16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0.143690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0.016355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0.010331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0.011698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0.009298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0.0163</m:t>
                                      </m:r>
                                      <m:r>
                                        <a:rPr lang="da-DK" sz="20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55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0.011698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0.01033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0.009298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0.030159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0.006069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0.006069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0.011106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2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da-DK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a-DK" sz="2000" b="0" i="0" smtClean="0">
                                      <a:latin typeface="Cambria Math" panose="02040503050406030204" pitchFamily="18" charset="0"/>
                                    </a:rPr>
                                    <m:t>det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a-DK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a-DK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da-DK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da-DK" sz="2000">
                                                  <a:latin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a-DK" sz="2000" i="1">
                                              <a:latin typeface="Cambria Math" panose="02040503050406030204" pitchFamily="18" charset="0"/>
                                            </a:rPr>
                                            <m:t>𝑠𝑒𝑡𝑜𝑠𝑎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=−13.07,  </m:t>
                      </m:r>
                      <m:sSubSup>
                        <m:sSubSup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da-DK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a-DK" sz="20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𝑠𝑒𝑡𝑜𝑠𝑎</m:t>
                          </m:r>
                        </m:sub>
                        <m:sup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18.943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−12.405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−12.405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15.571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−4.500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−4.776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1.111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−2.104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−4.500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1.111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−4.776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−2.104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38.776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−17.935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−17.935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a-DK" sz="2000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106.046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400" i="1" dirty="0">
                  <a:latin typeface="Cambria Math" panose="02040503050406030204" pitchFamily="18" charset="0"/>
                </a:endParaRPr>
              </a:p>
              <a:p>
                <a:r>
                  <a:rPr lang="da-DK" sz="2000" b="1" dirty="0">
                    <a:cs typeface="Courier New" panose="02070309020205020404" pitchFamily="49" charset="0"/>
                  </a:rPr>
                  <a:t>For </a:t>
                </a:r>
                <a:r>
                  <a:rPr lang="da-DK" sz="2000" b="1" dirty="0" err="1">
                    <a:cs typeface="Courier New" panose="02070309020205020404" pitchFamily="49" charset="0"/>
                  </a:rPr>
                  <a:t>example</a:t>
                </a:r>
                <a:r>
                  <a:rPr lang="da-DK" sz="2000" b="1" dirty="0">
                    <a:cs typeface="Courier New" panose="02070309020205020404" pitchFamily="49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da-DK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S.setosa.Q</a:t>
                </a: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&lt;-</a:t>
                </a:r>
                <a:r>
                  <a:rPr lang="da-DK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function</a:t>
                </a: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(x){-(log(det(</a:t>
                </a:r>
                <a:r>
                  <a:rPr lang="da-DK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Sigma.setosa</a:t>
                </a: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))/2+</a:t>
                </a:r>
              </a:p>
              <a:p>
                <a:pPr marL="0" indent="0">
                  <a:buNone/>
                </a:pP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           t(x)%*%</a:t>
                </a:r>
                <a:r>
                  <a:rPr lang="da-DK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solve</a:t>
                </a: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da-DK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Sigma.setosa</a:t>
                </a: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)%*% </a:t>
                </a:r>
                <a:r>
                  <a:rPr lang="da-DK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mu.setosa</a:t>
                </a: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-</a:t>
                </a:r>
              </a:p>
              <a:p>
                <a:pPr marL="0" indent="0">
                  <a:buNone/>
                </a:pP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           t(</a:t>
                </a:r>
                <a:r>
                  <a:rPr lang="da-DK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mu.setosa</a:t>
                </a: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)%*%</a:t>
                </a:r>
                <a:r>
                  <a:rPr lang="da-DK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solve</a:t>
                </a: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da-DK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Sigma.setosa</a:t>
                </a: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)%*%</a:t>
                </a:r>
                <a:r>
                  <a:rPr lang="da-DK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mu.setosa</a:t>
                </a:r>
                <a:r>
                  <a:rPr lang="da-DK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/2}</a:t>
                </a:r>
              </a:p>
              <a:p>
                <a:pPr marL="0" indent="0">
                  <a:buNone/>
                </a:pPr>
                <a:endParaRPr lang="da-DK" sz="1800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C9A089E-2355-2439-D1DA-36765C4266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196752"/>
                <a:ext cx="11665296" cy="4525963"/>
              </a:xfrm>
              <a:blipFill>
                <a:blip r:embed="rId3"/>
                <a:stretch>
                  <a:fillRect l="-836" t="-1077" b="-1911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3C95727-2541-9FB2-E443-69BE658F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082552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2FB0-105B-54BA-3B86-5F87CEA0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AB76EC-D806-115C-ABB4-D618C724F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Iris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3FF2CB1-57F4-77CE-103E-103DDF555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196752"/>
            <a:ext cx="11665296" cy="4525963"/>
          </a:xfrm>
        </p:spPr>
        <p:txBody>
          <a:bodyPr/>
          <a:lstStyle/>
          <a:p>
            <a:pPr marL="0" indent="0">
              <a:buNone/>
            </a:pPr>
            <a:r>
              <a:rPr lang="da-DK" sz="2400" i="1" dirty="0">
                <a:latin typeface="Cambria Math" panose="02040503050406030204" pitchFamily="18" charset="0"/>
              </a:rPr>
              <a:t>Quadratic </a:t>
            </a:r>
            <a:r>
              <a:rPr lang="da-DK" sz="2400" i="1" dirty="0" err="1">
                <a:latin typeface="Cambria Math" panose="02040503050406030204" pitchFamily="18" charset="0"/>
              </a:rPr>
              <a:t>Discrimination</a:t>
            </a:r>
            <a:r>
              <a:rPr lang="da-DK" sz="2400" i="1" dirty="0">
                <a:latin typeface="Cambria Math" panose="02040503050406030204" pitchFamily="18" charset="0"/>
              </a:rPr>
              <a:t> </a:t>
            </a:r>
            <a:r>
              <a:rPr lang="da-DK" sz="2400" i="1" dirty="0" err="1">
                <a:latin typeface="Cambria Math" panose="02040503050406030204" pitchFamily="18" charset="0"/>
              </a:rPr>
              <a:t>analysis</a:t>
            </a:r>
            <a:r>
              <a:rPr lang="da-DK" sz="2400" i="1" dirty="0">
                <a:latin typeface="Cambria Math" panose="02040503050406030204" pitchFamily="18" charset="0"/>
              </a:rPr>
              <a:t>:</a:t>
            </a:r>
          </a:p>
          <a:p>
            <a:pPr marL="0" indent="0">
              <a:buNone/>
            </a:pPr>
            <a:endParaRPr lang="da-DK" sz="180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da-DK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my.qda</a:t>
            </a:r>
            <a:r>
              <a:rPr lang="da-DK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&lt;-</a:t>
            </a:r>
            <a:r>
              <a:rPr lang="da-DK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qda</a:t>
            </a:r>
            <a:r>
              <a:rPr lang="da-DK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(Species ~ </a:t>
            </a:r>
            <a:r>
              <a:rPr lang="da-DK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Sepal.Length+Sepal.Width</a:t>
            </a:r>
            <a:r>
              <a:rPr lang="da-DK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da-DK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Petal.Length</a:t>
            </a:r>
            <a:r>
              <a:rPr lang="da-DK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>
              <a:buNone/>
            </a:pPr>
            <a:r>
              <a:rPr lang="da-DK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da-DK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Petal.Width</a:t>
            </a:r>
            <a:r>
              <a:rPr lang="da-DK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, prior=c(1,1,1)/3, data=iris)</a:t>
            </a:r>
          </a:p>
          <a:p>
            <a:pPr marL="0" indent="0">
              <a:buNone/>
            </a:pPr>
            <a:endParaRPr lang="da-DK" sz="16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1600" b="1" i="1" dirty="0" err="1">
                <a:cs typeface="Courier New" panose="02070309020205020404" pitchFamily="49" charset="0"/>
              </a:rPr>
              <a:t>Posteriors</a:t>
            </a:r>
            <a:r>
              <a:rPr lang="da-DK" sz="1600" b="1" i="1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&gt; head(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my.qda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)[[2]])</a:t>
            </a: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setosa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versicolor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virginica</a:t>
            </a:r>
            <a:endParaRPr lang="da-DK" sz="14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1      1 4.918517e-26 2.981541e-41</a:t>
            </a: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2      1 7.655808e-19 1.311032e-34</a:t>
            </a: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3      1 1.552279e-21 3.380440e-36</a:t>
            </a: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4      1 8.300396e-19 8.541858e-32</a:t>
            </a: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5      1 3.365614e-27 2.010147e-41</a:t>
            </a: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6      1 1.472533e-26 1.271928e-40</a:t>
            </a:r>
          </a:p>
          <a:p>
            <a:pPr marL="0" indent="0">
              <a:buNone/>
            </a:pPr>
            <a:endParaRPr lang="da-DK" sz="14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1600" b="1" i="1" dirty="0" err="1">
                <a:cs typeface="Courier New" panose="02070309020205020404" pitchFamily="49" charset="0"/>
              </a:rPr>
              <a:t>Classification</a:t>
            </a:r>
            <a:r>
              <a:rPr lang="da-DK" sz="1600" b="1" i="1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&gt; head(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my.qda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)[[1]])</a:t>
            </a: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[1]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setosa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setosa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setosa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setosa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setosa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setosa</a:t>
            </a:r>
            <a:endParaRPr lang="da-DK" sz="14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Levels: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setosa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versicolor</a:t>
            </a:r>
            <a:r>
              <a:rPr lang="da-DK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virginica</a:t>
            </a:r>
            <a:endParaRPr lang="da-DK" sz="14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9E353A7-3F2D-5973-8EBC-F233A29B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0455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723FC-CDB0-2EFF-42FF-6A81283E7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CA3C60-A715-D256-0CBF-41211953A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1375271"/>
            <a:ext cx="10056440" cy="49810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0C0F1BC-9F9F-5B3B-19C6-ADE8F42F6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Iris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69899AC-C926-9A43-BEE5-FB3EE3E45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196752"/>
            <a:ext cx="11665296" cy="4525963"/>
          </a:xfrm>
        </p:spPr>
        <p:txBody>
          <a:bodyPr/>
          <a:lstStyle/>
          <a:p>
            <a:pPr marL="0" indent="0">
              <a:buNone/>
            </a:pPr>
            <a:r>
              <a:rPr lang="da-DK" sz="2400" i="1" dirty="0">
                <a:latin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DA25FE1-E5E2-01F8-06F3-7942B8ED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7892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37D29-CB9B-42EB-D59E-D98050D6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DF280-ADFE-2994-486A-EDA32088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>
                <a:solidFill>
                  <a:srgbClr val="C00000"/>
                </a:solidFill>
              </a:rPr>
              <a:t>Example</a:t>
            </a:r>
            <a:r>
              <a:rPr lang="da-DK" b="1" dirty="0">
                <a:solidFill>
                  <a:srgbClr val="C00000"/>
                </a:solidFill>
              </a:rPr>
              <a:t> – Iris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288F221-7540-3A89-AC03-137252D44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96752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Confusion matrix:</a:t>
            </a: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Classification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Nature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setosa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versicolor virginica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setosa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50          0         0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versicolor      0         48         2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virginica       0          1        49</a:t>
            </a: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cs typeface="Courier New" panose="02070309020205020404" pitchFamily="49" charset="0"/>
              </a:rPr>
              <a:t>Error rate: 3/150=0.02</a:t>
            </a:r>
          </a:p>
          <a:p>
            <a:pPr marL="0" indent="0">
              <a:buNone/>
            </a:pPr>
            <a:endParaRPr lang="en-US" sz="2400" dirty="0">
              <a:cs typeface="Courier New" panose="02070309020205020404" pitchFamily="49" charset="0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9FC5518-14FF-535B-D1E3-D47B5903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69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739279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1D64-7294-4D4F-95C9-4067E69C3BFE}" type="slidenum">
              <a:rPr lang="da-DK" smtClean="0"/>
              <a:pPr>
                <a:defRPr/>
              </a:pPr>
              <a:t>70</a:t>
            </a:fld>
            <a:endParaRPr lang="da-DK"/>
          </a:p>
        </p:txBody>
      </p:sp>
      <p:pic>
        <p:nvPicPr>
          <p:cNvPr id="289794" name="Picture 2" descr="https://cdn-images-1.medium.com/max/638/1*4sixxtuD8unWceZ-yp9TgQ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1" y="620689"/>
            <a:ext cx="7160251" cy="537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67608" y="6165304"/>
            <a:ext cx="676875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600" dirty="0">
                <a:hlinkClick r:id="rId4"/>
              </a:rPr>
              <a:t>https://cdn-images-1.medium.com/max/638/1*4sixxtuD8unWceZ-yp9TgQ.jpeg</a:t>
            </a:r>
            <a:endParaRPr lang="da-DK" sz="600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728785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5A776-CCBA-164A-8BD1-4314B468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b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437A8BF-CAAD-A3C9-90AF-F1E17466CA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da-DK" sz="2400" b="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 algn="ctr">
                  <a:buNone/>
                </a:pPr>
                <a:r>
                  <a:rPr lang="da-DK" sz="2400" b="1" dirty="0"/>
                  <a:t>X is the </a:t>
                </a:r>
                <a:r>
                  <a:rPr lang="da-DK" sz="2400" b="1" dirty="0">
                    <a:solidFill>
                      <a:srgbClr val="FF0000"/>
                    </a:solidFill>
                  </a:rPr>
                  <a:t>design matrix</a:t>
                </a:r>
                <a:r>
                  <a:rPr lang="da-DK" sz="2400" b="1" dirty="0"/>
                  <a:t>; </a:t>
                </a:r>
                <a:r>
                  <a:rPr lang="da-DK" sz="2400" b="1" dirty="0" err="1"/>
                  <a:t>assumed</a:t>
                </a:r>
                <a:r>
                  <a:rPr lang="da-DK" sz="2400" b="1" dirty="0"/>
                  <a:t> </a:t>
                </a:r>
                <a:r>
                  <a:rPr lang="da-DK" sz="2400" b="1" dirty="0" err="1"/>
                  <a:t>known</a:t>
                </a:r>
                <a:r>
                  <a:rPr lang="da-DK" sz="2400" b="1" dirty="0"/>
                  <a:t>, and with </a:t>
                </a:r>
                <a:r>
                  <a:rPr lang="da-DK" sz="2400" b="1" dirty="0" err="1"/>
                  <a:t>full</a:t>
                </a:r>
                <a:r>
                  <a:rPr lang="da-DK" sz="2400" b="1" dirty="0"/>
                  <a:t> rank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da-DK" sz="2400" b="1" i="0" smtClean="0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da-DK" sz="2400" b="1" dirty="0"/>
                  <a:t> is </a:t>
                </a:r>
                <a:r>
                  <a:rPr lang="da-DK" sz="2400" b="1" dirty="0" err="1"/>
                  <a:t>assumed</a:t>
                </a:r>
                <a:r>
                  <a:rPr lang="da-DK" sz="2400" b="1" dirty="0"/>
                  <a:t> </a:t>
                </a:r>
                <a:r>
                  <a:rPr lang="da-DK" sz="2400" b="1" dirty="0" err="1"/>
                  <a:t>known</a:t>
                </a:r>
                <a:endParaRPr lang="da-DK" sz="2400" b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da-DK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da-DK" sz="2400" b="1" dirty="0">
                    <a:solidFill>
                      <a:srgbClr val="FF0000"/>
                    </a:solidFill>
                  </a:rPr>
                  <a:t> is </a:t>
                </a:r>
                <a:r>
                  <a:rPr lang="da-DK" sz="2400" b="1" dirty="0" err="1">
                    <a:solidFill>
                      <a:srgbClr val="FF0000"/>
                    </a:solidFill>
                  </a:rPr>
                  <a:t>assumed</a:t>
                </a:r>
                <a:r>
                  <a:rPr lang="da-DK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da-DK" sz="2400" b="1" dirty="0" err="1">
                    <a:solidFill>
                      <a:srgbClr val="FF0000"/>
                    </a:solidFill>
                  </a:rPr>
                  <a:t>unknown</a:t>
                </a:r>
                <a:endParaRPr lang="da-DK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da-DK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437A8BF-CAAD-A3C9-90AF-F1E17466CA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633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B6BCAE-BBB3-2D50-3A33-3EC01276A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1D64-7294-4D4F-95C9-4067E69C3BFE}" type="slidenum">
              <a:rPr lang="da-DK" smtClean="0"/>
              <a:pPr>
                <a:defRPr/>
              </a:pPr>
              <a:t>71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797508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4401C-DF2F-C173-43A5-8B76114A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6D4C06-AE68-AF74-E3EF-2B7A2A2F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b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0B92B9C-E8E2-6A06-84AD-DFC7BFC307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2400" dirty="0"/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a-DK" sz="2400" dirty="0"/>
                  <a:t> :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=1,…, 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𝑖𝑖𝑑𝑠𝑣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r>
                  <a:rPr lang="da-DK" sz="2400" dirty="0"/>
                  <a:t>Standard </a:t>
                </a:r>
                <a:r>
                  <a:rPr lang="da-DK" sz="2400" dirty="0" err="1"/>
                  <a:t>univariate</a:t>
                </a:r>
                <a:r>
                  <a:rPr lang="da-DK" sz="2400" dirty="0"/>
                  <a:t> </a:t>
                </a:r>
                <a:r>
                  <a:rPr lang="da-DK" sz="2400" dirty="0" err="1"/>
                  <a:t>linear</a:t>
                </a:r>
                <a:r>
                  <a:rPr lang="da-DK" sz="2400" dirty="0"/>
                  <a:t> regression.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0B92B9C-E8E2-6A06-84AD-DFC7BFC307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107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53E32E-6A8A-9D0C-24C8-373EB3B1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1D64-7294-4D4F-95C9-4067E69C3BFE}" type="slidenum">
              <a:rPr lang="da-DK" smtClean="0"/>
              <a:pPr>
                <a:defRPr/>
              </a:pPr>
              <a:t>72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21361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A662B-DBBC-F756-4804-F72F5474D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471F1F-239C-3277-DFDE-6F1EC7F0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b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1B8F415-BC22-FEE8-33CE-DEE16047B9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2400" dirty="0"/>
                  <a:t>Take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a-DK" sz="24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a-DK" sz="2400" dirty="0"/>
                  <a:t>and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da-DK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</m:oMath>
                </a14:m>
                <a:r>
                  <a:rPr lang="da-DK" sz="2400" dirty="0"/>
                  <a:t> </a:t>
                </a:r>
                <a:r>
                  <a:rPr lang="da-DK" sz="2400" dirty="0" err="1"/>
                  <a:t>be</a:t>
                </a:r>
                <a:r>
                  <a:rPr lang="da-DK" sz="2400" dirty="0"/>
                  <a:t> the </a:t>
                </a:r>
                <a:r>
                  <a:rPr lang="da-DK" sz="2400" dirty="0" err="1"/>
                  <a:t>orthogonal</a:t>
                </a:r>
                <a:r>
                  <a:rPr lang="da-DK" sz="2400" dirty="0"/>
                  <a:t> </a:t>
                </a:r>
                <a:r>
                  <a:rPr lang="da-DK" sz="2400" dirty="0" err="1"/>
                  <a:t>complement</a:t>
                </a:r>
                <a:r>
                  <a:rPr lang="da-DK" sz="2400" dirty="0"/>
                  <a:t> with </a:t>
                </a:r>
                <a:r>
                  <a:rPr lang="da-DK" sz="2400" dirty="0" err="1"/>
                  <a:t>respect</a:t>
                </a:r>
                <a:r>
                  <a:rPr lang="da-DK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da-DK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</m:e>
                      <m:sub>
                        <m:sSup>
                          <m:sSupPr>
                            <m:ctrlP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a-DK" sz="24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da-DK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b>
                    </m:sSub>
                  </m:oMath>
                </a14:m>
                <a:r>
                  <a:rPr lang="da-DK" sz="2400" dirty="0"/>
                  <a:t>. 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 err="1"/>
                  <a:t>Since</a:t>
                </a:r>
                <a:r>
                  <a:rPr lang="da-DK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da-DK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p>
                      <m:sSupPr>
                        <m:ctrlPr>
                          <a:rPr lang="da-DK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  <m:r>
                      <a:rPr lang="da-DK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da-DK" sz="2400" dirty="0"/>
                  <a:t> and </a:t>
                </a:r>
                <a:r>
                  <a:rPr lang="da-DK" sz="2400" dirty="0" err="1"/>
                  <a:t>vector</a:t>
                </a:r>
                <a:r>
                  <a:rPr lang="da-DK" sz="2400" dirty="0"/>
                  <a:t>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da-DK" sz="2400" dirty="0"/>
                  <a:t> </a:t>
                </a:r>
                <a:r>
                  <a:rPr lang="da-DK" sz="2400" dirty="0" err="1"/>
                  <a:t>may</a:t>
                </a:r>
                <a:r>
                  <a:rPr lang="da-DK" sz="2400" dirty="0"/>
                  <a:t> </a:t>
                </a:r>
                <a:r>
                  <a:rPr lang="da-DK" sz="2400" dirty="0" err="1"/>
                  <a:t>be</a:t>
                </a:r>
                <a:r>
                  <a:rPr lang="da-DK" sz="2400" dirty="0"/>
                  <a:t> </a:t>
                </a:r>
                <a:r>
                  <a:rPr lang="da-DK" sz="2400" dirty="0" err="1"/>
                  <a:t>written</a:t>
                </a:r>
                <a:r>
                  <a:rPr lang="da-DK" sz="2400" dirty="0"/>
                  <a:t> </a:t>
                </a:r>
                <a:r>
                  <a:rPr lang="da-DK" sz="2400" dirty="0" err="1"/>
                  <a:t>uniquely</a:t>
                </a:r>
                <a:r>
                  <a:rPr lang="da-DK" sz="2400" dirty="0"/>
                  <a:t> as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sz="24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a-DK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da-DK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</m:oMath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/>
                  <a:t>Note </a:t>
                </a:r>
                <a:r>
                  <a:rPr lang="da-DK" sz="2400" dirty="0" err="1"/>
                  <a:t>that</a:t>
                </a:r>
                <a:r>
                  <a:rPr lang="da-DK" sz="24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1B8F415-BC22-FEE8-33CE-DEE16047B9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33" t="-107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5F824A-4751-9E4A-C4D0-804B2080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1D64-7294-4D4F-95C9-4067E69C3BFE}" type="slidenum">
              <a:rPr lang="da-DK" smtClean="0"/>
              <a:pPr>
                <a:defRPr/>
              </a:pPr>
              <a:t>73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102949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8412F-7665-A353-572F-4A77D1846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6640A7-1484-C611-4CCB-2A59D75E2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b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B701A52-8907-5475-DC2B-E3CBC31B4B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2400" dirty="0"/>
                  <a:t>Estimation: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bSup>
                            <m:sSub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  <m:sub>
                              <m:sSup>
                                <m:sSup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 err="1"/>
                  <a:t>ie</a:t>
                </a:r>
                <a:r>
                  <a:rPr lang="da-DK" sz="24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sz="24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=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sz="24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p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⊥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B701A52-8907-5475-DC2B-E3CBC31B4B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3" t="-107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D6D940-5FB0-C466-AECE-5EB634C3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1D64-7294-4D4F-95C9-4067E69C3BFE}" type="slidenum">
              <a:rPr lang="da-DK" smtClean="0"/>
              <a:pPr>
                <a:defRPr/>
              </a:pPr>
              <a:t>74</a:t>
            </a:fld>
            <a:endParaRPr lang="da-DK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2ED5E3-0FD7-4628-DCB3-D8188D8D8203}"/>
              </a:ext>
            </a:extLst>
          </p:cNvPr>
          <p:cNvCxnSpPr>
            <a:cxnSpLocks/>
          </p:cNvCxnSpPr>
          <p:nvPr/>
        </p:nvCxnSpPr>
        <p:spPr>
          <a:xfrm flipH="1" flipV="1">
            <a:off x="2999656" y="5593186"/>
            <a:ext cx="1152128" cy="71554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BDB81-94D2-FCE1-849A-81EB3AB07816}"/>
                  </a:ext>
                </a:extLst>
              </p:cNvPr>
              <p:cNvSpPr txBox="1"/>
              <p:nvPr/>
            </p:nvSpPr>
            <p:spPr>
              <a:xfrm>
                <a:off x="3978660" y="6073941"/>
                <a:ext cx="2592288" cy="652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:&lt;</m:t>
                      </m:r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a-DK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p>
                            <m:sSupPr>
                              <m:ctrlPr>
                                <a:rPr lang="da-DK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p>
                              <m:r>
                                <a:rPr lang="da-DK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p>
                          </m:sSup>
                        </m:sub>
                      </m:sSub>
                      <m:r>
                        <a:rPr lang="da-DK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sSub>
                        <m:sSubPr>
                          <m:ctrlPr>
                            <a:rPr lang="da-DK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e>
                        <m:sub>
                          <m:sSup>
                            <m:sSupPr>
                              <m:ctrlPr>
                                <a:rPr lang="da-DK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da-DK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a-DK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sub>
                      </m:sSub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da-DK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BDB81-94D2-FCE1-849A-81EB3AB07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660" y="6073941"/>
                <a:ext cx="2592288" cy="652166"/>
              </a:xfrm>
              <a:prstGeom prst="rect">
                <a:avLst/>
              </a:prstGeom>
              <a:blipFill>
                <a:blip r:embed="rId3"/>
                <a:stretch>
                  <a:fillRect b="-9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62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5BB8-D5AC-191C-A321-04A08725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00D417-44C5-C80A-AA77-C83FCA53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b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F155EF-7047-7FCA-4585-5D75CDE23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sz="24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p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⊥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 err="1"/>
                  <a:t>Largest</a:t>
                </a:r>
                <a:r>
                  <a:rPr lang="da-DK" sz="2400" dirty="0"/>
                  <a:t> in </a:t>
                </a:r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da-DK" sz="2400" dirty="0"/>
                  <a:t> if </a:t>
                </a:r>
                <a14:m>
                  <m:oMath xmlns:m="http://schemas.openxmlformats.org/officeDocument/2006/math">
                    <m:r>
                      <a:rPr lang="da-DK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da-DK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da-DK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da-DK" sz="2400" b="0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da-DK" sz="2400" b="0" i="0" smtClean="0">
                        <a:latin typeface="Cambria Math" panose="02040503050406030204" pitchFamily="18" charset="0"/>
                      </a:rPr>
                      <m:t>ie</m:t>
                    </m:r>
                    <m:r>
                      <a:rPr lang="da-DK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da-DK" sz="2400" dirty="0"/>
                  <a:t> if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 err="1"/>
                  <a:t>ie</a:t>
                </a:r>
                <a:r>
                  <a:rPr lang="da-DK" sz="2400" dirty="0"/>
                  <a:t>. (</a:t>
                </a:r>
                <a:r>
                  <a:rPr lang="da-DK" sz="2400" dirty="0" err="1"/>
                  <a:t>full</a:t>
                </a:r>
                <a:r>
                  <a:rPr lang="da-DK" sz="2400" dirty="0"/>
                  <a:t> rank of  </a:t>
                </a:r>
                <a14:m>
                  <m:oMath xmlns:m="http://schemas.openxmlformats.org/officeDocument/2006/math">
                    <m:r>
                      <a:rPr lang="da-DK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a-DK" sz="2400" dirty="0"/>
                  <a:t>)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da-DK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=:</m:t>
                      </m:r>
                      <m:acc>
                        <m:accPr>
                          <m:chr m:val="̂"/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F155EF-7047-7FCA-4585-5D75CDE23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6FBBF5-ADD2-3DC3-A320-B574098B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1D64-7294-4D4F-95C9-4067E69C3BFE}" type="slidenum">
              <a:rPr lang="da-DK" smtClean="0"/>
              <a:pPr>
                <a:defRPr/>
              </a:pPr>
              <a:t>75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395451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39999-C2EC-DED2-D525-BEE096F2E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2BBF3A-2CF3-9C49-A19C-5B8426EB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b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4ED10D9-8C39-CC99-362B-95ECFE0373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sz="2400" dirty="0"/>
                  <a:t>Mean and </a:t>
                </a:r>
                <a:r>
                  <a:rPr lang="da-DK" sz="2400" dirty="0" err="1"/>
                  <a:t>variance</a:t>
                </a:r>
                <a:r>
                  <a:rPr lang="da-DK" sz="2400" dirty="0"/>
                  <a:t>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a-DK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da-DK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a-DK" sz="2400"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a-DK" sz="2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=</m:t>
                      </m:r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a-DK" sz="2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a-DK" sz="2400"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=</m:t>
                      </m:r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a-DK" sz="2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a-DK" sz="2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4ED10D9-8C39-CC99-362B-95ECFE0373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3" t="-67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187D2D-988E-5E08-CCC6-34B8BEE8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1D64-7294-4D4F-95C9-4067E69C3BFE}" type="slidenum">
              <a:rPr lang="da-DK" smtClean="0"/>
              <a:pPr>
                <a:defRPr/>
              </a:pPr>
              <a:t>76</a:t>
            </a:fld>
            <a:endParaRPr lang="da-DK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6C6817-3BE9-2D4C-E9DA-FDA95F2C4632}"/>
              </a:ext>
            </a:extLst>
          </p:cNvPr>
          <p:cNvCxnSpPr>
            <a:cxnSpLocks/>
          </p:cNvCxnSpPr>
          <p:nvPr/>
        </p:nvCxnSpPr>
        <p:spPr>
          <a:xfrm flipV="1">
            <a:off x="2927648" y="5159326"/>
            <a:ext cx="1872208" cy="54504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12DEC8-6331-919A-7E0A-47C051F6E3C8}"/>
                  </a:ext>
                </a:extLst>
              </p:cNvPr>
              <p:cNvSpPr txBox="1"/>
              <p:nvPr/>
            </p:nvSpPr>
            <p:spPr>
              <a:xfrm>
                <a:off x="623392" y="5517232"/>
                <a:ext cx="2592288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da-DK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𝑨𝒀</m:t>
                          </m:r>
                        </m:e>
                      </m:d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𝑨𝑽</m:t>
                      </m:r>
                      <m:d>
                        <m:dPr>
                          <m:ctrlPr>
                            <a:rPr lang="da-DK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sSup>
                        <m:sSupPr>
                          <m:ctrlPr>
                            <a:rPr lang="da-DK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da-DK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da-DK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12DEC8-6331-919A-7E0A-47C051F6E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5517232"/>
                <a:ext cx="2592288" cy="374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36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425CC-86F9-CF6B-EBE6-BE7C2A44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17E48A-DF21-62A4-2753-D14D3B6B4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b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ED8B0D-3671-9D50-CCEA-81DC52E081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sz="2400" dirty="0"/>
                  <a:t>Estimator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da-DK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sz="2400" dirty="0"/>
                  <a:t>:</a:t>
                </a:r>
              </a:p>
              <a:p>
                <a:pPr marL="0" indent="0">
                  <a:buNone/>
                </a:pPr>
                <a:endParaRPr lang="da-DK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sz="24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 err="1"/>
                  <a:t>Largest</a:t>
                </a:r>
                <a:r>
                  <a:rPr lang="da-DK" sz="2400" dirty="0"/>
                  <a:t> </a:t>
                </a:r>
                <a:r>
                  <a:rPr lang="da-DK" sz="2400" dirty="0" err="1"/>
                  <a:t>if</a:t>
                </a:r>
                <a:r>
                  <a:rPr lang="da-DK" sz="24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r>
                  <a:rPr lang="da-DK" sz="2400" dirty="0" err="1"/>
                  <a:t>ie</a:t>
                </a:r>
                <a:r>
                  <a:rPr lang="da-DK" sz="24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ED8B0D-3671-9D50-CCEA-81DC52E081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3" t="-107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B93628-86B6-F8B2-B5E8-27AA10A9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1D64-7294-4D4F-95C9-4067E69C3BFE}" type="slidenum">
              <a:rPr lang="da-DK" smtClean="0"/>
              <a:pPr>
                <a:defRPr/>
              </a:pPr>
              <a:t>77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577918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85778-B9C9-6236-AB4B-DE177968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FD8F98-FEC3-21E7-5E96-725A1A951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b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AE6D7FD-8523-A2EB-A6F5-D323A31BA9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291" y="980728"/>
                <a:ext cx="10972800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a-DK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da-DK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sz="2400" dirty="0"/>
                  <a:t> is </a:t>
                </a:r>
                <a:r>
                  <a:rPr lang="da-DK" sz="2400" dirty="0" err="1"/>
                  <a:t>biased</a:t>
                </a:r>
                <a:r>
                  <a:rPr lang="da-DK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a-DK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da-DK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da-DK" sz="2400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e>
                                            <m:sup>
                                              <m:r>
                                                <a:rPr lang="da-DK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⊥</m:t>
                                              </m:r>
                                            </m:sup>
                                          </m:sSup>
                                        </m:sub>
                                      </m:sSub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a-DK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p>
                                  </m:sSup>
                                </m:sub>
                              </m:s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p>
                                  </m:sSup>
                                </m:sub>
                              </m:s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da-D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da-D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a-DK" sz="2400" i="1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p>
                              </m:sSup>
                            </m:sub>
                          </m:s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p>
                              </m:sSup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i="1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p>
                              </m:sSup>
                            </m:sub>
                          </m:s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p>
                              </m:sSup>
                            </m:sub>
                          </m:sSub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i="1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p>
                              </m:sSup>
                            </m:sub>
                          </m:s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da-DK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da-DK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i="1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p>
                              </m:sSup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a-DK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i="1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da-DK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  <a:p>
                <a:r>
                  <a:rPr lang="da-DK" sz="2400" dirty="0" err="1"/>
                  <a:t>Unbiased</a:t>
                </a:r>
                <a:r>
                  <a:rPr lang="da-DK" sz="2400" dirty="0"/>
                  <a:t> </a:t>
                </a:r>
                <a:r>
                  <a:rPr lang="da-DK" sz="2400" dirty="0" err="1"/>
                  <a:t>estimator</a:t>
                </a:r>
                <a:r>
                  <a:rPr lang="da-DK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sSubSup>
                        <m:sSubSup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da-D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⊥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a-DK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a-DK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acc>
                                <m:accPr>
                                  <m:chr m:val="̂"/>
                                  <m:ctrlP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a-DK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acc>
                            <m:accPr>
                              <m:chr m:val="̂"/>
                              <m:ctrlPr>
                                <a:rPr lang="da-DK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da-DK" sz="2400" dirty="0"/>
              </a:p>
              <a:p>
                <a:pPr marL="0" indent="0">
                  <a:buNone/>
                </a:pPr>
                <a:endParaRPr lang="da-DK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AE6D7FD-8523-A2EB-A6F5-D323A31BA9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291" y="980728"/>
                <a:ext cx="10972800" cy="4525963"/>
              </a:xfrm>
              <a:blipFill>
                <a:blip r:embed="rId2"/>
                <a:stretch>
                  <a:fillRect l="-722" t="-1078" b="-2870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7C85B3-BA9A-B0BB-138F-C5AB95677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1D64-7294-4D4F-95C9-4067E69C3BFE}" type="slidenum">
              <a:rPr lang="da-DK" smtClean="0"/>
              <a:pPr>
                <a:defRPr/>
              </a:pPr>
              <a:t>78</a:t>
            </a:fld>
            <a:endParaRPr lang="da-DK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95B5A3-BC79-D0A6-2966-3A4FA60AF5E6}"/>
              </a:ext>
            </a:extLst>
          </p:cNvPr>
          <p:cNvCxnSpPr>
            <a:cxnSpLocks/>
          </p:cNvCxnSpPr>
          <p:nvPr/>
        </p:nvCxnSpPr>
        <p:spPr>
          <a:xfrm flipV="1">
            <a:off x="1559496" y="3284984"/>
            <a:ext cx="1872208" cy="54504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1ADA5C-F095-B2F9-4469-C3362A93434B}"/>
                  </a:ext>
                </a:extLst>
              </p:cNvPr>
              <p:cNvSpPr txBox="1"/>
              <p:nvPr/>
            </p:nvSpPr>
            <p:spPr>
              <a:xfrm>
                <a:off x="-6424" y="3880585"/>
                <a:ext cx="25922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𝒕𝒓</m:t>
                    </m:r>
                    <m:d>
                      <m:dPr>
                        <m:ctrlPr>
                          <a:rPr lang="da-DK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d>
                    <m:r>
                      <a:rPr lang="da-DK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𝒕𝒓</m:t>
                    </m:r>
                    <m:d>
                      <m:dPr>
                        <m:ctrlPr>
                          <a:rPr lang="da-DK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𝑩𝑨</m:t>
                        </m:r>
                      </m:e>
                    </m:d>
                  </m:oMath>
                </a14:m>
                <a:r>
                  <a:rPr lang="da-DK" b="1" dirty="0">
                    <a:solidFill>
                      <a:srgbClr val="FF0000"/>
                    </a:solidFill>
                  </a:rPr>
                  <a:t> and </a:t>
                </a:r>
                <a:r>
                  <a:rPr lang="da-DK" b="1" dirty="0" err="1">
                    <a:solidFill>
                      <a:srgbClr val="FF0000"/>
                    </a:solidFill>
                  </a:rPr>
                  <a:t>linearity</a:t>
                </a:r>
                <a:r>
                  <a:rPr lang="da-DK" b="1" dirty="0">
                    <a:solidFill>
                      <a:srgbClr val="FF00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da-DK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𝒕𝒓</m:t>
                    </m:r>
                  </m:oMath>
                </a14:m>
                <a:endParaRPr lang="da-DK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1ADA5C-F095-B2F9-4469-C3362A934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424" y="3880585"/>
                <a:ext cx="2592288" cy="646331"/>
              </a:xfrm>
              <a:prstGeom prst="rect">
                <a:avLst/>
              </a:prstGeom>
              <a:blipFill>
                <a:blip r:embed="rId3"/>
                <a:stretch>
                  <a:fillRect l="-2118" t="-5660" b="-1415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2947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605A-4898-61CA-EBA1-13A88200F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A26F1-57B6-B1C6-1D75-CCC7C7EB2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C7DF6-7557-7002-78ED-92236433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79</a:t>
            </a:fld>
            <a:endParaRPr lang="da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8F4A5E-984E-4FB9-EDE4-45362DB6E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040" y="1407945"/>
            <a:ext cx="6671919" cy="491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6227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32A67-DE80-8388-CDCC-D47B0DB6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6C6E4-04C9-7DC0-748F-D383225E4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CCE69-5528-1D32-042B-BEDA9BAF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80</a:t>
            </a:fld>
            <a:endParaRPr lang="da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7E14F7-C312-4E02-1513-A71AFF2B7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809" y="1309988"/>
            <a:ext cx="7086382" cy="504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671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BE8B7-588D-E11A-8CEA-D8543FA1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88D7-BBBF-D95E-E5DE-D2DDAA6E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General </a:t>
            </a:r>
            <a:r>
              <a:rPr lang="da-DK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Linear</a:t>
            </a:r>
            <a:r>
              <a:rPr lang="da-DK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Model  - GLM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BA4AD-2724-EBAC-6539-695D16947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A9827-6DB2-6999-F147-411443C5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81</a:t>
            </a:fld>
            <a:endParaRPr lang="da-D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255BA-A53E-354C-F4D8-F7A4212AC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805" y="1290788"/>
            <a:ext cx="7158390" cy="530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290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E29E-2060-A64E-C91C-6E93F0FF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GLM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85989-BBC7-7E4C-6330-2BA84E65C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The </a:t>
            </a:r>
            <a:r>
              <a:rPr lang="da-DK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lm()</a:t>
            </a:r>
            <a:r>
              <a:rPr lang="da-DK" sz="1800" dirty="0"/>
              <a:t> </a:t>
            </a:r>
            <a:r>
              <a:rPr lang="da-DK" sz="1800" dirty="0" err="1"/>
              <a:t>function</a:t>
            </a:r>
            <a:r>
              <a:rPr lang="da-DK" sz="1800" dirty="0"/>
              <a:t>.</a:t>
            </a:r>
          </a:p>
          <a:p>
            <a:pPr marL="0" indent="0">
              <a:buNone/>
            </a:pPr>
            <a:endParaRPr lang="da-DK" sz="1800" dirty="0"/>
          </a:p>
          <a:p>
            <a:pPr marL="0" indent="0">
              <a:buNone/>
            </a:pPr>
            <a:r>
              <a:rPr lang="da-DK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synprod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&lt;-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a-DK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data.frame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da-DK" sz="180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da-DK" sz="1800" dirty="0" err="1">
                <a:solidFill>
                  <a:srgbClr val="808080"/>
                </a:solidFill>
                <a:latin typeface="Courier New" panose="02070309020205020404" pitchFamily="49" charset="0"/>
              </a:rPr>
              <a:t>Acontent</a:t>
            </a:r>
            <a:r>
              <a:rPr lang="da-DK" sz="180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da-DK" sz="1800" dirty="0">
                <a:solidFill>
                  <a:srgbClr val="8000FF"/>
                </a:solidFill>
                <a:latin typeface="Courier New" panose="02070309020205020404" pitchFamily="49" charset="0"/>
              </a:rPr>
              <a:t>c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da-DK" sz="18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da-DK" sz="18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da-DK" sz="1800" dirty="0">
                <a:solidFill>
                  <a:srgbClr val="FF8000"/>
                </a:solidFill>
                <a:latin typeface="Courier New" panose="02070309020205020404" pitchFamily="49" charset="0"/>
              </a:rPr>
              <a:t>0.5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					  </a:t>
            </a:r>
          </a:p>
          <a:p>
            <a:pPr marL="0" indent="0">
              <a:buNone/>
            </a:pP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</a:t>
            </a:r>
            <a:r>
              <a:rPr lang="da-DK" sz="180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da-DK" sz="1800" dirty="0" err="1">
                <a:solidFill>
                  <a:srgbClr val="808080"/>
                </a:solidFill>
                <a:latin typeface="Courier New" panose="02070309020205020404" pitchFamily="49" charset="0"/>
              </a:rPr>
              <a:t>Bcontent</a:t>
            </a:r>
            <a:r>
              <a:rPr lang="da-DK" sz="180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da-DK" sz="1800" dirty="0">
                <a:solidFill>
                  <a:srgbClr val="8000FF"/>
                </a:solidFill>
                <a:latin typeface="Courier New" panose="02070309020205020404" pitchFamily="49" charset="0"/>
              </a:rPr>
              <a:t>c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da-DK" sz="18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da-DK" sz="18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da-DK" sz="1800" dirty="0">
                <a:solidFill>
                  <a:srgbClr val="FF8000"/>
                </a:solidFill>
                <a:latin typeface="Courier New" panose="02070309020205020404" pitchFamily="49" charset="0"/>
              </a:rPr>
              <a:t>0.5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da-DK" sz="1800" dirty="0">
                <a:solidFill>
                  <a:srgbClr val="808080"/>
                </a:solidFill>
                <a:latin typeface="Courier New" panose="02070309020205020404" pitchFamily="49" charset="0"/>
              </a:rPr>
              <a:t>		         "</a:t>
            </a:r>
            <a:r>
              <a:rPr lang="da-DK" sz="1800" dirty="0" err="1">
                <a:solidFill>
                  <a:srgbClr val="808080"/>
                </a:solidFill>
                <a:latin typeface="Courier New" panose="02070309020205020404" pitchFamily="49" charset="0"/>
              </a:rPr>
              <a:t>Qual</a:t>
            </a:r>
            <a:r>
              <a:rPr lang="da-DK" sz="180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da-DK" sz="1800" dirty="0">
                <a:solidFill>
                  <a:srgbClr val="8000FF"/>
                </a:solidFill>
                <a:latin typeface="Courier New" panose="02070309020205020404" pitchFamily="49" charset="0"/>
              </a:rPr>
              <a:t>c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da-DK" sz="1800" dirty="0">
                <a:solidFill>
                  <a:srgbClr val="FF8000"/>
                </a:solidFill>
                <a:latin typeface="Courier New" panose="02070309020205020404" pitchFamily="49" charset="0"/>
              </a:rPr>
              <a:t>90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da-DK" sz="1800" dirty="0">
                <a:solidFill>
                  <a:srgbClr val="FF8000"/>
                </a:solidFill>
                <a:latin typeface="Courier New" panose="02070309020205020404" pitchFamily="49" charset="0"/>
              </a:rPr>
              <a:t>30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da-DK" sz="1800" dirty="0">
                <a:solidFill>
                  <a:srgbClr val="FF8000"/>
                </a:solidFill>
                <a:latin typeface="Courier New" panose="02070309020205020404" pitchFamily="49" charset="0"/>
              </a:rPr>
              <a:t>75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))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da-DK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glmSyn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&lt;-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a-DK" sz="1800" dirty="0">
                <a:solidFill>
                  <a:srgbClr val="8000FF"/>
                </a:solidFill>
                <a:latin typeface="Courier New" panose="02070309020205020404" pitchFamily="49" charset="0"/>
              </a:rPr>
              <a:t>lm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da-DK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Qual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~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a-DK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Acontent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a-DK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Bcontent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-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a-DK" sz="18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da-DK" sz="1800" dirty="0">
                <a:solidFill>
                  <a:srgbClr val="8000FF"/>
                </a:solidFill>
                <a:latin typeface="Courier New" panose="02070309020205020404" pitchFamily="49" charset="0"/>
              </a:rPr>
              <a:t>data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da-DK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synprod</a:t>
            </a:r>
            <a:r>
              <a:rPr lang="da-DK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da-DK" sz="1800" dirty="0">
                <a:solidFill>
                  <a:srgbClr val="008000"/>
                </a:solidFill>
                <a:latin typeface="Courier New" panose="02070309020205020404" pitchFamily="49" charset="0"/>
              </a:rPr>
              <a:t># the "-1" in the line </a:t>
            </a:r>
            <a:r>
              <a:rPr lang="da-DK" sz="1800" dirty="0" err="1">
                <a:solidFill>
                  <a:srgbClr val="008000"/>
                </a:solidFill>
                <a:latin typeface="Courier New" panose="02070309020205020404" pitchFamily="49" charset="0"/>
              </a:rPr>
              <a:t>above</a:t>
            </a:r>
            <a:r>
              <a:rPr lang="da-DK" sz="1800" dirty="0">
                <a:solidFill>
                  <a:srgbClr val="008000"/>
                </a:solidFill>
                <a:latin typeface="Courier New" panose="02070309020205020404" pitchFamily="49" charset="0"/>
              </a:rPr>
              <a:t> removes the </a:t>
            </a:r>
            <a:r>
              <a:rPr lang="da-DK" sz="1800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intercept</a:t>
            </a:r>
            <a:r>
              <a:rPr lang="da-DK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da-DK" sz="1800" dirty="0">
                <a:solidFill>
                  <a:srgbClr val="008000"/>
                </a:solidFill>
                <a:latin typeface="Courier New" panose="02070309020205020404" pitchFamily="49" charset="0"/>
              </a:rPr>
              <a:t># If not </a:t>
            </a:r>
            <a:r>
              <a:rPr lang="da-DK" sz="1800" dirty="0" err="1">
                <a:solidFill>
                  <a:srgbClr val="008000"/>
                </a:solidFill>
                <a:latin typeface="Courier New" panose="02070309020205020404" pitchFamily="49" charset="0"/>
              </a:rPr>
              <a:t>specified</a:t>
            </a:r>
            <a:r>
              <a:rPr lang="da-DK" sz="1800" dirty="0">
                <a:solidFill>
                  <a:srgbClr val="008000"/>
                </a:solidFill>
                <a:latin typeface="Courier New" panose="02070309020205020404" pitchFamily="49" charset="0"/>
              </a:rPr>
              <a:t> an </a:t>
            </a:r>
            <a:r>
              <a:rPr lang="da-DK" sz="1800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intercept</a:t>
            </a:r>
            <a:r>
              <a:rPr lang="da-DK" sz="1800" dirty="0">
                <a:solidFill>
                  <a:srgbClr val="008000"/>
                </a:solidFill>
                <a:latin typeface="Courier New" panose="02070309020205020404" pitchFamily="49" charset="0"/>
              </a:rPr>
              <a:t> is </a:t>
            </a:r>
            <a:r>
              <a:rPr lang="da-DK" sz="1800" dirty="0" err="1">
                <a:solidFill>
                  <a:srgbClr val="008000"/>
                </a:solidFill>
                <a:latin typeface="Courier New" panose="02070309020205020404" pitchFamily="49" charset="0"/>
              </a:rPr>
              <a:t>estimated</a:t>
            </a:r>
            <a:r>
              <a:rPr lang="da-DK" sz="1800" dirty="0">
                <a:solidFill>
                  <a:srgbClr val="008000"/>
                </a:solidFill>
                <a:latin typeface="Courier New" panose="02070309020205020404" pitchFamily="49" charset="0"/>
              </a:rPr>
              <a:t> by default</a:t>
            </a:r>
            <a:endParaRPr lang="da-DK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0DB67-C0F4-A52F-A48B-1DE1F414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82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37487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0D5EE-9C16-70A9-5BCF-7CB6E681B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CB1A-80BC-A2AC-DA7B-1741C8217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GLM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34366-26CE-1769-F4BB-8EA1CC4B9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glmSyn</a:t>
            </a:r>
            <a:r>
              <a:rPr lang="da-DK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da-DK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dirty="0">
                <a:solidFill>
                  <a:srgbClr val="8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da-DK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Qual</a:t>
            </a:r>
            <a:r>
              <a:rPr lang="da-DK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da-DK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Acontent</a:t>
            </a:r>
            <a:r>
              <a:rPr lang="da-DK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da-DK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Bcontent</a:t>
            </a:r>
            <a:r>
              <a:rPr lang="da-DK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a-DK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dirty="0">
                <a:solidFill>
                  <a:srgbClr val="FF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a-DK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a-DK" sz="1200" dirty="0">
                <a:solidFill>
                  <a:srgbClr val="8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a-DK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a-DK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synprod</a:t>
            </a:r>
            <a:r>
              <a:rPr lang="da-DK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a-DK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glmSyn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lm(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formula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Qual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Acontent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Bcontent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- 1, data =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synprod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Residuals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1  2  3 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-5 -5 10 </a:t>
            </a:r>
          </a:p>
          <a:p>
            <a:pPr marL="0" indent="0">
              <a:buNone/>
            </a:pP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Coefficients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Pr(&gt;|t|)  </a:t>
            </a: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Acontent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95.00      11.18   8.497   0.0746 .</a:t>
            </a: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Bcontent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35.00      11.18   3.130   0.1968  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 0 ‘***’ 0.001 ‘**’ 0.01 ‘*’ 0.05 ‘.’ 0.1 ‘ ’ 1</a:t>
            </a:r>
          </a:p>
          <a:p>
            <a:pPr marL="0" indent="0">
              <a:buNone/>
            </a:pP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12.25 on 1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degrees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of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freedom</a:t>
            </a: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squared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 0.9897,    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Adjusted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R-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squared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 0.9692 </a:t>
            </a:r>
          </a:p>
          <a:p>
            <a:pPr marL="0" indent="0">
              <a:buNone/>
            </a:pP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F-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statistic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48.25 on 2 and 1 DF,  p-</a:t>
            </a:r>
            <a:r>
              <a:rPr lang="da-DK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0.1013</a:t>
            </a:r>
          </a:p>
          <a:p>
            <a:pPr marL="0" indent="0">
              <a:buNone/>
            </a:pPr>
            <a:endParaRPr lang="da-DK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5FB20-DBAB-D8FF-ACD8-B5B59835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83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46639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solidFill>
                  <a:srgbClr val="C00000"/>
                </a:solidFill>
              </a:rPr>
              <a:t>Exercises</a:t>
            </a:r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Exercise</a:t>
            </a:r>
            <a:r>
              <a:rPr lang="da-DK" dirty="0"/>
              <a:t> 6.4: ”Pen &amp; </a:t>
            </a:r>
            <a:r>
              <a:rPr lang="da-DK" dirty="0" err="1"/>
              <a:t>paper</a:t>
            </a:r>
            <a:r>
              <a:rPr lang="da-DK" dirty="0"/>
              <a:t>” on CDF</a:t>
            </a:r>
          </a:p>
          <a:p>
            <a:r>
              <a:rPr lang="da-DK" dirty="0" err="1"/>
              <a:t>Exam</a:t>
            </a:r>
            <a:r>
              <a:rPr lang="da-DK" dirty="0"/>
              <a:t> 2011 Q. 3.3-3.6 : </a:t>
            </a:r>
            <a:r>
              <a:rPr lang="da-DK" dirty="0" err="1"/>
              <a:t>Classification</a:t>
            </a:r>
            <a:endParaRPr lang="da-DK" dirty="0"/>
          </a:p>
          <a:p>
            <a:r>
              <a:rPr lang="da-DK" dirty="0" err="1"/>
              <a:t>Exam</a:t>
            </a:r>
            <a:r>
              <a:rPr lang="da-DK" dirty="0"/>
              <a:t> 2009 Problem 1 : </a:t>
            </a:r>
            <a:r>
              <a:rPr lang="da-DK" dirty="0" err="1"/>
              <a:t>Classification</a:t>
            </a:r>
            <a:endParaRPr lang="da-DK" dirty="0"/>
          </a:p>
          <a:p>
            <a:r>
              <a:rPr lang="da-DK" dirty="0" err="1"/>
              <a:t>Exercise</a:t>
            </a:r>
            <a:r>
              <a:rPr lang="da-DK" dirty="0"/>
              <a:t> 3.1 and 3.2: GLM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73FF3-3468-4183-A5EE-2FE8FB7CB5CA}" type="slidenum">
              <a:rPr lang="da-DK" smtClean="0"/>
              <a:pPr>
                <a:defRPr/>
              </a:pPr>
              <a:t>84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73452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FD082"/>
        </a:solidFill>
        <a:ln w="9525" cap="flat" cmpd="sng" algn="ctr">
          <a:solidFill>
            <a:srgbClr val="1FD082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 DTU Template.potx" id="{DCBB0D47-5BC6-435C-9126-D3D343B0B928}" vid="{2DC669D5-2566-4482-AB47-A5699F5A435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40700</TotalTime>
  <Words>5124</Words>
  <Application>Microsoft Office PowerPoint</Application>
  <PresentationFormat>Widescreen</PresentationFormat>
  <Paragraphs>939</Paragraphs>
  <Slides>84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84</vt:i4>
      </vt:variant>
    </vt:vector>
  </HeadingPairs>
  <TitlesOfParts>
    <vt:vector size="92" baseType="lpstr">
      <vt:lpstr>Arial</vt:lpstr>
      <vt:lpstr>Calibri</vt:lpstr>
      <vt:lpstr>Cambria Math</vt:lpstr>
      <vt:lpstr>Courier New</vt:lpstr>
      <vt:lpstr>Times New Roman</vt:lpstr>
      <vt:lpstr>Verdana</vt:lpstr>
      <vt:lpstr>Office Theme</vt:lpstr>
      <vt:lpstr>Blank</vt:lpstr>
      <vt:lpstr>02409 Multivariate Statistics </vt:lpstr>
      <vt:lpstr>PowerPoint Presentation</vt:lpstr>
      <vt:lpstr>Discriminant Analysis</vt:lpstr>
      <vt:lpstr>The Bayes and Minimax Solutions</vt:lpstr>
      <vt:lpstr>The Linear Discriminator</vt:lpstr>
      <vt:lpstr>Example</vt:lpstr>
      <vt:lpstr>Example</vt:lpstr>
      <vt:lpstr>Example </vt:lpstr>
      <vt:lpstr>Working with parameters estimated from data</vt:lpstr>
      <vt:lpstr>More than two populations: Distance Between Populations</vt:lpstr>
      <vt:lpstr>The Mahanalobis’ Distance</vt:lpstr>
      <vt:lpstr>2-sample Test In One Dimension</vt:lpstr>
      <vt:lpstr>2-sample Test In p Dimensions</vt:lpstr>
      <vt:lpstr>2-sample Test In p Dimensions</vt:lpstr>
      <vt:lpstr>2-sample Test In p Dimensions</vt:lpstr>
      <vt:lpstr>Discrimination Between Several Populations</vt:lpstr>
      <vt:lpstr>Discrimination Between Several Populations</vt:lpstr>
      <vt:lpstr>Discrimination Between Several Populations</vt:lpstr>
      <vt:lpstr>Discrimination Between Several Populations</vt:lpstr>
      <vt:lpstr>The Case of Normal Distributions</vt:lpstr>
      <vt:lpstr>The Case of Normal Distributions</vt:lpstr>
      <vt:lpstr>Example</vt:lpstr>
      <vt:lpstr>Example</vt:lpstr>
      <vt:lpstr>Example</vt:lpstr>
      <vt:lpstr>Example</vt:lpstr>
      <vt:lpstr>Example</vt:lpstr>
      <vt:lpstr>The Case of Normal Distributions, Unknown Parameters</vt:lpstr>
      <vt:lpstr>The Case of Normal Distributions, Unknown Parameters</vt:lpstr>
      <vt:lpstr>The Case of Normal Distributions, Unknown Parameters</vt:lpstr>
      <vt:lpstr>Parameter Estimation</vt:lpstr>
      <vt:lpstr>Distance Between Populations</vt:lpstr>
      <vt:lpstr>Distance Between Populations</vt:lpstr>
      <vt:lpstr>Test for Additional Information</vt:lpstr>
      <vt:lpstr>Test for Additional Information</vt:lpstr>
      <vt:lpstr>Test for Additional Information</vt:lpstr>
      <vt:lpstr>Test for Additional Information</vt:lpstr>
      <vt:lpstr>Test for Additional Information</vt:lpstr>
      <vt:lpstr>Test for Additional Information</vt:lpstr>
      <vt:lpstr>Test for Additional Information</vt:lpstr>
      <vt:lpstr>Test for Additional Information</vt:lpstr>
      <vt:lpstr>Canonical Discriminant Analysis </vt:lpstr>
      <vt:lpstr>Canonical Discriminant Analysis </vt:lpstr>
      <vt:lpstr>Canonical Discriminant Analysis </vt:lpstr>
      <vt:lpstr>Canonical Discriminant Analysis </vt:lpstr>
      <vt:lpstr>Canonical Discriminant Analysis </vt:lpstr>
      <vt:lpstr>Example – Psychology Data</vt:lpstr>
      <vt:lpstr>Example – Psychology Data</vt:lpstr>
      <vt:lpstr>Example – Psychology Data</vt:lpstr>
      <vt:lpstr>Example – Psychology Data</vt:lpstr>
      <vt:lpstr>Example – Psychology Data </vt:lpstr>
      <vt:lpstr>Example – Psychology Data </vt:lpstr>
      <vt:lpstr>Example – Psychology Data</vt:lpstr>
      <vt:lpstr>Example – Psychology Data </vt:lpstr>
      <vt:lpstr>Example – Psychology Data</vt:lpstr>
      <vt:lpstr>Example – Psychology Data</vt:lpstr>
      <vt:lpstr>Example – Psychology Data</vt:lpstr>
      <vt:lpstr>Example – Psychology Data</vt:lpstr>
      <vt:lpstr>Example – Psychology Data</vt:lpstr>
      <vt:lpstr>Example – Psychology Data</vt:lpstr>
      <vt:lpstr>Example – Iris Data</vt:lpstr>
      <vt:lpstr>Example – Iris Data</vt:lpstr>
      <vt:lpstr>Example – Iris Data</vt:lpstr>
      <vt:lpstr>Example – Iris Data</vt:lpstr>
      <vt:lpstr>Example – Iris Data</vt:lpstr>
      <vt:lpstr>Example – Iris Data</vt:lpstr>
      <vt:lpstr>Example – Iris Data</vt:lpstr>
      <vt:lpstr>Example – Iris Data</vt:lpstr>
      <vt:lpstr>Example – Iris Data</vt:lpstr>
      <vt:lpstr>Example – Iris Data</vt:lpstr>
      <vt:lpstr>PowerPoint Presentation</vt:lpstr>
      <vt:lpstr>The General Linear Model  - GLM </vt:lpstr>
      <vt:lpstr>The General Linear Model  - GLM </vt:lpstr>
      <vt:lpstr>The General Linear Model  - GLM </vt:lpstr>
      <vt:lpstr>The General Linear Model  - GLM </vt:lpstr>
      <vt:lpstr>The General Linear Model  - GLM </vt:lpstr>
      <vt:lpstr>The General Linear Model  - GLM </vt:lpstr>
      <vt:lpstr>The General Linear Model  - GLM </vt:lpstr>
      <vt:lpstr>The General Linear Model  - GLM </vt:lpstr>
      <vt:lpstr>The General Linear Model  - GLM</vt:lpstr>
      <vt:lpstr>The General Linear Model  - GLM</vt:lpstr>
      <vt:lpstr>The General Linear Model  - GLM</vt:lpstr>
      <vt:lpstr>GLM in R</vt:lpstr>
      <vt:lpstr>GLM in R</vt:lpstr>
      <vt:lpstr>Exercises</vt:lpstr>
    </vt:vector>
  </TitlesOfParts>
  <Company>Danmarks Tekniske Universitet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Knut Conradsen</dc:creator>
  <cp:lastModifiedBy>Anders Stockmarr</cp:lastModifiedBy>
  <cp:revision>419</cp:revision>
  <cp:lastPrinted>2022-10-09T20:41:25Z</cp:lastPrinted>
  <dcterms:created xsi:type="dcterms:W3CDTF">2012-10-07T01:17:56Z</dcterms:created>
  <dcterms:modified xsi:type="dcterms:W3CDTF">2025-10-20T08:23:19Z</dcterms:modified>
</cp:coreProperties>
</file>